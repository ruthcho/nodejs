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Lst>
  <p:sldSz cy="5143500" cx="9144000"/>
  <p:notesSz cx="6858000" cy="9144000"/>
  <p:embeddedFontLst>
    <p:embeddedFont>
      <p:font typeface="Nunito"/>
      <p:regular r:id="rId74"/>
      <p:bold r:id="rId75"/>
      <p:italic r:id="rId76"/>
      <p:boldItalic r:id="rId77"/>
    </p:embeddedFont>
    <p:embeddedFont>
      <p:font typeface="Roboto Mono"/>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RobotoMono-italic.fntdata"/><Relationship Id="rId81" Type="http://schemas.openxmlformats.org/officeDocument/2006/relationships/font" Target="fonts/RobotoMon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font" Target="fonts/Nunito-bold.fntdata"/><Relationship Id="rId30" Type="http://schemas.openxmlformats.org/officeDocument/2006/relationships/slide" Target="slides/slide25.xml"/><Relationship Id="rId74" Type="http://schemas.openxmlformats.org/officeDocument/2006/relationships/font" Target="fonts/Nunito-regular.fntdata"/><Relationship Id="rId33" Type="http://schemas.openxmlformats.org/officeDocument/2006/relationships/slide" Target="slides/slide28.xml"/><Relationship Id="rId77" Type="http://schemas.openxmlformats.org/officeDocument/2006/relationships/font" Target="fonts/Nunito-boldItalic.fntdata"/><Relationship Id="rId32" Type="http://schemas.openxmlformats.org/officeDocument/2006/relationships/slide" Target="slides/slide27.xml"/><Relationship Id="rId76" Type="http://schemas.openxmlformats.org/officeDocument/2006/relationships/font" Target="fonts/Nunito-italic.fntdata"/><Relationship Id="rId35" Type="http://schemas.openxmlformats.org/officeDocument/2006/relationships/slide" Target="slides/slide30.xml"/><Relationship Id="rId79" Type="http://schemas.openxmlformats.org/officeDocument/2006/relationships/font" Target="fonts/RobotoMono-bold.fntdata"/><Relationship Id="rId34" Type="http://schemas.openxmlformats.org/officeDocument/2006/relationships/slide" Target="slides/slide29.xml"/><Relationship Id="rId78" Type="http://schemas.openxmlformats.org/officeDocument/2006/relationships/font" Target="fonts/RobotoMono-regular.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006f1d39a8_1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006f1d39a8_1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006f1d39a8_1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006f1d39a8_1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006f1d39a8_1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006f1d39a8_1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006f1d39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006f1d39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d375174c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d375174c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ef2899fcf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ef2899fcf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006f1d39a8_1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006f1d39a8_1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006f1d39a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006f1d39a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f2899fcf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f2899fcf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ef2899fcf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ef2899fcf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ef2899fcf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ef2899fcf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d38e096b4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d38e096b4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006f1d39a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006f1d39a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efe87b74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efe87b74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efe87b741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efe87b741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efe87b741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efe87b741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efe87b741a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efe87b741a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efe87b741a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efe87b741a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efe87b741a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efe87b741a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efe87b741a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efe87b741a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0038deb2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f0038deb2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0038deb2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f0038deb2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f0038deb20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f0038deb20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0038deb20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f0038deb20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f0038deb20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f0038deb20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0f8e998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f0f8e998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0f8e998d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f0f8e998d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f0f8e998d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f0f8e998d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f0f8e998d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f0f8e998d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0f8e998d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f0f8e998d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f0f8e998d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f0f8e998d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0f8e998d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f0f8e998d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f0f8e998d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f0f8e998d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f0f8e998d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f0f8e998d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f0f8e998d9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f0f8e998d9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f0f8e998d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f0f8e998d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f51f8eb0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f51f8eb0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f51f8eb05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f51f8eb05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f51f8eb05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f51f8eb05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f51f8eb05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f51f8eb05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51f8eb05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f51f8eb05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f51f8eb05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f51f8eb05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f51f8eb05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f51f8eb05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f51f8eb05c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f51f8eb05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f51f8eb05c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f51f8eb05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f51f8eb05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f51f8eb05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f51f8eb05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f51f8eb05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f51f8eb05c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f51f8eb05c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f51f8eb05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f51f8eb05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f51f8eb05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f51f8eb05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f51f8eb05c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f51f8eb05c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f51f8eb05c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f51f8eb05c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f51f8eb05c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f51f8eb05c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f51f8eb05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f51f8eb05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f51f8eb05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f51f8eb05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f51f8eb05c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f51f8eb05c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f51f8eb05c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f51f8eb05c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f51f8eb05c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f51f8eb05c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f51f8eb05c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f51f8eb05c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f51f8eb05c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f51f8eb05c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f51f8eb05c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f51f8eb05c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f51f8eb05c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f51f8eb05c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f51f8eb05c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f51f8eb05c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fa7b3ed0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fa7b3ed0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a7b3ed05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fa7b3ed05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fa7b3ed05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fa7b3ed05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fa7b3ed05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fa7b3ed05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lnSpc>
                <a:spcPct val="100000"/>
              </a:lnSpc>
              <a:spcBef>
                <a:spcPts val="0"/>
              </a:spcBef>
              <a:spcAft>
                <a:spcPts val="0"/>
              </a:spcAft>
              <a:buSzPts val="1300"/>
              <a:buChar char="●"/>
              <a:defRPr/>
            </a:lvl1pPr>
            <a:lvl2pPr indent="-298450" lvl="1" marL="914400">
              <a:spcBef>
                <a:spcPts val="40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lnSpc>
                <a:spcPct val="100000"/>
              </a:lnSpc>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nodejs.org/en" TargetMode="Externa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index.j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localhost:3000/courses" TargetMode="External"/><Relationship Id="rId4" Type="http://schemas.openxmlformats.org/officeDocument/2006/relationships/hyperlink" Target="http://localhost:3000/teachers" TargetMode="External"/><Relationship Id="rId5" Type="http://schemas.openxmlformats.org/officeDocument/2006/relationships/hyperlink" Target="http://localhost:3000/products/3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app.js" TargetMode="External"/><Relationship Id="rId4" Type="http://schemas.openxmlformats.org/officeDocument/2006/relationships/hyperlink" Target="http://index.j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localhost:3000" TargetMode="External"/><Relationship Id="rId4" Type="http://schemas.openxmlformats.org/officeDocument/2006/relationships/hyperlink" Target="http://localhost:3000/courses" TargetMode="External"/><Relationship Id="rId5" Type="http://schemas.openxmlformats.org/officeDocument/2006/relationships/hyperlink" Target="http://localhost:3000/student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localhost:3000/course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localhost:3000/deleteOneProductFromStore" TargetMode="External"/><Relationship Id="rId4" Type="http://schemas.openxmlformats.org/officeDocument/2006/relationships/hyperlink" Target="http://localhost:3000/product" TargetMode="External"/><Relationship Id="rId5" Type="http://schemas.openxmlformats.org/officeDocument/2006/relationships/hyperlink" Target="http://localhost:3000/createNewCourse" TargetMode="External"/><Relationship Id="rId6" Type="http://schemas.openxmlformats.org/officeDocument/2006/relationships/hyperlink" Target="http://localhost:3000/course"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localhost:3000/courses/4"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localhost:3000/course/4"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app.pos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app.j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app.js" TargetMode="External"/><Relationship Id="rId4" Type="http://schemas.openxmlformats.org/officeDocument/2006/relationships/hyperlink" Target="http://app.j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node.j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app.j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app.js" TargetMode="External"/><Relationship Id="rId4" Type="http://schemas.openxmlformats.org/officeDocument/2006/relationships/hyperlink" Target="http://app.js" TargetMode="External"/><Relationship Id="rId5" Type="http://schemas.openxmlformats.org/officeDocument/2006/relationships/hyperlink" Target="http://app.js" TargetMode="External"/><Relationship Id="rId6" Type="http://schemas.openxmlformats.org/officeDocument/2006/relationships/hyperlink" Target="http://app.j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app.js" TargetMode="Externa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hyperlink" Target="http://courses.controller.js"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app.js"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hyperlink" Target="http://localhost:3000/phone" TargetMode="External"/><Relationship Id="rId4" Type="http://schemas.openxmlformats.org/officeDocument/2006/relationships/hyperlink" Target="http://localhost:3000/courses/4"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hyperlink" Target="http://localhost:3000/courses" TargetMode="External"/><Relationship Id="rId4" Type="http://schemas.openxmlformats.org/officeDocument/2006/relationships/image" Target="../media/image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w"/>
              <a:t>Nodejs</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w"/>
              <a:t>basic server development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מטרות הקורס</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מטרת העל-</a:t>
            </a:r>
            <a:r>
              <a:rPr lang="iw"/>
              <a:t> לימוד יחידת חומר בצורה עצמאית</a:t>
            </a:r>
            <a:endParaRPr>
              <a:solidFill>
                <a:srgbClr val="000000"/>
              </a:solidFill>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מטרות משנה:</a:t>
            </a:r>
            <a:endParaRPr/>
          </a:p>
          <a:p>
            <a:pPr indent="-311150" lvl="0" marL="457200" rtl="1" algn="r">
              <a:spcBef>
                <a:spcPts val="400"/>
              </a:spcBef>
              <a:spcAft>
                <a:spcPts val="0"/>
              </a:spcAft>
              <a:buSzPts val="1300"/>
              <a:buChar char="●"/>
            </a:pPr>
            <a:r>
              <a:rPr lang="iw"/>
              <a:t>לימוד שפת Node.js</a:t>
            </a:r>
            <a:endParaRPr/>
          </a:p>
          <a:p>
            <a:pPr indent="-311150" lvl="0" marL="457200" rtl="1" algn="r">
              <a:spcBef>
                <a:spcPts val="400"/>
              </a:spcBef>
              <a:spcAft>
                <a:spcPts val="0"/>
              </a:spcAft>
              <a:buSzPts val="1300"/>
              <a:buChar char="●"/>
            </a:pPr>
            <a:r>
              <a:rPr lang="iw"/>
              <a:t>למידה מונחית ai</a:t>
            </a:r>
            <a:endParaRPr/>
          </a:p>
          <a:p>
            <a:pPr indent="-311150" lvl="0" marL="457200" rtl="1" algn="r">
              <a:spcBef>
                <a:spcPts val="400"/>
              </a:spcBef>
              <a:spcAft>
                <a:spcPts val="0"/>
              </a:spcAft>
              <a:buSzPts val="1300"/>
              <a:buChar char="●"/>
            </a:pPr>
            <a:r>
              <a:rPr lang="iw"/>
              <a:t>הכרת צד שרת</a:t>
            </a:r>
            <a:endParaRPr/>
          </a:p>
          <a:p>
            <a:pPr indent="0" lvl="0" marL="0" rtl="1" algn="r">
              <a:spcBef>
                <a:spcPts val="400"/>
              </a:spcBef>
              <a:spcAft>
                <a:spcPts val="4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אופן הלמידה בקורס</a:t>
            </a:r>
            <a:endParaRPr/>
          </a:p>
        </p:txBody>
      </p:sp>
      <p:sp>
        <p:nvSpPr>
          <p:cNvPr id="141" name="Google Shape;141;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מפגש התחלה, אמצע וסיום פרונטלים</a:t>
            </a:r>
            <a:endParaRPr>
              <a:solidFill>
                <a:srgbClr val="000000"/>
              </a:solidFill>
            </a:endParaRPr>
          </a:p>
          <a:p>
            <a:pPr indent="-311150" lvl="0" marL="457200" rtl="1" algn="r">
              <a:spcBef>
                <a:spcPts val="400"/>
              </a:spcBef>
              <a:spcAft>
                <a:spcPts val="0"/>
              </a:spcAft>
              <a:buSzPts val="1300"/>
              <a:buChar char="●"/>
            </a:pPr>
            <a:r>
              <a:rPr lang="iw"/>
              <a:t>למידה עצמאית בין 2-4 שעות הכוללת למידה + תרגול</a:t>
            </a:r>
            <a:endParaRPr/>
          </a:p>
          <a:p>
            <a:pPr indent="0" lvl="0" marL="457200" rtl="1" algn="r">
              <a:spcBef>
                <a:spcPts val="400"/>
              </a:spcBef>
              <a:spcAft>
                <a:spcPts val="0"/>
              </a:spcAft>
              <a:buNone/>
            </a:pPr>
            <a:r>
              <a:t/>
            </a:r>
            <a:endParaRPr/>
          </a:p>
          <a:p>
            <a:pPr indent="0" lvl="0" marL="457200" rtl="1" algn="r">
              <a:spcBef>
                <a:spcPts val="400"/>
              </a:spcBef>
              <a:spcAft>
                <a:spcPts val="0"/>
              </a:spcAft>
              <a:buNone/>
            </a:pPr>
            <a:r>
              <a:t/>
            </a:r>
            <a:endParaRPr/>
          </a:p>
          <a:p>
            <a:pPr indent="0" lvl="0" marL="0" rtl="1" algn="r">
              <a:spcBef>
                <a:spcPts val="400"/>
              </a:spcBef>
              <a:spcAft>
                <a:spcPts val="4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חומר הלמידה </a:t>
            </a:r>
            <a:endParaRPr/>
          </a:p>
        </p:txBody>
      </p:sp>
      <p:sp>
        <p:nvSpPr>
          <p:cNvPr id="147" name="Google Shape;147;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מצגת מלווה קורס</a:t>
            </a:r>
            <a:endParaRPr>
              <a:solidFill>
                <a:srgbClr val="000000"/>
              </a:solidFill>
            </a:endParaRPr>
          </a:p>
          <a:p>
            <a:pPr indent="-311150" lvl="0" marL="457200" rtl="1" algn="r">
              <a:spcBef>
                <a:spcPts val="400"/>
              </a:spcBef>
              <a:spcAft>
                <a:spcPts val="0"/>
              </a:spcAft>
              <a:buSzPts val="1300"/>
              <a:buChar char="●"/>
            </a:pPr>
            <a:r>
              <a:rPr lang="iw"/>
              <a:t>אינטרנט בסינון נטפרי </a:t>
            </a:r>
            <a:endParaRPr/>
          </a:p>
          <a:p>
            <a:pPr indent="-311150" lvl="0" marL="457200" rtl="1" algn="r">
              <a:spcBef>
                <a:spcPts val="400"/>
              </a:spcBef>
              <a:spcAft>
                <a:spcPts val="0"/>
              </a:spcAft>
              <a:buSzPts val="1300"/>
              <a:buChar char="●"/>
            </a:pPr>
            <a:r>
              <a:rPr lang="iw"/>
              <a:t>תוכנת vscode </a:t>
            </a:r>
            <a:endParaRPr/>
          </a:p>
          <a:p>
            <a:pPr indent="-311150" lvl="0" marL="457200" rtl="1" algn="r">
              <a:spcBef>
                <a:spcPts val="400"/>
              </a:spcBef>
              <a:spcAft>
                <a:spcPts val="0"/>
              </a:spcAft>
              <a:buSzPts val="1300"/>
              <a:buChar char="●"/>
            </a:pPr>
            <a:r>
              <a:rPr lang="iw"/>
              <a:t>תוכנת node.js מותקנת על המחשב (ילמד בשיעור)</a:t>
            </a:r>
            <a:endParaRPr/>
          </a:p>
          <a:p>
            <a:pPr indent="-311150" lvl="0" marL="457200" rtl="1" algn="r">
              <a:spcBef>
                <a:spcPts val="400"/>
              </a:spcBef>
              <a:spcAft>
                <a:spcPts val="0"/>
              </a:spcAft>
              <a:buSzPts val="1300"/>
              <a:buChar char="●"/>
            </a:pPr>
            <a:r>
              <a:rPr lang="iw"/>
              <a:t>גישה ל ai  מסונן</a:t>
            </a:r>
            <a:endParaRPr/>
          </a:p>
          <a:p>
            <a:pPr indent="0" lvl="0" marL="457200" rtl="1" algn="r">
              <a:spcBef>
                <a:spcPts val="400"/>
              </a:spcBef>
              <a:spcAft>
                <a:spcPts val="0"/>
              </a:spcAft>
              <a:buNone/>
            </a:pPr>
            <a:r>
              <a:t/>
            </a:r>
            <a:endParaRPr/>
          </a:p>
          <a:p>
            <a:pPr indent="0" lvl="0" marL="457200" rtl="1" algn="r">
              <a:spcBef>
                <a:spcPts val="400"/>
              </a:spcBef>
              <a:spcAft>
                <a:spcPts val="0"/>
              </a:spcAft>
              <a:buNone/>
            </a:pPr>
            <a:r>
              <a:t/>
            </a:r>
            <a:endParaRPr/>
          </a:p>
          <a:p>
            <a:pPr indent="0" lvl="0" marL="0" rtl="1" algn="r">
              <a:spcBef>
                <a:spcPts val="400"/>
              </a:spcBef>
              <a:spcAft>
                <a:spcPts val="4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חובות לימודיים</a:t>
            </a:r>
            <a:endParaRPr/>
          </a:p>
        </p:txBody>
      </p:sp>
      <p:sp>
        <p:nvSpPr>
          <p:cNvPr id="153" name="Google Shape;153;p1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הגשת מטלה על כל שיעור</a:t>
            </a:r>
            <a:endParaRPr/>
          </a:p>
          <a:p>
            <a:pPr indent="-311150" lvl="0" marL="457200" rtl="1" algn="r">
              <a:spcBef>
                <a:spcPts val="400"/>
              </a:spcBef>
              <a:spcAft>
                <a:spcPts val="0"/>
              </a:spcAft>
              <a:buSzPts val="1300"/>
              <a:buChar char="-"/>
            </a:pPr>
            <a:r>
              <a:rPr lang="iw"/>
              <a:t>מענה לשאלות סיכום בסוף כל שיעור</a:t>
            </a:r>
            <a:endParaRPr/>
          </a:p>
          <a:p>
            <a:pPr indent="-311150" lvl="0" marL="457200" rtl="1" algn="r">
              <a:spcBef>
                <a:spcPts val="400"/>
              </a:spcBef>
              <a:spcAft>
                <a:spcPts val="0"/>
              </a:spcAft>
              <a:buSzPts val="1300"/>
              <a:buChar char="-"/>
            </a:pPr>
            <a:r>
              <a:rPr lang="iw"/>
              <a:t>עדכון המטלה בגיט</a:t>
            </a:r>
            <a:endParaRPr/>
          </a:p>
          <a:p>
            <a:pPr indent="-311150" lvl="0" marL="457200" rtl="1" algn="r">
              <a:spcBef>
                <a:spcPts val="400"/>
              </a:spcBef>
              <a:spcAft>
                <a:spcPts val="0"/>
              </a:spcAft>
              <a:buSzPts val="1300"/>
              <a:buChar char="-"/>
            </a:pPr>
            <a:r>
              <a:rPr lang="iw"/>
              <a:t>פרויקט סיכום בסיום הקורס - מבוסס על שיעורי הבית</a:t>
            </a:r>
            <a:endParaRPr/>
          </a:p>
          <a:p>
            <a:pPr indent="0" lvl="0" marL="0" rtl="1" algn="r">
              <a:spcBef>
                <a:spcPts val="400"/>
              </a:spcBef>
              <a:spcAft>
                <a:spcPts val="400"/>
              </a:spcAft>
              <a:buNone/>
            </a:pPr>
            <a:r>
              <a:rPr lang="iw"/>
              <a:t>היות והציון מתבסס על ההגשה, יש להגיש בכל מקרה גם אם התרגיל אינו מושלם.</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1" algn="ctr">
              <a:spcBef>
                <a:spcPts val="0"/>
              </a:spcBef>
              <a:spcAft>
                <a:spcPts val="0"/>
              </a:spcAft>
              <a:buNone/>
            </a:pPr>
            <a:r>
              <a:rPr lang="iw"/>
              <a:t>שיעור 1</a:t>
            </a:r>
            <a:endParaRPr/>
          </a:p>
        </p:txBody>
      </p:sp>
      <p:sp>
        <p:nvSpPr>
          <p:cNvPr id="159" name="Google Shape;159;p18"/>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85000" lnSpcReduction="20000"/>
          </a:bodyPr>
          <a:lstStyle/>
          <a:p>
            <a:pPr indent="0" lvl="0" marL="0" rtl="1" algn="ctr">
              <a:spcBef>
                <a:spcPts val="0"/>
              </a:spcBef>
              <a:spcAft>
                <a:spcPts val="0"/>
              </a:spcAft>
              <a:buNone/>
            </a:pPr>
            <a:r>
              <a:rPr lang="iw"/>
              <a:t>התקנות והרצת שרת בסיסי</a:t>
            </a:r>
            <a:endParaRPr/>
          </a:p>
          <a:p>
            <a:pPr indent="0" lvl="0" marL="0" rtl="1"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נושאי השיעור</a:t>
            </a:r>
            <a:endParaRPr/>
          </a:p>
        </p:txBody>
      </p:sp>
      <p:sp>
        <p:nvSpPr>
          <p:cNvPr id="165" name="Google Shape;165;p1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התקנת nodejs</a:t>
            </a:r>
            <a:endParaRPr/>
          </a:p>
          <a:p>
            <a:pPr indent="-311150" lvl="0" marL="457200" rtl="1" algn="r">
              <a:spcBef>
                <a:spcPts val="0"/>
              </a:spcBef>
              <a:spcAft>
                <a:spcPts val="0"/>
              </a:spcAft>
              <a:buSzPts val="1300"/>
              <a:buChar char="-"/>
            </a:pPr>
            <a:r>
              <a:rPr lang="iw"/>
              <a:t>מה זה nodejs</a:t>
            </a:r>
            <a:endParaRPr/>
          </a:p>
          <a:p>
            <a:pPr indent="-311150" lvl="0" marL="457200" rtl="1" algn="r">
              <a:spcBef>
                <a:spcPts val="0"/>
              </a:spcBef>
              <a:spcAft>
                <a:spcPts val="0"/>
              </a:spcAft>
              <a:buSzPts val="1300"/>
              <a:buChar char="-"/>
            </a:pPr>
            <a:r>
              <a:rPr lang="iw"/>
              <a:t>הרצה על המחשב</a:t>
            </a:r>
            <a:endParaRPr/>
          </a:p>
          <a:p>
            <a:pPr indent="-311150" lvl="0" marL="457200" rtl="1" algn="r">
              <a:spcBef>
                <a:spcPts val="0"/>
              </a:spcBef>
              <a:spcAft>
                <a:spcPts val="0"/>
              </a:spcAft>
              <a:buSzPts val="1300"/>
              <a:buChar char="-"/>
            </a:pPr>
            <a:r>
              <a:rPr lang="iw"/>
              <a:t>הכרות עם npm והתקנת ספריה</a:t>
            </a:r>
            <a:endParaRPr/>
          </a:p>
          <a:p>
            <a:pPr indent="-311150" lvl="0" marL="457200" rtl="1" algn="r">
              <a:spcBef>
                <a:spcPts val="0"/>
              </a:spcBef>
              <a:spcAft>
                <a:spcPts val="0"/>
              </a:spcAft>
              <a:buSzPts val="1300"/>
              <a:buChar char="-"/>
            </a:pPr>
            <a:r>
              <a:rPr lang="iw"/>
              <a:t>הרצת שרת בסיסי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התקנת node.js</a:t>
            </a:r>
            <a:endParaRPr/>
          </a:p>
        </p:txBody>
      </p:sp>
      <p:pic>
        <p:nvPicPr>
          <p:cNvPr id="171" name="Google Shape;171;p20">
            <a:hlinkClick r:id="rId3"/>
          </p:cNvPr>
          <p:cNvPicPr preferRelativeResize="0"/>
          <p:nvPr/>
        </p:nvPicPr>
        <p:blipFill>
          <a:blip r:embed="rId4">
            <a:alphaModFix/>
          </a:blip>
          <a:stretch>
            <a:fillRect/>
          </a:stretch>
        </p:blipFill>
        <p:spPr>
          <a:xfrm>
            <a:off x="2571750" y="3311875"/>
            <a:ext cx="5753100" cy="1352550"/>
          </a:xfrm>
          <a:prstGeom prst="rect">
            <a:avLst/>
          </a:prstGeom>
          <a:noFill/>
          <a:ln>
            <a:noFill/>
          </a:ln>
        </p:spPr>
      </p:pic>
      <p:sp>
        <p:nvSpPr>
          <p:cNvPr id="172" name="Google Shape;172;p20"/>
          <p:cNvSpPr txBox="1"/>
          <p:nvPr/>
        </p:nvSpPr>
        <p:spPr>
          <a:xfrm>
            <a:off x="1911750" y="1374475"/>
            <a:ext cx="6413100" cy="19374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iw" sz="1300">
                <a:solidFill>
                  <a:schemeClr val="dk2"/>
                </a:solidFill>
                <a:latin typeface="Calibri"/>
                <a:ea typeface="Calibri"/>
                <a:cs typeface="Calibri"/>
                <a:sym typeface="Calibri"/>
              </a:rPr>
              <a:t>התקנת node.js על המחשב הינה התקנה פשוטה.</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בדף הבית הראשי של שפת node.js יש אפשרות הורדה לקובץ ההתקנה.</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יש להוריד את הקובץ ולהריץ אותו על המחשב.</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אשף ההתקנה הינו פשוט: יש לאשר שלב אחרי שלב ולבסוף ההתקנה.</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אם node.js כבר מותקן קודם על המחשב, בד"כ תוצג קודם שאלה האם מעונינים בהתקנה מחודשת.</a:t>
            </a:r>
            <a:endParaRPr sz="1300">
              <a:solidFill>
                <a:schemeClr val="dk2"/>
              </a:solidFill>
              <a:latin typeface="Calibri"/>
              <a:ea typeface="Calibri"/>
              <a:cs typeface="Calibri"/>
              <a:sym typeface="Calibri"/>
            </a:endParaRPr>
          </a:p>
          <a:p>
            <a:pPr indent="0" lvl="0" marL="0" rtl="1" algn="r">
              <a:spcBef>
                <a:spcPts val="0"/>
              </a:spcBef>
              <a:spcAft>
                <a:spcPts val="0"/>
              </a:spcAft>
              <a:buNone/>
            </a:pPr>
            <a:r>
              <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 אף אם node.js מותקן, מומלץ להתקין שוב כדי לקבל את הגרסה העדכנית.</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 אם אין רשת, ניתן להוריד את קובץ ההתקנה במחשב אחר שמחובר, ולהעביר את קובץ ההתקנה למחשב שאינו מחובר ולהשתמש בו להתקנה.</a:t>
            </a:r>
            <a:r>
              <a:rPr lang="iw" sz="1300">
                <a:solidFill>
                  <a:schemeClr val="dk2"/>
                </a:solidFill>
                <a:latin typeface="Calibri"/>
                <a:ea typeface="Calibri"/>
                <a:cs typeface="Calibri"/>
                <a:sym typeface="Calibri"/>
              </a:rPr>
              <a:t> </a:t>
            </a:r>
            <a:endParaRPr sz="1300">
              <a:solidFill>
                <a:schemeClr val="dk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מה זה שפת NodeJs?</a:t>
            </a:r>
            <a:endParaRPr/>
          </a:p>
        </p:txBody>
      </p:sp>
      <p:sp>
        <p:nvSpPr>
          <p:cNvPr id="178" name="Google Shape;178;p2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שפת nodejs מאפשרת הרצה של קוד js בסביבת שרת - ולא בתוך הדפדפן.</a:t>
            </a:r>
            <a:endParaRPr/>
          </a:p>
          <a:p>
            <a:pPr indent="0" lvl="0" marL="0" rtl="1" algn="r">
              <a:spcBef>
                <a:spcPts val="400"/>
              </a:spcBef>
              <a:spcAft>
                <a:spcPts val="0"/>
              </a:spcAft>
              <a:buNone/>
            </a:pPr>
            <a:r>
              <a:rPr lang="iw"/>
              <a:t>למעשה nodejs זה סביבת הרצה, ולא שפה.</a:t>
            </a:r>
            <a:endParaRPr/>
          </a:p>
          <a:p>
            <a:pPr indent="0" lvl="0" marL="0" rtl="1" algn="r">
              <a:spcBef>
                <a:spcPts val="400"/>
              </a:spcBef>
              <a:spcAft>
                <a:spcPts val="0"/>
              </a:spcAft>
              <a:buNone/>
            </a:pPr>
            <a:r>
              <a:t/>
            </a:r>
            <a:endParaRPr/>
          </a:p>
          <a:p>
            <a:pPr indent="0" lvl="0" marL="0" rtl="1" algn="r">
              <a:spcBef>
                <a:spcPts val="400"/>
              </a:spcBef>
              <a:spcAft>
                <a:spcPts val="0"/>
              </a:spcAft>
              <a:buNone/>
            </a:pPr>
            <a:r>
              <a:rPr b="1" lang="iw"/>
              <a:t>דוגמאות לפרומפטים מומלצים:</a:t>
            </a:r>
            <a:endParaRPr b="1"/>
          </a:p>
          <a:p>
            <a:pPr indent="0" lvl="0" marL="0" rtl="1" algn="r">
              <a:spcBef>
                <a:spcPts val="400"/>
              </a:spcBef>
              <a:spcAft>
                <a:spcPts val="0"/>
              </a:spcAft>
              <a:buNone/>
            </a:pPr>
            <a:r>
              <a:rPr lang="iw"/>
              <a:t>Explain Node.js to a frontend developer.</a:t>
            </a:r>
            <a:endParaRPr/>
          </a:p>
          <a:p>
            <a:pPr indent="0" lvl="0" marL="0" rtl="1" algn="r">
              <a:spcBef>
                <a:spcPts val="400"/>
              </a:spcBef>
              <a:spcAft>
                <a:spcPts val="400"/>
              </a:spcAft>
              <a:buNone/>
            </a:pPr>
            <a:r>
              <a:rPr lang="iw"/>
              <a:t>C</a:t>
            </a:r>
            <a:r>
              <a:rPr lang="iw"/>
              <a:t>ompare browser JavaScript and Node.js.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איך נריץ קוד בסיסי ב nodejs?</a:t>
            </a:r>
            <a:endParaRPr/>
          </a:p>
        </p:txBody>
      </p:sp>
      <p:sp>
        <p:nvSpPr>
          <p:cNvPr id="184" name="Google Shape;184;p2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יש ליצור קובץ js פשוט בתוך תיקיה, וולהריץ אותו דרך שורת פקודה.</a:t>
            </a:r>
            <a:endParaRPr/>
          </a:p>
          <a:p>
            <a:pPr indent="0" lvl="0" marL="0" rtl="1" algn="r">
              <a:spcBef>
                <a:spcPts val="400"/>
              </a:spcBef>
              <a:spcAft>
                <a:spcPts val="0"/>
              </a:spcAft>
              <a:buNone/>
            </a:pPr>
            <a:r>
              <a:t/>
            </a:r>
            <a:endParaRPr/>
          </a:p>
          <a:p>
            <a:pPr indent="0" lvl="0" marL="0" rtl="1" algn="r">
              <a:spcBef>
                <a:spcPts val="400"/>
              </a:spcBef>
              <a:spcAft>
                <a:spcPts val="0"/>
              </a:spcAft>
              <a:buNone/>
            </a:pPr>
            <a:r>
              <a:rPr b="1" lang="iw"/>
              <a:t>דוגמאות לפרומפטים מומלצים:</a:t>
            </a:r>
            <a:endParaRPr b="1"/>
          </a:p>
          <a:p>
            <a:pPr indent="0" lvl="0" marL="0" rtl="0" algn="l">
              <a:spcBef>
                <a:spcPts val="400"/>
              </a:spcBef>
              <a:spcAft>
                <a:spcPts val="0"/>
              </a:spcAft>
              <a:buNone/>
            </a:pPr>
            <a:r>
              <a:rPr lang="iw"/>
              <a:t>How to run simple node script ?</a:t>
            </a:r>
            <a:endParaRPr/>
          </a:p>
          <a:p>
            <a:pPr indent="0" lvl="0" marL="0" rtl="0" algn="l">
              <a:spcBef>
                <a:spcPts val="400"/>
              </a:spcBef>
              <a:spcAft>
                <a:spcPts val="0"/>
              </a:spcAft>
              <a:buNone/>
            </a:pPr>
            <a:r>
              <a:t/>
            </a:r>
            <a:endParaRPr/>
          </a:p>
          <a:p>
            <a:pPr indent="0" lvl="0" marL="0" rtl="0" algn="l">
              <a:spcBef>
                <a:spcPts val="400"/>
              </a:spcBef>
              <a:spcAft>
                <a:spcPts val="400"/>
              </a:spcAft>
              <a:buNone/>
            </a:pPr>
            <a:r>
              <a:rPr lang="iw"/>
              <a:t>generate simple code example to run node script, and explain how to run 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שימוש ב npm </a:t>
            </a:r>
            <a:endParaRPr/>
          </a:p>
        </p:txBody>
      </p:sp>
      <p:sp>
        <p:nvSpPr>
          <p:cNvPr id="190" name="Google Shape;190;p2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npm - מנהל החבילות של nodejs. דרכו נתקין ספריות בתוך פרויקטים של node, ואיתו ננהל את הפרויקט שלנו - נקבע אילו ספריות מותקנות בפרויקט, ועוד.</a:t>
            </a:r>
            <a:endParaRPr/>
          </a:p>
          <a:p>
            <a:pPr indent="0" lvl="0" marL="0" rtl="1" algn="r">
              <a:spcBef>
                <a:spcPts val="400"/>
              </a:spcBef>
              <a:spcAft>
                <a:spcPts val="0"/>
              </a:spcAft>
              <a:buNone/>
            </a:pPr>
            <a:r>
              <a:t/>
            </a:r>
            <a:endParaRPr/>
          </a:p>
          <a:p>
            <a:pPr indent="0" lvl="0" marL="0" rtl="1" algn="r">
              <a:spcBef>
                <a:spcPts val="400"/>
              </a:spcBef>
              <a:spcAft>
                <a:spcPts val="0"/>
              </a:spcAft>
              <a:buNone/>
            </a:pPr>
            <a:r>
              <a:rPr b="1" lang="iw"/>
              <a:t>דוגמאות לפרומפטים מומלצים:</a:t>
            </a:r>
            <a:endParaRPr b="1"/>
          </a:p>
          <a:p>
            <a:pPr indent="0" lvl="0" marL="0" rtl="0" algn="l">
              <a:spcBef>
                <a:spcPts val="400"/>
              </a:spcBef>
              <a:spcAft>
                <a:spcPts val="0"/>
              </a:spcAft>
              <a:buNone/>
            </a:pPr>
            <a:r>
              <a:rPr lang="iw"/>
              <a:t>what is npm? </a:t>
            </a:r>
            <a:endParaRPr/>
          </a:p>
          <a:p>
            <a:pPr indent="0" lvl="0" marL="0" rtl="0" algn="l">
              <a:lnSpc>
                <a:spcPct val="115000"/>
              </a:lnSpc>
              <a:spcBef>
                <a:spcPts val="400"/>
              </a:spcBef>
              <a:spcAft>
                <a:spcPts val="0"/>
              </a:spcAft>
              <a:buNone/>
            </a:pPr>
            <a:r>
              <a:rPr lang="iw"/>
              <a:t>Why do Node projects have package.json?</a:t>
            </a:r>
            <a:endParaRPr/>
          </a:p>
          <a:p>
            <a:pPr indent="0" lvl="0" marL="0" rtl="0" algn="l">
              <a:spcBef>
                <a:spcPts val="0"/>
              </a:spcBef>
              <a:spcAft>
                <a:spcPts val="0"/>
              </a:spcAft>
              <a:buNone/>
            </a:pPr>
            <a:r>
              <a:rPr lang="iw"/>
              <a:t>Show me how to install an npm package.</a:t>
            </a:r>
            <a:endParaRPr/>
          </a:p>
          <a:p>
            <a:pPr indent="0" lvl="0" marL="0" rtl="0" algn="l">
              <a:spcBef>
                <a:spcPts val="400"/>
              </a:spcBef>
              <a:spcAft>
                <a:spcPts val="0"/>
              </a:spcAft>
              <a:buNone/>
            </a:pPr>
            <a:r>
              <a:rPr lang="iw"/>
              <a:t>Explain npm init step by step.</a:t>
            </a:r>
            <a:endParaRPr/>
          </a:p>
          <a:p>
            <a:pPr indent="0" lvl="0" marL="0" rtl="0" algn="l">
              <a:spcBef>
                <a:spcPts val="400"/>
              </a:spcBef>
              <a:spcAft>
                <a:spcPts val="400"/>
              </a:spcAft>
              <a:buNone/>
            </a:pPr>
            <a:r>
              <a:rPr lang="iw"/>
              <a:t>what should I check when I install package from npm?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הרצת צד שרת בסיסי</a:t>
            </a:r>
            <a:endParaRPr/>
          </a:p>
        </p:txBody>
      </p:sp>
      <p:sp>
        <p:nvSpPr>
          <p:cNvPr id="196" name="Google Shape;196;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הרצת שרת בסיסי ב node זו משימה די פשוטה, היות ו nodejs כולל את המודולים הבסיסיים בשביל להריץ צד שרת.</a:t>
            </a:r>
            <a:endParaRPr/>
          </a:p>
          <a:p>
            <a:pPr indent="0" lvl="0" marL="0" rtl="1" algn="r">
              <a:spcBef>
                <a:spcPts val="400"/>
              </a:spcBef>
              <a:spcAft>
                <a:spcPts val="0"/>
              </a:spcAft>
              <a:buNone/>
            </a:pPr>
            <a:r>
              <a:t/>
            </a:r>
            <a:endParaRPr/>
          </a:p>
          <a:p>
            <a:pPr indent="0" lvl="0" marL="0" rtl="1" algn="r">
              <a:spcBef>
                <a:spcPts val="400"/>
              </a:spcBef>
              <a:spcAft>
                <a:spcPts val="0"/>
              </a:spcAft>
              <a:buNone/>
            </a:pPr>
            <a:r>
              <a:rPr b="1" lang="iw"/>
              <a:t>דוגמאות לפרומפטים מומלצים:</a:t>
            </a:r>
            <a:endParaRPr b="1"/>
          </a:p>
          <a:p>
            <a:pPr indent="0" lvl="0" marL="0" rtl="0" algn="l">
              <a:spcBef>
                <a:spcPts val="400"/>
              </a:spcBef>
              <a:spcAft>
                <a:spcPts val="0"/>
              </a:spcAft>
              <a:buNone/>
            </a:pPr>
            <a:r>
              <a:rPr lang="iw"/>
              <a:t>Give me a simple HTTP server example.</a:t>
            </a:r>
            <a:endParaRPr/>
          </a:p>
          <a:p>
            <a:pPr indent="0" lvl="0" marL="0" rtl="0" algn="l">
              <a:spcBef>
                <a:spcPts val="400"/>
              </a:spcBef>
              <a:spcAft>
                <a:spcPts val="0"/>
              </a:spcAft>
              <a:buNone/>
            </a:pPr>
            <a:r>
              <a:rPr lang="iw"/>
              <a:t>Explain every line. </a:t>
            </a:r>
            <a:endParaRPr/>
          </a:p>
          <a:p>
            <a:pPr indent="0" lvl="0" marL="0" rtl="0" algn="l">
              <a:spcBef>
                <a:spcPts val="400"/>
              </a:spcBef>
              <a:spcAft>
                <a:spcPts val="0"/>
              </a:spcAft>
              <a:buNone/>
            </a:pPr>
            <a:r>
              <a:t/>
            </a:r>
            <a:endParaRPr/>
          </a:p>
          <a:p>
            <a:pPr indent="0" lvl="0" marL="0" rtl="0" algn="l">
              <a:spcBef>
                <a:spcPts val="400"/>
              </a:spcBef>
              <a:spcAft>
                <a:spcPts val="0"/>
              </a:spcAft>
              <a:buNone/>
            </a:pPr>
            <a:r>
              <a:rPr lang="iw"/>
              <a:t>What happens when I open localhost:3000 in the browser? </a:t>
            </a:r>
            <a:endParaRPr/>
          </a:p>
          <a:p>
            <a:pPr indent="0" lvl="0" marL="0" rtl="0" algn="l">
              <a:spcBef>
                <a:spcPts val="400"/>
              </a:spcBef>
              <a:spcAft>
                <a:spcPts val="4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5"/>
          <p:cNvSpPr txBox="1"/>
          <p:nvPr>
            <p:ph type="title"/>
          </p:nvPr>
        </p:nvSpPr>
        <p:spPr>
          <a:xfrm>
            <a:off x="819150" y="23665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משימה 🔨</a:t>
            </a:r>
            <a:endParaRPr/>
          </a:p>
        </p:txBody>
      </p:sp>
      <p:sp>
        <p:nvSpPr>
          <p:cNvPr id="202" name="Google Shape;202;p25"/>
          <p:cNvSpPr txBox="1"/>
          <p:nvPr>
            <p:ph idx="1" type="body"/>
          </p:nvPr>
        </p:nvSpPr>
        <p:spPr>
          <a:xfrm>
            <a:off x="819150" y="765550"/>
            <a:ext cx="7505700" cy="41106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AutoNum type="arabicPeriod"/>
            </a:pPr>
            <a:r>
              <a:rPr lang="iw"/>
              <a:t>יש להתקין את node.js על המחשב, על מנת לקבל את גרסת node המתקדמת.</a:t>
            </a:r>
            <a:endParaRPr/>
          </a:p>
          <a:p>
            <a:pPr indent="-311150" lvl="0" marL="457200" rtl="1" algn="r">
              <a:spcBef>
                <a:spcPts val="400"/>
              </a:spcBef>
              <a:spcAft>
                <a:spcPts val="0"/>
              </a:spcAft>
              <a:buSzPts val="1300"/>
              <a:buAutoNum type="arabicPeriod"/>
            </a:pPr>
            <a:r>
              <a:rPr lang="iw"/>
              <a:t>יש ליצור פרויקט בסיסי ב nodejs</a:t>
            </a:r>
            <a:endParaRPr/>
          </a:p>
          <a:p>
            <a:pPr indent="-311150" lvl="0" marL="457200" rtl="1" algn="r">
              <a:spcBef>
                <a:spcPts val="400"/>
              </a:spcBef>
              <a:spcAft>
                <a:spcPts val="0"/>
              </a:spcAft>
              <a:buSzPts val="1300"/>
              <a:buAutoNum type="arabicPeriod"/>
            </a:pPr>
            <a:r>
              <a:rPr lang="iw"/>
              <a:t>בפרויקט יש להתקין את ספרית chalk מ npm, יש להעזר ב ai כדי להבין עבור מה הספריה מיועדת.</a:t>
            </a:r>
            <a:endParaRPr/>
          </a:p>
          <a:p>
            <a:pPr indent="-311150" lvl="0" marL="457200" rtl="1" algn="r">
              <a:spcBef>
                <a:spcPts val="400"/>
              </a:spcBef>
              <a:spcAft>
                <a:spcPts val="0"/>
              </a:spcAft>
              <a:buSzPts val="1300"/>
              <a:buAutoNum type="arabicPeriod"/>
            </a:pPr>
            <a:r>
              <a:rPr lang="iw"/>
              <a:t>יש ליצור קובץ </a:t>
            </a:r>
            <a:r>
              <a:rPr lang="iw" u="sng">
                <a:solidFill>
                  <a:schemeClr val="hlink"/>
                </a:solidFill>
                <a:hlinkClick r:id="rId3"/>
              </a:rPr>
              <a:t>index.js</a:t>
            </a:r>
            <a:r>
              <a:rPr lang="iw"/>
              <a:t> בפרויקט, שיכול להציג צד שרת</a:t>
            </a:r>
            <a:endParaRPr/>
          </a:p>
          <a:p>
            <a:pPr indent="-311150" lvl="0" marL="457200" rtl="1" algn="r">
              <a:spcBef>
                <a:spcPts val="400"/>
              </a:spcBef>
              <a:spcAft>
                <a:spcPts val="0"/>
              </a:spcAft>
              <a:buSzPts val="1300"/>
              <a:buAutoNum type="arabicPeriod"/>
            </a:pPr>
            <a:r>
              <a:rPr lang="iw"/>
              <a:t>יש להגדיר בקובץ מערך של קורסים, עם מאפיינים מתאימים לכל קורס: מזהה קורס, שם ותאור.</a:t>
            </a:r>
            <a:endParaRPr/>
          </a:p>
          <a:p>
            <a:pPr indent="-311150" lvl="0" marL="457200" rtl="1" algn="r">
              <a:spcBef>
                <a:spcPts val="400"/>
              </a:spcBef>
              <a:spcAft>
                <a:spcPts val="400"/>
              </a:spcAft>
              <a:buSzPts val="1300"/>
              <a:buAutoNum type="arabicPeriod"/>
            </a:pPr>
            <a:r>
              <a:rPr lang="iw"/>
              <a:t>המטרה הסופית: כאשר ניכנס בדפדפן לכתובת localhost:3000</a:t>
            </a:r>
            <a:br>
              <a:rPr lang="iw"/>
            </a:br>
            <a:r>
              <a:rPr lang="iw"/>
              <a:t>נראה את רשימת הקורסים. כמו כן, כאשר נסתכל בלוגים נראה שם גם כן את רשימת הקורסים, מודפסת בצורה צבעונית.</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type="title"/>
          </p:nvPr>
        </p:nvSpPr>
        <p:spPr>
          <a:xfrm>
            <a:off x="819150" y="845600"/>
            <a:ext cx="7505700" cy="626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משימה - ביצוע 📐</a:t>
            </a:r>
            <a:endParaRPr/>
          </a:p>
        </p:txBody>
      </p:sp>
      <p:sp>
        <p:nvSpPr>
          <p:cNvPr id="208" name="Google Shape;208;p26"/>
          <p:cNvSpPr txBox="1"/>
          <p:nvPr>
            <p:ph idx="1" type="body"/>
          </p:nvPr>
        </p:nvSpPr>
        <p:spPr>
          <a:xfrm>
            <a:off x="819150" y="1515875"/>
            <a:ext cx="7505700" cy="33819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יש להשתמש ב ai על מנת ללמוד, להבין וגם לבצע.</a:t>
            </a:r>
            <a:endParaRPr/>
          </a:p>
          <a:p>
            <a:pPr indent="-311150" lvl="0" marL="457200" rtl="1" algn="r">
              <a:spcBef>
                <a:spcPts val="0"/>
              </a:spcBef>
              <a:spcAft>
                <a:spcPts val="0"/>
              </a:spcAft>
              <a:buSzPts val="1300"/>
              <a:buChar char="-"/>
            </a:pPr>
            <a:r>
              <a:rPr lang="iw"/>
              <a:t>כל שורת קוד שנכתבה על ידי ה ai, חובה להבין היטב!</a:t>
            </a:r>
            <a:endParaRPr/>
          </a:p>
          <a:p>
            <a:pPr indent="-311150" lvl="0" marL="457200" rtl="1" algn="r">
              <a:spcBef>
                <a:spcPts val="0"/>
              </a:spcBef>
              <a:spcAft>
                <a:spcPts val="0"/>
              </a:spcAft>
              <a:buSzPts val="1300"/>
              <a:buChar char="-"/>
            </a:pPr>
            <a:r>
              <a:rPr lang="iw"/>
              <a:t>אחרי יצירת הפרויקט הבסיסי, יש להשתמש ב ai כדי לשפר את הקוד, על ידי שאלות בסגנון:</a:t>
            </a:r>
            <a:endParaRPr/>
          </a:p>
          <a:p>
            <a:pPr indent="-298450" lvl="1" marL="914400" rtl="1" algn="r">
              <a:spcBef>
                <a:spcPts val="0"/>
              </a:spcBef>
              <a:spcAft>
                <a:spcPts val="0"/>
              </a:spcAft>
              <a:buSzPts val="1100"/>
              <a:buChar char="-"/>
            </a:pPr>
            <a:r>
              <a:rPr lang="iw"/>
              <a:t>איזה שגיאות עשויות להיות בקוד?</a:t>
            </a:r>
            <a:endParaRPr/>
          </a:p>
          <a:p>
            <a:pPr indent="-298450" lvl="1" marL="914400" rtl="1" algn="r">
              <a:spcBef>
                <a:spcPts val="0"/>
              </a:spcBef>
              <a:spcAft>
                <a:spcPts val="0"/>
              </a:spcAft>
              <a:buSzPts val="1100"/>
              <a:buChar char="-"/>
            </a:pPr>
            <a:r>
              <a:rPr lang="iw"/>
              <a:t>איך אפשר לשפר?</a:t>
            </a:r>
            <a:endParaRPr/>
          </a:p>
          <a:p>
            <a:pPr indent="-298450" lvl="1" marL="914400" rtl="1" algn="r">
              <a:spcBef>
                <a:spcPts val="0"/>
              </a:spcBef>
              <a:spcAft>
                <a:spcPts val="0"/>
              </a:spcAft>
              <a:buSzPts val="1100"/>
              <a:buChar char="-"/>
            </a:pPr>
            <a:r>
              <a:rPr lang="iw"/>
              <a:t>הער לי הערות על מבנה הקוד?</a:t>
            </a:r>
            <a:endParaRPr/>
          </a:p>
          <a:p>
            <a:pPr indent="-311150" lvl="0" marL="457200" rtl="1" algn="r">
              <a:spcBef>
                <a:spcPts val="0"/>
              </a:spcBef>
              <a:spcAft>
                <a:spcPts val="0"/>
              </a:spcAft>
              <a:buSzPts val="1300"/>
              <a:buChar char="-"/>
            </a:pPr>
            <a:r>
              <a:rPr lang="iw"/>
              <a:t>הגשה: יש להעלות ל github את הפרויקט, וצרף אותי כשותפת עריכה בפרויקט. שם המשתמש שלי: chanakamin.</a:t>
            </a:r>
            <a:endParaRPr/>
          </a:p>
          <a:p>
            <a:pPr indent="-311150" lvl="0" marL="457200" rtl="1" algn="r">
              <a:spcBef>
                <a:spcPts val="0"/>
              </a:spcBef>
              <a:spcAft>
                <a:spcPts val="0"/>
              </a:spcAft>
              <a:buSzPts val="1300"/>
              <a:buChar char="-"/>
            </a:pPr>
            <a:r>
              <a:rPr lang="iw"/>
              <a:t>הפרויקט צריך לכלול גם קובץ txt עם פרוט של פרומפטים שונים שנשלחו ל ai ודוגמאות לתשובות.</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1" algn="ctr">
              <a:spcBef>
                <a:spcPts val="0"/>
              </a:spcBef>
              <a:spcAft>
                <a:spcPts val="0"/>
              </a:spcAft>
              <a:buNone/>
            </a:pPr>
            <a:r>
              <a:rPr lang="iw"/>
              <a:t>שיעור 2</a:t>
            </a:r>
            <a:endParaRPr/>
          </a:p>
        </p:txBody>
      </p:sp>
      <p:sp>
        <p:nvSpPr>
          <p:cNvPr id="214" name="Google Shape;214;p27"/>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iw"/>
              <a:t>express &amp; basic routing</a:t>
            </a:r>
            <a:endParaRPr/>
          </a:p>
          <a:p>
            <a:pPr indent="0" lvl="0" marL="0" rtl="1"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תוכן השיעור</a:t>
            </a:r>
            <a:endParaRPr/>
          </a:p>
        </p:txBody>
      </p:sp>
      <p:sp>
        <p:nvSpPr>
          <p:cNvPr id="220" name="Google Shape;220;p2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שיעור קודם למדנו הרצה בסיסית של שרת ב Nodejs.</a:t>
            </a:r>
            <a:endParaRPr/>
          </a:p>
          <a:p>
            <a:pPr indent="0" lvl="0" marL="0" rtl="1" algn="r">
              <a:spcBef>
                <a:spcPts val="400"/>
              </a:spcBef>
              <a:spcAft>
                <a:spcPts val="0"/>
              </a:spcAft>
              <a:buNone/>
            </a:pPr>
            <a:r>
              <a:rPr lang="iw"/>
              <a:t>בשיעור זה נתמקד בנושאים הבאים:</a:t>
            </a:r>
            <a:endParaRPr/>
          </a:p>
          <a:p>
            <a:pPr indent="-311150" lvl="0" marL="457200" rtl="1" algn="r">
              <a:spcBef>
                <a:spcPts val="400"/>
              </a:spcBef>
              <a:spcAft>
                <a:spcPts val="0"/>
              </a:spcAft>
              <a:buSzPts val="1300"/>
              <a:buChar char="-"/>
            </a:pPr>
            <a:r>
              <a:rPr lang="iw"/>
              <a:t>הבנת תפקידו של צד שרת</a:t>
            </a:r>
            <a:endParaRPr/>
          </a:p>
          <a:p>
            <a:pPr indent="-311150" lvl="0" marL="457200" rtl="1" algn="r">
              <a:spcBef>
                <a:spcPts val="0"/>
              </a:spcBef>
              <a:spcAft>
                <a:spcPts val="0"/>
              </a:spcAft>
              <a:buSzPts val="1300"/>
              <a:buChar char="-"/>
            </a:pPr>
            <a:r>
              <a:rPr lang="iw"/>
              <a:t>מה זה api?</a:t>
            </a:r>
            <a:endParaRPr/>
          </a:p>
          <a:p>
            <a:pPr indent="-311150" lvl="0" marL="457200" rtl="1" algn="r">
              <a:spcBef>
                <a:spcPts val="0"/>
              </a:spcBef>
              <a:spcAft>
                <a:spcPts val="0"/>
              </a:spcAft>
              <a:buSzPts val="1300"/>
              <a:buChar char="-"/>
            </a:pPr>
            <a:r>
              <a:rPr lang="iw"/>
              <a:t>מודל תקשורת בין צד שרת לצד לקוח - request response</a:t>
            </a:r>
            <a:endParaRPr/>
          </a:p>
          <a:p>
            <a:pPr indent="-311150" lvl="0" marL="457200" rtl="1" algn="r">
              <a:spcBef>
                <a:spcPts val="0"/>
              </a:spcBef>
              <a:spcAft>
                <a:spcPts val="0"/>
              </a:spcAft>
              <a:buSzPts val="1300"/>
              <a:buChar char="-"/>
            </a:pPr>
            <a:r>
              <a:rPr lang="iw"/>
              <a:t>יצירת צד שרת ב node על ידי שימוש בספריית express, שכולל מספר קריאות api שונות</a:t>
            </a:r>
            <a:endParaRPr/>
          </a:p>
          <a:p>
            <a:pPr indent="-311150" lvl="0" marL="457200" rtl="1" algn="r">
              <a:spcBef>
                <a:spcPts val="0"/>
              </a:spcBef>
              <a:spcAft>
                <a:spcPts val="0"/>
              </a:spcAft>
              <a:buSzPts val="1300"/>
              <a:buChar char="-"/>
            </a:pPr>
            <a:r>
              <a:rPr lang="iw"/>
              <a:t>ארגון צד השרת לקבצים שונים</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מפיתוח client לפיתוח server</a:t>
            </a:r>
            <a:endParaRPr>
              <a:latin typeface="Calibri"/>
              <a:ea typeface="Calibri"/>
              <a:cs typeface="Calibri"/>
              <a:sym typeface="Calibri"/>
            </a:endParaRPr>
          </a:p>
        </p:txBody>
      </p:sp>
      <p:sp>
        <p:nvSpPr>
          <p:cNvPr id="226" name="Google Shape;226;p29"/>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92500" lnSpcReduction="20000"/>
          </a:bodyPr>
          <a:lstStyle/>
          <a:p>
            <a:pPr indent="0" lvl="0" marL="0" rtl="1" algn="r">
              <a:spcBef>
                <a:spcPts val="0"/>
              </a:spcBef>
              <a:spcAft>
                <a:spcPts val="0"/>
              </a:spcAft>
              <a:buNone/>
            </a:pPr>
            <a:r>
              <a:rPr lang="iw"/>
              <a:t>עד כה, נלמד בעיקר פיתוח צד קליינט. (שיעור web- הצגת אתר ע"י html css js) כל האפליקציה רצה רק בתוך הדפדפן.</a:t>
            </a:r>
            <a:endParaRPr/>
          </a:p>
          <a:p>
            <a:pPr indent="0" lvl="0" marL="0" rtl="1" algn="r">
              <a:spcBef>
                <a:spcPts val="400"/>
              </a:spcBef>
              <a:spcAft>
                <a:spcPts val="0"/>
              </a:spcAft>
              <a:buNone/>
            </a:pPr>
            <a:r>
              <a:rPr lang="iw"/>
              <a:t>במהלך הקורס, נבנה את החלק השני שכל אתר נצרך בשביל לרוץ - צד השרת.</a:t>
            </a:r>
            <a:endParaRPr/>
          </a:p>
          <a:p>
            <a:pPr indent="0" lvl="0" marL="0" rtl="1" algn="r">
              <a:spcBef>
                <a:spcPts val="400"/>
              </a:spcBef>
              <a:spcAft>
                <a:spcPts val="0"/>
              </a:spcAft>
              <a:buNone/>
            </a:pPr>
            <a:r>
              <a:rPr lang="iw"/>
              <a:t>צד השרת, בעיקרון, אמור להתעסק עם מידע גולמי ולוגיקה בלבד. לצד השרת אין קשר למבנה האתר, לנראות שלו.</a:t>
            </a:r>
            <a:endParaRPr/>
          </a:p>
          <a:p>
            <a:pPr indent="0" lvl="0" marL="0" rtl="1" algn="r">
              <a:spcBef>
                <a:spcPts val="400"/>
              </a:spcBef>
              <a:spcAft>
                <a:spcPts val="0"/>
              </a:spcAft>
              <a:buNone/>
            </a:pPr>
            <a:r>
              <a:rPr lang="iw"/>
              <a:t>בצד השרת לא נראה (בדרך כלל) קבצי html או css האחראיים למראה ועיצוב האתר.</a:t>
            </a:r>
            <a:endParaRPr/>
          </a:p>
          <a:p>
            <a:pPr indent="0" lvl="0" marL="0" rtl="1" algn="r">
              <a:spcBef>
                <a:spcPts val="400"/>
              </a:spcBef>
              <a:spcAft>
                <a:spcPts val="0"/>
              </a:spcAft>
              <a:buNone/>
            </a:pPr>
            <a:r>
              <a:rPr lang="iw"/>
              <a:t>מה כן?</a:t>
            </a:r>
            <a:endParaRPr/>
          </a:p>
          <a:p>
            <a:pPr indent="0" lvl="0" marL="0" rtl="1" algn="r">
              <a:spcBef>
                <a:spcPts val="400"/>
              </a:spcBef>
              <a:spcAft>
                <a:spcPts val="0"/>
              </a:spcAft>
              <a:buNone/>
            </a:pPr>
            <a:r>
              <a:rPr lang="iw"/>
              <a:t>צד השרת יושב בענן. תפקידו הוא:</a:t>
            </a:r>
            <a:endParaRPr/>
          </a:p>
          <a:p>
            <a:pPr indent="-304959" lvl="0" marL="457200" rtl="1" algn="r">
              <a:spcBef>
                <a:spcPts val="400"/>
              </a:spcBef>
              <a:spcAft>
                <a:spcPts val="0"/>
              </a:spcAft>
              <a:buSzPct val="100000"/>
              <a:buChar char="-"/>
            </a:pPr>
            <a:r>
              <a:rPr lang="iw"/>
              <a:t>לקבל קריאות מהדפדפן - צד הלקוח. (לדוגמא, בדפדפן רץ אתר של חנות בגדים. הוא ישלח קריאה לשרת לקבל את רשימת הבגדים על מנת להציג אותה באתר)</a:t>
            </a:r>
            <a:endParaRPr/>
          </a:p>
          <a:p>
            <a:pPr indent="-304959" lvl="0" marL="457200" rtl="1" algn="r">
              <a:spcBef>
                <a:spcPts val="0"/>
              </a:spcBef>
              <a:spcAft>
                <a:spcPts val="0"/>
              </a:spcAft>
              <a:buSzPct val="100000"/>
              <a:buChar char="-"/>
            </a:pPr>
            <a:r>
              <a:rPr lang="iw"/>
              <a:t>לעבד את הבקשה (בדוגמא: יפנה ל db כדי לשלוף את הרשימה המתאימה, ויכין רשימה מתאימה של בגדים)</a:t>
            </a:r>
            <a:endParaRPr/>
          </a:p>
          <a:p>
            <a:pPr indent="-304959" lvl="0" marL="457200" rtl="1" algn="r">
              <a:spcBef>
                <a:spcPts val="0"/>
              </a:spcBef>
              <a:spcAft>
                <a:spcPts val="0"/>
              </a:spcAft>
              <a:buSzPct val="100000"/>
              <a:buChar char="-"/>
            </a:pPr>
            <a:r>
              <a:rPr lang="iw"/>
              <a:t>מחזיר תשובה לדפדפן (רשימת הבגדים) התשובה תהיה תמיד בפורמט json.</a:t>
            </a:r>
            <a:endParaRPr/>
          </a:p>
          <a:p>
            <a:pPr indent="-304959" lvl="0" marL="457200" rtl="1" algn="r">
              <a:spcBef>
                <a:spcPts val="0"/>
              </a:spcBef>
              <a:spcAft>
                <a:spcPts val="0"/>
              </a:spcAft>
              <a:buSzPct val="100000"/>
              <a:buChar char="-"/>
            </a:pPr>
            <a:r>
              <a:rPr lang="iw"/>
              <a:t>הדפדפן קיבל את התשובה, והוא יבנה html מתאים בשביל להציג את רשימת הבגדים.</a:t>
            </a:r>
            <a:br>
              <a:rPr lang="iw"/>
            </a:br>
            <a:endParaRPr/>
          </a:p>
          <a:p>
            <a:pPr indent="0" lvl="0" marL="0" rtl="1" algn="r">
              <a:spcBef>
                <a:spcPts val="400"/>
              </a:spcBef>
              <a:spcAft>
                <a:spcPts val="0"/>
              </a:spcAft>
              <a:buNone/>
            </a:pPr>
            <a:r>
              <a:rPr lang="iw"/>
              <a:t>בקשי מה ai שיסביר לך על ההבדלים בין פיתוח שרת לפיתוח קליינט, עבור מתכנתת שעד כה התעסקה רק בפיתוח קליינט.</a:t>
            </a:r>
            <a:br>
              <a:rPr lang="iw"/>
            </a:br>
            <a:r>
              <a:rPr lang="iw"/>
              <a:t>דוגמא לפרומפט:</a:t>
            </a:r>
            <a:endParaRPr/>
          </a:p>
          <a:p>
            <a:pPr indent="0" lvl="0" marL="0" rtl="1" algn="r">
              <a:spcBef>
                <a:spcPts val="400"/>
              </a:spcBef>
              <a:spcAft>
                <a:spcPts val="0"/>
              </a:spcAft>
              <a:buNone/>
            </a:pPr>
            <a:r>
              <a:rPr lang="iw"/>
              <a:t>I already know JavaScript for frontend development.</a:t>
            </a:r>
            <a:endParaRPr/>
          </a:p>
          <a:p>
            <a:pPr indent="0" lvl="0" marL="0" rtl="1" algn="r">
              <a:spcBef>
                <a:spcPts val="400"/>
              </a:spcBef>
              <a:spcAft>
                <a:spcPts val="0"/>
              </a:spcAft>
              <a:buNone/>
            </a:pPr>
            <a:r>
              <a:rPr lang="iw"/>
              <a:t>Explain the difference between frontend and backend development.</a:t>
            </a:r>
            <a:endParaRPr/>
          </a:p>
          <a:p>
            <a:pPr indent="0" lvl="0" marL="0" rtl="1" algn="r">
              <a:spcBef>
                <a:spcPts val="400"/>
              </a:spcBef>
              <a:spcAft>
                <a:spcPts val="400"/>
              </a:spcAft>
              <a:buNone/>
            </a:pPr>
            <a:r>
              <a:rPr lang="iw"/>
              <a:t>Focus on the responsibility of each side rather than specific technologies.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מבנה web application - אפליקצית ווב</a:t>
            </a:r>
            <a:endParaRPr>
              <a:latin typeface="Calibri"/>
              <a:ea typeface="Calibri"/>
              <a:cs typeface="Calibri"/>
              <a:sym typeface="Calibri"/>
            </a:endParaRPr>
          </a:p>
        </p:txBody>
      </p:sp>
      <p:sp>
        <p:nvSpPr>
          <p:cNvPr id="232" name="Google Shape;232;p30"/>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לרוב האפליקציות ברשת, (אתרים עם יכולות, לא רק אתר תדמית שמציג נתונים קבועים מראש)</a:t>
            </a:r>
            <a:endParaRPr/>
          </a:p>
          <a:p>
            <a:pPr indent="0" lvl="0" marL="0" rtl="1" algn="r">
              <a:spcBef>
                <a:spcPts val="400"/>
              </a:spcBef>
              <a:spcAft>
                <a:spcPts val="0"/>
              </a:spcAft>
              <a:buNone/>
            </a:pPr>
            <a:r>
              <a:rPr lang="iw"/>
              <a:t>יש מבנה סטנדרטי קבוע:</a:t>
            </a:r>
            <a:endParaRPr/>
          </a:p>
          <a:p>
            <a:pPr indent="-311150" lvl="0" marL="457200" rtl="1" algn="r">
              <a:spcBef>
                <a:spcPts val="400"/>
              </a:spcBef>
              <a:spcAft>
                <a:spcPts val="0"/>
              </a:spcAft>
              <a:buSzPts val="1300"/>
              <a:buChar char="-"/>
            </a:pPr>
            <a:r>
              <a:rPr lang="iw"/>
              <a:t>צד קליינט - לקוח - רץ בדפדפן. אחראי על הצגה של הנתונים על המסך, ומאפשר פעולות במסך (לדוגמא לחיצה על כפתורים וכו')</a:t>
            </a:r>
            <a:endParaRPr/>
          </a:p>
          <a:p>
            <a:pPr indent="-311150" lvl="0" marL="457200" rtl="1" algn="r">
              <a:spcBef>
                <a:spcPts val="0"/>
              </a:spcBef>
              <a:spcAft>
                <a:spcPts val="0"/>
              </a:spcAft>
              <a:buSzPts val="1300"/>
              <a:buChar char="-"/>
            </a:pPr>
            <a:r>
              <a:rPr lang="iw"/>
              <a:t>צד שרת - backend - סרבר - רץ בשרת (בענן). אחראי על ניהול המידע, ואין לו קשר לחלק התצוגה בכלל. יש לו גישה למסד הנתונים, הוא שולף משם מידע, מעדכן מידע, יכול לפנות לשרתים אחרים, ולבצע עיבודים על המידע.</a:t>
            </a:r>
            <a:endParaRPr/>
          </a:p>
          <a:p>
            <a:pPr indent="-311150" lvl="0" marL="457200" rtl="1" algn="r">
              <a:spcBef>
                <a:spcPts val="0"/>
              </a:spcBef>
              <a:spcAft>
                <a:spcPts val="0"/>
              </a:spcAft>
              <a:buSzPts val="1300"/>
              <a:buChar char="-"/>
            </a:pPr>
            <a:r>
              <a:rPr lang="iw"/>
              <a:t>תקשורת בין שני הצדדים: דרך קריאות http. צד קליינט שולח קריאת http לצד שרת, צד שרת מקבל את הקריאה, מעבד את הבקשה, ומחזיר תשובה.</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יותר על מודל request response בין צד client לצד server.</a:t>
            </a:r>
            <a:endParaRPr/>
          </a:p>
          <a:p>
            <a:pPr indent="0" lvl="0" marL="0" rtl="1" algn="r">
              <a:spcBef>
                <a:spcPts val="400"/>
              </a:spcBef>
              <a:spcAft>
                <a:spcPts val="0"/>
              </a:spcAft>
              <a:buNone/>
            </a:pPr>
            <a:r>
              <a:rPr lang="iw"/>
              <a:t>פרומפט לדוגמא:</a:t>
            </a:r>
            <a:br>
              <a:rPr lang="iw"/>
            </a:br>
            <a:r>
              <a:rPr lang="iw"/>
              <a:t>Explain how a browser and a backend server communicate.</a:t>
            </a:r>
            <a:endParaRPr/>
          </a:p>
          <a:p>
            <a:pPr indent="0" lvl="0" marL="0" rtl="1" algn="r">
              <a:spcBef>
                <a:spcPts val="400"/>
              </a:spcBef>
              <a:spcAft>
                <a:spcPts val="0"/>
              </a:spcAft>
              <a:buNone/>
            </a:pPr>
            <a:r>
              <a:rPr lang="iw"/>
              <a:t>Describe the request-response cycle step by step.</a:t>
            </a:r>
            <a:endParaRPr/>
          </a:p>
          <a:p>
            <a:pPr indent="0" lvl="0" marL="0" rtl="1" algn="r">
              <a:spcBef>
                <a:spcPts val="400"/>
              </a:spcBef>
              <a:spcAft>
                <a:spcPts val="400"/>
              </a:spcAft>
              <a:buNone/>
            </a:pPr>
            <a:r>
              <a:rPr lang="iw"/>
              <a:t>Do not use code.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api?</a:t>
            </a:r>
            <a:endParaRPr>
              <a:latin typeface="Calibri"/>
              <a:ea typeface="Calibri"/>
              <a:cs typeface="Calibri"/>
              <a:sym typeface="Calibri"/>
            </a:endParaRPr>
          </a:p>
        </p:txBody>
      </p:sp>
      <p:sp>
        <p:nvSpPr>
          <p:cNvPr id="238" name="Google Shape;238;p31"/>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92500" lnSpcReduction="20000"/>
          </a:bodyPr>
          <a:lstStyle/>
          <a:p>
            <a:pPr indent="0" lvl="0" marL="0" rtl="1" algn="r">
              <a:spcBef>
                <a:spcPts val="0"/>
              </a:spcBef>
              <a:spcAft>
                <a:spcPts val="0"/>
              </a:spcAft>
              <a:buNone/>
            </a:pPr>
            <a:r>
              <a:rPr lang="iw"/>
              <a:t>המונח api הוא אחד הבסיסיים והשימושיים יותר בפיתוח.</a:t>
            </a:r>
            <a:endParaRPr/>
          </a:p>
          <a:p>
            <a:pPr indent="0" lvl="0" marL="0" rtl="0" algn="l">
              <a:spcBef>
                <a:spcPts val="400"/>
              </a:spcBef>
              <a:spcAft>
                <a:spcPts val="0"/>
              </a:spcAft>
              <a:buNone/>
            </a:pPr>
            <a:r>
              <a:rPr lang="iw"/>
              <a:t>api (application programing interface) </a:t>
            </a:r>
            <a:endParaRPr/>
          </a:p>
          <a:p>
            <a:pPr indent="0" lvl="0" marL="0" rtl="1" algn="r">
              <a:spcBef>
                <a:spcPts val="400"/>
              </a:spcBef>
              <a:spcAft>
                <a:spcPts val="0"/>
              </a:spcAft>
              <a:buNone/>
            </a:pPr>
            <a:r>
              <a:rPr lang="iw"/>
              <a:t>הכוונה בשימוש במונח api הוא סוג של "חוזה" או "ממשק" בין שני צדדים, שמגדיר כיצד הם יכולים לתקשר בינהם.</a:t>
            </a:r>
            <a:endParaRPr/>
          </a:p>
          <a:p>
            <a:pPr indent="0" lvl="0" marL="0" rtl="1" algn="r">
              <a:spcBef>
                <a:spcPts val="400"/>
              </a:spcBef>
              <a:spcAft>
                <a:spcPts val="0"/>
              </a:spcAft>
              <a:buNone/>
            </a:pPr>
            <a:r>
              <a:rPr lang="iw"/>
              <a:t>כאשר משתמשים במונח api בהקשר של פיתוח צד שרת, הכוונה היא: כיצד ניתן לפנות לשרת? אילו קריאות הוא חושף?</a:t>
            </a:r>
            <a:br>
              <a:rPr lang="iw"/>
            </a:br>
            <a:r>
              <a:rPr lang="iw"/>
              <a:t>הרי כל התקשורת בין צד קליינט לצד לקוח היא על ידי קריאות http. לקריאות אלה מבנה קבוע.</a:t>
            </a:r>
            <a:endParaRPr/>
          </a:p>
          <a:p>
            <a:pPr indent="0" lvl="0" marL="0" rtl="1" algn="r">
              <a:spcBef>
                <a:spcPts val="400"/>
              </a:spcBef>
              <a:spcAft>
                <a:spcPts val="0"/>
              </a:spcAft>
              <a:buNone/>
            </a:pPr>
            <a:r>
              <a:rPr lang="iw"/>
              <a:t>צד ה client לא מודע באיזה שפה כתוב צד השרת, nodejs, java או אולי בכלל c#. הוא צריך לדעת דבר אחד:</a:t>
            </a:r>
            <a:br>
              <a:rPr lang="iw"/>
            </a:br>
            <a:r>
              <a:rPr lang="iw"/>
              <a:t>מה ה api שצד השרת חושף?</a:t>
            </a:r>
            <a:br>
              <a:rPr lang="iw"/>
            </a:br>
            <a:r>
              <a:rPr lang="iw"/>
              <a:t>במילים אחרות: איזה קריאות אפשר לשלוח לשרת הזה?</a:t>
            </a:r>
            <a:endParaRPr/>
          </a:p>
          <a:p>
            <a:pPr indent="0" lvl="0" marL="0" rtl="1" algn="r">
              <a:spcBef>
                <a:spcPts val="400"/>
              </a:spcBef>
              <a:spcAft>
                <a:spcPts val="0"/>
              </a:spcAft>
              <a:buNone/>
            </a:pPr>
            <a:r>
              <a:rPr lang="iw"/>
              <a:t>כל שרת מגדיר אילו קריאות ניתן לשלוח אליו.</a:t>
            </a:r>
            <a:endParaRPr/>
          </a:p>
          <a:p>
            <a:pPr indent="0" lvl="0" marL="0" rtl="1" algn="r">
              <a:spcBef>
                <a:spcPts val="400"/>
              </a:spcBef>
              <a:spcAft>
                <a:spcPts val="0"/>
              </a:spcAft>
              <a:buNone/>
            </a:pPr>
            <a:r>
              <a:rPr lang="iw"/>
              <a:t>לדוגמא, שרת של חנות בגדים, יגדיר קריאה בשביל לקבל רשימה של בגדים, ובשביל לבצע קניה של בגד, ולקבל פרטים על בגד ספציפי.</a:t>
            </a:r>
            <a:br>
              <a:rPr lang="iw"/>
            </a:br>
            <a:r>
              <a:rPr lang="iw"/>
              <a:t>זו רשימה של 3 קריאות שונות, שהם ה api שהשרת הזה חושף.</a:t>
            </a:r>
            <a:endParaRPr/>
          </a:p>
          <a:p>
            <a:pPr indent="0" lvl="0" marL="0" rtl="1" algn="r">
              <a:spcBef>
                <a:spcPts val="400"/>
              </a:spcBef>
              <a:spcAft>
                <a:spcPts val="0"/>
              </a:spcAft>
              <a:buNone/>
            </a:pPr>
            <a:r>
              <a:rPr lang="iw"/>
              <a:t>צד ה client של האתר, יוכל לשלוח קריאות http לקריאות האלה בלבד - ה api של השרת.</a:t>
            </a:r>
            <a:endParaRPr/>
          </a:p>
          <a:p>
            <a:pPr indent="0" lvl="0" marL="0" rtl="1" algn="r">
              <a:spcBef>
                <a:spcPts val="400"/>
              </a:spcBef>
              <a:spcAft>
                <a:spcPts val="0"/>
              </a:spcAft>
              <a:buNone/>
            </a:pPr>
            <a:r>
              <a:rPr lang="iw"/>
              <a:t>בקשי מה ai שיסביר לך עוד על המונח api</a:t>
            </a:r>
            <a:br>
              <a:rPr lang="iw"/>
            </a:br>
            <a:r>
              <a:rPr lang="iw"/>
              <a:t>פרומפט לדוגמא:</a:t>
            </a:r>
            <a:br>
              <a:rPr lang="iw"/>
            </a:br>
            <a:r>
              <a:rPr lang="iw"/>
              <a:t>Explain what an API is.</a:t>
            </a:r>
            <a:endParaRPr/>
          </a:p>
          <a:p>
            <a:pPr indent="0" lvl="0" marL="0" rtl="1" algn="r">
              <a:spcBef>
                <a:spcPts val="400"/>
              </a:spcBef>
              <a:spcAft>
                <a:spcPts val="0"/>
              </a:spcAft>
              <a:buNone/>
            </a:pPr>
            <a:r>
              <a:rPr lang="iw"/>
              <a:t>Give two real-world examples of APIs that are not related to programming.</a:t>
            </a:r>
            <a:endParaRPr/>
          </a:p>
          <a:p>
            <a:pPr indent="0" lvl="0" marL="0" rtl="1" algn="r">
              <a:spcBef>
                <a:spcPts val="400"/>
              </a:spcBef>
              <a:spcAft>
                <a:spcPts val="400"/>
              </a:spcAft>
              <a:buNone/>
            </a:pPr>
            <a:r>
              <a:rPr lang="iw"/>
              <a:t>Then explain how the same idea applies to web development. </a:t>
            </a:r>
            <a:r>
              <a:rPr lang="iw"/>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למה api יחזיר תמיד json?</a:t>
            </a:r>
            <a:endParaRPr>
              <a:latin typeface="Calibri"/>
              <a:ea typeface="Calibri"/>
              <a:cs typeface="Calibri"/>
              <a:sym typeface="Calibri"/>
            </a:endParaRPr>
          </a:p>
        </p:txBody>
      </p:sp>
      <p:sp>
        <p:nvSpPr>
          <p:cNvPr id="244" name="Google Shape;244;p32"/>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קריאות api יחזירו לנו בדרך כלל (כיום, בעבר פני הדברים היו אחרים, וגם כיום יש יוצאי דופן)</a:t>
            </a:r>
            <a:br>
              <a:rPr lang="iw"/>
            </a:br>
            <a:r>
              <a:rPr lang="iw"/>
              <a:t>נתונים בפורמט json. (לא נתונים מעוצבים עם html, לא טקסטים.)</a:t>
            </a:r>
            <a:br>
              <a:rPr lang="iw"/>
            </a:br>
            <a:r>
              <a:rPr lang="iw"/>
              <a:t>הסיבה היא - פורמט json הוא פורמט מאוד נח, ברור, אפשר להגדיר איתו מבני מידע ברורים ומדויקים,</a:t>
            </a:r>
            <a:endParaRPr/>
          </a:p>
          <a:p>
            <a:pPr indent="0" lvl="0" marL="0" rtl="1" algn="r">
              <a:spcBef>
                <a:spcPts val="400"/>
              </a:spcBef>
              <a:spcAft>
                <a:spcPts val="0"/>
              </a:spcAft>
              <a:buNone/>
            </a:pPr>
            <a:r>
              <a:rPr lang="iw"/>
              <a:t>והוא מהווה סטנדרט אחיד בפיתוח ברוב המקומות.</a:t>
            </a:r>
            <a:br>
              <a:rPr lang="iw"/>
            </a:br>
            <a:r>
              <a:rPr lang="iw"/>
              <a:t>כאשר דפדפן טוען אתר, בדרך כלל יש קריאות ראשונות בשביל להציג את האתר: קריאות אלה טוענות קבצי html css js, גם תמונות ואולי גם קבצי שמע.</a:t>
            </a:r>
            <a:br>
              <a:rPr lang="iw"/>
            </a:br>
            <a:r>
              <a:rPr lang="iw"/>
              <a:t>בהמשך, בשביל להציג נתונים השרת ישלח קריאות api לשרת בשביל לקבל מידע. המידע הזה יתקבל בד"כ בפורמט json, והדפדפן יעבד אותו כדי להציג אותו בצורה וויזואלית נאה.</a:t>
            </a:r>
            <a:br>
              <a:rPr lang="iw"/>
            </a:br>
            <a:r>
              <a:rPr lang="iw"/>
              <a:t>מי שקובע על הפורמט המדויק שהנתונים חוזרים הוא צד השרת ולא צד הלקוח!</a:t>
            </a:r>
            <a:br>
              <a:rPr lang="iw"/>
            </a:br>
            <a:r>
              <a:rPr lang="iw"/>
              <a:t>בקשי מה ai שיסביר לך עוד על הפורמט של ה data שחוזר מהשרת.</a:t>
            </a:r>
            <a:endParaRPr/>
          </a:p>
          <a:p>
            <a:pPr indent="0" lvl="0" marL="0" rtl="1" algn="r">
              <a:spcBef>
                <a:spcPts val="400"/>
              </a:spcBef>
              <a:spcAft>
                <a:spcPts val="0"/>
              </a:spcAft>
              <a:buNone/>
            </a:pPr>
            <a:r>
              <a:rPr lang="iw"/>
              <a:t>פרומפט לדוגמא:</a:t>
            </a:r>
            <a:br>
              <a:rPr lang="iw"/>
            </a:br>
            <a:r>
              <a:rPr lang="iw"/>
              <a:t>Explain the difference between HTML and JSON.</a:t>
            </a:r>
            <a:endParaRPr/>
          </a:p>
          <a:p>
            <a:pPr indent="0" lvl="0" marL="0" rtl="1" algn="r">
              <a:spcBef>
                <a:spcPts val="400"/>
              </a:spcBef>
              <a:spcAft>
                <a:spcPts val="0"/>
              </a:spcAft>
              <a:buNone/>
            </a:pPr>
            <a:r>
              <a:rPr lang="iw"/>
              <a:t>When is each format typically returned by a web server?</a:t>
            </a:r>
            <a:endParaRPr/>
          </a:p>
          <a:p>
            <a:pPr indent="0" lvl="0" marL="0" rtl="1" algn="r">
              <a:spcBef>
                <a:spcPts val="400"/>
              </a:spcBef>
              <a:spcAft>
                <a:spcPts val="400"/>
              </a:spcAft>
              <a:buNone/>
            </a:pPr>
            <a:r>
              <a:rPr lang="iw"/>
              <a:t>Do not assume any specific framework. </a:t>
            </a:r>
            <a:r>
              <a:rPr lang="iw"/>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express?</a:t>
            </a:r>
            <a:endParaRPr>
              <a:latin typeface="Calibri"/>
              <a:ea typeface="Calibri"/>
              <a:cs typeface="Calibri"/>
              <a:sym typeface="Calibri"/>
            </a:endParaRPr>
          </a:p>
        </p:txBody>
      </p:sp>
      <p:sp>
        <p:nvSpPr>
          <p:cNvPr id="250" name="Google Shape;250;p33"/>
          <p:cNvSpPr txBox="1"/>
          <p:nvPr>
            <p:ph idx="1" type="body"/>
          </p:nvPr>
        </p:nvSpPr>
        <p:spPr>
          <a:xfrm>
            <a:off x="819150" y="1420825"/>
            <a:ext cx="7505700" cy="3364500"/>
          </a:xfrm>
          <a:prstGeom prst="rect">
            <a:avLst/>
          </a:prstGeom>
        </p:spPr>
        <p:txBody>
          <a:bodyPr anchorCtr="0" anchor="t" bIns="91425" lIns="91425" spcFirstLastPara="1" rIns="91425" wrap="square" tIns="91425">
            <a:normAutofit lnSpcReduction="10000"/>
          </a:bodyPr>
          <a:lstStyle/>
          <a:p>
            <a:pPr indent="0" lvl="0" marL="0" rtl="1" algn="r">
              <a:spcBef>
                <a:spcPts val="0"/>
              </a:spcBef>
              <a:spcAft>
                <a:spcPts val="0"/>
              </a:spcAft>
              <a:buNone/>
            </a:pPr>
            <a:r>
              <a:rPr lang="iw"/>
              <a:t>שקופית זו עוברת לממש את העקרונות התאורטיים שנלמדו בשקופיות קודמות, ולהטמיע אותם בפיתוח שרת nodejs.</a:t>
            </a:r>
            <a:endParaRPr/>
          </a:p>
          <a:p>
            <a:pPr indent="0" lvl="0" marL="0" rtl="1" algn="r">
              <a:spcBef>
                <a:spcPts val="400"/>
              </a:spcBef>
              <a:spcAft>
                <a:spcPts val="0"/>
              </a:spcAft>
              <a:buNone/>
            </a:pPr>
            <a:r>
              <a:rPr lang="iw"/>
              <a:t>למרות ששפת nodejs תומכת בפיתוח שרת עובד, שמאפשר לקבל קריאות ולהחזיר תשובות כלי להתקין ספריה נוספת כלל,</a:t>
            </a:r>
            <a:endParaRPr/>
          </a:p>
          <a:p>
            <a:pPr indent="0" lvl="0" marL="0" rtl="1" algn="r">
              <a:spcBef>
                <a:spcPts val="400"/>
              </a:spcBef>
              <a:spcAft>
                <a:spcPts val="0"/>
              </a:spcAft>
              <a:buNone/>
            </a:pPr>
            <a:r>
              <a:rPr lang="iw"/>
              <a:t>בכל זאת, ברוב רובם של המקרים בפיתוח node תותקן ספריה נוספת, שתהווה תשתית - framework בשביל פיתוח צד שרת.</a:t>
            </a:r>
            <a:br>
              <a:rPr lang="iw"/>
            </a:br>
            <a:r>
              <a:rPr lang="iw"/>
              <a:t>ספריה זו בנויה מעל הפונקציות הבסיסיות של nodejs, ומאפשרת להרחיב את היכולות, לארגן קוד מסודר וברור יותר, לתמוך במגוון יכולות. היכולות הבסיסיות של node בלי ספריה נוספת הן בסיסיות מאוד, ולא נוחות לשימוש.</a:t>
            </a:r>
            <a:endParaRPr/>
          </a:p>
          <a:p>
            <a:pPr indent="0" lvl="0" marL="0" rtl="1" algn="r">
              <a:spcBef>
                <a:spcPts val="400"/>
              </a:spcBef>
              <a:spcAft>
                <a:spcPts val="0"/>
              </a:spcAft>
              <a:buNone/>
            </a:pPr>
            <a:r>
              <a:rPr lang="iw"/>
              <a:t>שתי ספריות נפוצות מאוד כיום:</a:t>
            </a:r>
            <a:endParaRPr/>
          </a:p>
          <a:p>
            <a:pPr indent="-311150" lvl="0" marL="457200" rtl="0" algn="l">
              <a:spcBef>
                <a:spcPts val="400"/>
              </a:spcBef>
              <a:spcAft>
                <a:spcPts val="0"/>
              </a:spcAft>
              <a:buSzPts val="1300"/>
              <a:buChar char="-"/>
            </a:pPr>
            <a:r>
              <a:rPr lang="iw"/>
              <a:t>express - ספריה וותיקה מאוד, שימושית מאוד. מאוד בסיסית ויסודית, כוללת סט יכולותיחסית בסיסי.</a:t>
            </a:r>
            <a:endParaRPr/>
          </a:p>
          <a:p>
            <a:pPr indent="-311150" lvl="0" marL="457200" rtl="0" algn="l">
              <a:spcBef>
                <a:spcPts val="0"/>
              </a:spcBef>
              <a:spcAft>
                <a:spcPts val="0"/>
              </a:spcAft>
              <a:buSzPts val="1300"/>
              <a:buChar char="-"/>
            </a:pPr>
            <a:r>
              <a:rPr lang="iw"/>
              <a:t>fastify - ספריה חדשה יותר, כוללת סט כלים ויכולות עשיר בהרבה, בשנים האחרונות צוברת פופולאריות רבה.</a:t>
            </a:r>
            <a:endParaRPr/>
          </a:p>
          <a:p>
            <a:pPr indent="0" lvl="0" marL="0" rtl="1" algn="r">
              <a:spcBef>
                <a:spcPts val="400"/>
              </a:spcBef>
              <a:spcAft>
                <a:spcPts val="0"/>
              </a:spcAft>
              <a:buNone/>
            </a:pPr>
            <a:r>
              <a:rPr lang="iw"/>
              <a:t>בקורס זה יש התמקדות ב express, שמתאימה יותר כרגע בשלב לימוד והכרות ראשוני.</a:t>
            </a:r>
            <a:br>
              <a:rPr lang="iw"/>
            </a:br>
            <a:r>
              <a:rPr lang="iw"/>
              <a:t> השימוש ב express נועד כדי לפשט את הקוד, ולאפשר בצורה קלה לתמוך בקריאות שונות, והרצת צד שרת, ועוד.</a:t>
            </a:r>
            <a:endParaRPr/>
          </a:p>
          <a:p>
            <a:pPr indent="0" lvl="0" marL="0" rtl="1" algn="r">
              <a:spcBef>
                <a:spcPts val="400"/>
              </a:spcBef>
              <a:spcAft>
                <a:spcPts val="0"/>
              </a:spcAft>
              <a:buNone/>
            </a:pPr>
            <a:r>
              <a:rPr lang="iw"/>
              <a:t>בקשי מה ai שיסביר לך עוד על השימוש ב express</a:t>
            </a:r>
            <a:endParaRPr/>
          </a:p>
          <a:p>
            <a:pPr indent="0" lvl="0" marL="0" rtl="1" algn="r">
              <a:spcBef>
                <a:spcPts val="400"/>
              </a:spcBef>
              <a:spcAft>
                <a:spcPts val="0"/>
              </a:spcAft>
              <a:buNone/>
            </a:pPr>
            <a:r>
              <a:rPr lang="iw"/>
              <a:t>פרומפט לדוגמא:</a:t>
            </a:r>
            <a:br>
              <a:rPr lang="iw"/>
            </a:br>
            <a:r>
              <a:rPr lang="iw"/>
              <a:t>Explain why Express was created.</a:t>
            </a:r>
            <a:endParaRPr/>
          </a:p>
          <a:p>
            <a:pPr indent="0" lvl="0" marL="0" rtl="1" algn="r">
              <a:spcBef>
                <a:spcPts val="400"/>
              </a:spcBef>
              <a:spcAft>
                <a:spcPts val="0"/>
              </a:spcAft>
              <a:buNone/>
            </a:pPr>
            <a:r>
              <a:rPr lang="iw"/>
              <a:t>Compare creating a simple server with Node's http module and with Express.</a:t>
            </a:r>
            <a:endParaRPr/>
          </a:p>
          <a:p>
            <a:pPr indent="0" lvl="0" marL="0" rtl="1" algn="r">
              <a:spcBef>
                <a:spcPts val="400"/>
              </a:spcBef>
              <a:spcAft>
                <a:spcPts val="400"/>
              </a:spcAft>
              <a:buNone/>
            </a:pPr>
            <a:r>
              <a:rPr lang="iw"/>
              <a:t>Focus on readability and developer productivity. </a:t>
            </a:r>
            <a:r>
              <a:rPr lang="iw"/>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routes?</a:t>
            </a:r>
            <a:endParaRPr>
              <a:latin typeface="Calibri"/>
              <a:ea typeface="Calibri"/>
              <a:cs typeface="Calibri"/>
              <a:sym typeface="Calibri"/>
            </a:endParaRPr>
          </a:p>
        </p:txBody>
      </p:sp>
      <p:sp>
        <p:nvSpPr>
          <p:cNvPr id="256" name="Google Shape;256;p34"/>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85000" lnSpcReduction="20000"/>
          </a:bodyPr>
          <a:lstStyle/>
          <a:p>
            <a:pPr indent="0" lvl="0" marL="0" rtl="1" algn="r">
              <a:spcBef>
                <a:spcPts val="0"/>
              </a:spcBef>
              <a:spcAft>
                <a:spcPts val="0"/>
              </a:spcAft>
              <a:buNone/>
            </a:pPr>
            <a:r>
              <a:rPr lang="iw"/>
              <a:t>כאמור, כל שרת מספק api שהקליינט אמור לפנות אליו. כל קריאת api מהווה קריאה שהשרת מייחצן, ואפשר לקרוא אליה מבחוץ (מצד קלינט כלשהו). כל שרת מייחצן כמות רבה של קריאות api (לפי הצורך והתוכן של השרת)</a:t>
            </a:r>
            <a:endParaRPr/>
          </a:p>
          <a:p>
            <a:pPr indent="0" lvl="0" marL="0" rtl="1" algn="r">
              <a:spcBef>
                <a:spcPts val="400"/>
              </a:spcBef>
              <a:spcAft>
                <a:spcPts val="0"/>
              </a:spcAft>
              <a:buNone/>
            </a:pPr>
            <a:r>
              <a:rPr lang="iw"/>
              <a:t>איך נבדיל בין הקריאות?</a:t>
            </a:r>
            <a:endParaRPr/>
          </a:p>
          <a:p>
            <a:pPr indent="0" lvl="0" marL="0" rtl="1" algn="r">
              <a:spcBef>
                <a:spcPts val="400"/>
              </a:spcBef>
              <a:spcAft>
                <a:spcPts val="0"/>
              </a:spcAft>
              <a:buNone/>
            </a:pPr>
            <a:r>
              <a:rPr lang="iw"/>
              <a:t>כל קריאה תתחיל תמיד עם הכתובת של השרת, ותמשיך עם ניווט פנימי בתוך השרת - הניווט הזה מוגדר מראש על ידי השרת, ולא קשור בכלל לצד הקליינט, צד הקליינט תמיד יקרא לפי הניווט הפנימי שהשרת מאפשר.</a:t>
            </a:r>
            <a:endParaRPr/>
          </a:p>
          <a:p>
            <a:pPr indent="0" lvl="0" marL="0" rtl="1" algn="r">
              <a:spcBef>
                <a:spcPts val="400"/>
              </a:spcBef>
              <a:spcAft>
                <a:spcPts val="0"/>
              </a:spcAft>
              <a:buNone/>
            </a:pPr>
            <a:r>
              <a:rPr lang="iw"/>
              <a:t>לדוגמא:</a:t>
            </a:r>
            <a:endParaRPr/>
          </a:p>
          <a:p>
            <a:pPr indent="0" lvl="0" marL="0" rtl="0" algn="l">
              <a:spcBef>
                <a:spcPts val="400"/>
              </a:spcBef>
              <a:spcAft>
                <a:spcPts val="0"/>
              </a:spcAft>
              <a:buNone/>
            </a:pPr>
            <a:r>
              <a:rPr lang="iw"/>
              <a:t>GET </a:t>
            </a:r>
            <a:r>
              <a:rPr lang="iw" u="sng">
                <a:solidFill>
                  <a:schemeClr val="hlink"/>
                </a:solidFill>
                <a:hlinkClick r:id="rId3"/>
              </a:rPr>
              <a:t>http://localhost:3000/courses</a:t>
            </a:r>
            <a:endParaRPr/>
          </a:p>
          <a:p>
            <a:pPr indent="0" lvl="0" marL="0" rtl="0" algn="l">
              <a:spcBef>
                <a:spcPts val="400"/>
              </a:spcBef>
              <a:spcAft>
                <a:spcPts val="0"/>
              </a:spcAft>
              <a:buNone/>
            </a:pPr>
            <a:r>
              <a:rPr lang="iw"/>
              <a:t>GET </a:t>
            </a:r>
            <a:r>
              <a:rPr lang="iw" u="sng">
                <a:solidFill>
                  <a:schemeClr val="hlink"/>
                </a:solidFill>
                <a:hlinkClick r:id="rId4"/>
              </a:rPr>
              <a:t>http://localhost:3000/teachers</a:t>
            </a:r>
            <a:endParaRPr/>
          </a:p>
          <a:p>
            <a:pPr indent="0" lvl="0" marL="0" rtl="0" algn="l">
              <a:spcBef>
                <a:spcPts val="400"/>
              </a:spcBef>
              <a:spcAft>
                <a:spcPts val="0"/>
              </a:spcAft>
              <a:buNone/>
            </a:pPr>
            <a:r>
              <a:rPr lang="iw"/>
              <a:t>GET </a:t>
            </a:r>
            <a:r>
              <a:rPr lang="iw" u="sng">
                <a:solidFill>
                  <a:schemeClr val="hlink"/>
                </a:solidFill>
                <a:hlinkClick r:id="rId5"/>
              </a:rPr>
              <a:t>http://localhost:3000/products/33</a:t>
            </a:r>
            <a:endParaRPr/>
          </a:p>
          <a:p>
            <a:pPr indent="0" lvl="0" marL="0" rtl="1" algn="r">
              <a:spcBef>
                <a:spcPts val="400"/>
              </a:spcBef>
              <a:spcAft>
                <a:spcPts val="0"/>
              </a:spcAft>
              <a:buNone/>
            </a:pPr>
            <a:r>
              <a:rPr lang="iw"/>
              <a:t>בכל הכתובת הנ"ל, השרת הוא localhost:3000. ההמשך הוא הניווט הפנימי שבתוך השרת:</a:t>
            </a:r>
            <a:br>
              <a:rPr lang="iw"/>
            </a:br>
            <a:r>
              <a:rPr lang="iw"/>
              <a:t>מהקריאה הראשונה נצפה לקבל רשימה של קורסים, מהקריאה השניה רשימה של מורים, מהקריאה השלישית את המוצר שה id שלו הוא 33.</a:t>
            </a:r>
            <a:br>
              <a:rPr lang="iw"/>
            </a:br>
            <a:r>
              <a:rPr lang="iw"/>
              <a:t>כל "נייוט" פנימי כזה, מכונה route.</a:t>
            </a:r>
            <a:br>
              <a:rPr lang="iw"/>
            </a:br>
            <a:r>
              <a:rPr lang="iw"/>
              <a:t>בבנית צד שרת חשוב להגדיר routes שונים, לפי הקריאות שהשרת אמור לאפשר.</a:t>
            </a:r>
            <a:endParaRPr/>
          </a:p>
          <a:p>
            <a:pPr indent="0" lvl="0" marL="0" rtl="1" algn="r">
              <a:spcBef>
                <a:spcPts val="400"/>
              </a:spcBef>
              <a:spcAft>
                <a:spcPts val="0"/>
              </a:spcAft>
              <a:buNone/>
            </a:pPr>
            <a:r>
              <a:rPr lang="iw"/>
              <a:t>בקשי מה ai שיסביר לך עוד על routes, ועל ההגדרה שלהם ב express</a:t>
            </a:r>
            <a:endParaRPr/>
          </a:p>
          <a:p>
            <a:pPr indent="0" lvl="0" marL="0" rtl="1" algn="r">
              <a:spcBef>
                <a:spcPts val="400"/>
              </a:spcBef>
              <a:spcAft>
                <a:spcPts val="0"/>
              </a:spcAft>
              <a:buNone/>
            </a:pPr>
            <a:r>
              <a:rPr lang="iw"/>
              <a:t>פרומפט לדוגמא:</a:t>
            </a:r>
            <a:endParaRPr/>
          </a:p>
          <a:p>
            <a:pPr indent="0" lvl="0" marL="0" rtl="1" algn="r">
              <a:spcBef>
                <a:spcPts val="400"/>
              </a:spcBef>
              <a:spcAft>
                <a:spcPts val="0"/>
              </a:spcAft>
              <a:buNone/>
            </a:pPr>
            <a:r>
              <a:rPr lang="iw"/>
              <a:t>Explain what a route is in Express.</a:t>
            </a:r>
            <a:endParaRPr/>
          </a:p>
          <a:p>
            <a:pPr indent="0" lvl="0" marL="0" rtl="1" algn="r">
              <a:spcBef>
                <a:spcPts val="400"/>
              </a:spcBef>
              <a:spcAft>
                <a:spcPts val="0"/>
              </a:spcAft>
              <a:buNone/>
            </a:pPr>
            <a:r>
              <a:rPr lang="iw"/>
              <a:t>Show three examples of GET routes and explain what each one could return.</a:t>
            </a:r>
            <a:endParaRPr/>
          </a:p>
          <a:p>
            <a:pPr indent="0" lvl="0" marL="0" rtl="1" algn="r">
              <a:spcBef>
                <a:spcPts val="400"/>
              </a:spcBef>
              <a:spcAft>
                <a:spcPts val="400"/>
              </a:spcAft>
              <a:buNone/>
            </a:pPr>
            <a:r>
              <a:rPr lang="iw"/>
              <a:t>Do not use POST, PUT or DELETE yet. </a:t>
            </a:r>
            <a:r>
              <a:rPr lang="iw"/>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חלוקת קוד למודולים</a:t>
            </a:r>
            <a:endParaRPr>
              <a:latin typeface="Calibri"/>
              <a:ea typeface="Calibri"/>
              <a:cs typeface="Calibri"/>
              <a:sym typeface="Calibri"/>
            </a:endParaRPr>
          </a:p>
        </p:txBody>
      </p:sp>
      <p:sp>
        <p:nvSpPr>
          <p:cNvPr id="262" name="Google Shape;262;p35"/>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בבנית פרויקט ב node, חשוב מאוד להקפיד על חלוקה לקבצים מסודרת. בנוד, כל קובץ מכונה גם מודול (module)</a:t>
            </a:r>
            <a:endParaRPr/>
          </a:p>
          <a:p>
            <a:pPr indent="0" lvl="0" marL="0" rtl="1" algn="r">
              <a:spcBef>
                <a:spcPts val="400"/>
              </a:spcBef>
              <a:spcAft>
                <a:spcPts val="0"/>
              </a:spcAft>
              <a:buNone/>
            </a:pPr>
            <a:r>
              <a:rPr lang="iw"/>
              <a:t>בפרויקט נוד, תמיד הקובץ הראשי יהיה </a:t>
            </a:r>
            <a:r>
              <a:rPr lang="iw" u="sng">
                <a:solidFill>
                  <a:schemeClr val="hlink"/>
                </a:solidFill>
                <a:hlinkClick r:id="rId3"/>
              </a:rPr>
              <a:t>app.js</a:t>
            </a:r>
            <a:r>
              <a:rPr lang="iw"/>
              <a:t> או </a:t>
            </a:r>
            <a:r>
              <a:rPr lang="iw" u="sng">
                <a:solidFill>
                  <a:schemeClr val="hlink"/>
                </a:solidFill>
                <a:hlinkClick r:id="rId4"/>
              </a:rPr>
              <a:t>index.js</a:t>
            </a:r>
            <a:r>
              <a:rPr lang="iw"/>
              <a:t>. אפשר להגדיר את כל הקוד של השרת בתוך הקובץ הזה. התוצאה תהיה קובץ ארוך ארוך ובלתי ניתן להתמצאות…</a:t>
            </a:r>
            <a:endParaRPr/>
          </a:p>
          <a:p>
            <a:pPr indent="0" lvl="0" marL="0" rtl="1" algn="r">
              <a:spcBef>
                <a:spcPts val="400"/>
              </a:spcBef>
              <a:spcAft>
                <a:spcPts val="0"/>
              </a:spcAft>
              <a:buNone/>
            </a:pPr>
            <a:r>
              <a:rPr lang="iw"/>
              <a:t>לכן חשוב מאוד להקפיד על חלוקה מסודרת לקבצים.</a:t>
            </a:r>
            <a:endParaRPr/>
          </a:p>
          <a:p>
            <a:pPr indent="0" lvl="0" marL="0" rtl="1" algn="r">
              <a:spcBef>
                <a:spcPts val="400"/>
              </a:spcBef>
              <a:spcAft>
                <a:spcPts val="0"/>
              </a:spcAft>
              <a:buNone/>
            </a:pPr>
            <a:r>
              <a:rPr lang="iw"/>
              <a:t>בהמשך הקורס ילמד יותר מדויק חלוקה מסודרת ונכונה לתיקיות וקבצים. בשלב זה חשוב להקפיד על חלוקה של הפרויקט למספר קבצים לפי נושאים. חשוב לייבא את הקבצים לתוך הקובץ הראשי, בראש הקובץ.</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חלוקה למודלים ב nodejs, ואיך קוראים מקובץ לקובץ.</a:t>
            </a:r>
            <a:endParaRPr/>
          </a:p>
          <a:p>
            <a:pPr indent="0" lvl="0" marL="0" rtl="1" algn="r">
              <a:spcBef>
                <a:spcPts val="400"/>
              </a:spcBef>
              <a:spcAft>
                <a:spcPts val="0"/>
              </a:spcAft>
              <a:buNone/>
            </a:pPr>
            <a:r>
              <a:rPr lang="iw"/>
              <a:t>פרומפט לדוגמא:</a:t>
            </a:r>
            <a:endParaRPr/>
          </a:p>
          <a:p>
            <a:pPr indent="0" lvl="0" marL="0" rtl="1" algn="r">
              <a:spcBef>
                <a:spcPts val="400"/>
              </a:spcBef>
              <a:spcAft>
                <a:spcPts val="0"/>
              </a:spcAft>
              <a:buNone/>
            </a:pPr>
            <a:r>
              <a:rPr lang="iw"/>
              <a:t>In Node.js, what is a module?</a:t>
            </a:r>
            <a:endParaRPr/>
          </a:p>
          <a:p>
            <a:pPr indent="0" lvl="0" marL="0" rtl="1" algn="r">
              <a:spcBef>
                <a:spcPts val="400"/>
              </a:spcBef>
              <a:spcAft>
                <a:spcPts val="0"/>
              </a:spcAft>
              <a:buNone/>
            </a:pPr>
            <a:r>
              <a:rPr lang="iw"/>
              <a:t>Explain how one JavaScript file can use code from another JavaScript file.</a:t>
            </a:r>
            <a:endParaRPr/>
          </a:p>
          <a:p>
            <a:pPr indent="0" lvl="0" marL="0" rtl="1" algn="r">
              <a:spcBef>
                <a:spcPts val="400"/>
              </a:spcBef>
              <a:spcAft>
                <a:spcPts val="400"/>
              </a:spcAft>
              <a:buNone/>
            </a:pPr>
            <a:r>
              <a:rPr lang="iw"/>
              <a:t>Show a very small example using module.exports and require().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מבנה הפרויקט</a:t>
            </a:r>
            <a:endParaRPr>
              <a:latin typeface="Calibri"/>
              <a:ea typeface="Calibri"/>
              <a:cs typeface="Calibri"/>
              <a:sym typeface="Calibri"/>
            </a:endParaRPr>
          </a:p>
        </p:txBody>
      </p:sp>
      <p:sp>
        <p:nvSpPr>
          <p:cNvPr id="268" name="Google Shape;268;p36"/>
          <p:cNvSpPr txBox="1"/>
          <p:nvPr>
            <p:ph idx="1" type="body"/>
          </p:nvPr>
        </p:nvSpPr>
        <p:spPr>
          <a:xfrm>
            <a:off x="819150" y="1420825"/>
            <a:ext cx="7505700" cy="3364500"/>
          </a:xfrm>
          <a:prstGeom prst="rect">
            <a:avLst/>
          </a:prstGeom>
        </p:spPr>
        <p:txBody>
          <a:bodyPr anchorCtr="0" anchor="t" bIns="91425" lIns="91425" spcFirstLastPara="1" rIns="91425" wrap="square" tIns="91425">
            <a:normAutofit lnSpcReduction="20000"/>
          </a:bodyPr>
          <a:lstStyle/>
          <a:p>
            <a:pPr indent="0" lvl="0" marL="0" rtl="1" algn="r">
              <a:spcBef>
                <a:spcPts val="0"/>
              </a:spcBef>
              <a:spcAft>
                <a:spcPts val="0"/>
              </a:spcAft>
              <a:buNone/>
            </a:pPr>
            <a:r>
              <a:rPr lang="iw"/>
              <a:t>במהלך הקורס יש שיעורי בית בסיום כל שיעור. שיעורי הבית בנויים האחד על השני, ובסוף הקורס יש להגיש את הפרויקט הגמור. המטרה היא להגיע לפרויקט צד שרת עובד, שתומך במגוון סוגי קריאות, מאורגן נכון, וכולל ניהול שגיאות.</a:t>
            </a:r>
            <a:endParaRPr/>
          </a:p>
          <a:p>
            <a:pPr indent="0" lvl="0" marL="0" rtl="1" algn="r">
              <a:spcBef>
                <a:spcPts val="400"/>
              </a:spcBef>
              <a:spcAft>
                <a:spcPts val="0"/>
              </a:spcAft>
              <a:buNone/>
            </a:pPr>
            <a:r>
              <a:rPr lang="iw"/>
              <a:t>בשיעור הראשון היה את הבסיס לפרויקט, ובשיעור זה יש המשך, לעיתים קרובות, שיעורי הבית ידרשו מחיקה של קוד משיעור קודם בשביל לכתוב קוד נכון ומדויק יותר.</a:t>
            </a:r>
            <a:endParaRPr/>
          </a:p>
          <a:p>
            <a:pPr indent="0" lvl="0" marL="0" rtl="1" algn="r">
              <a:spcBef>
                <a:spcPts val="400"/>
              </a:spcBef>
              <a:spcAft>
                <a:spcPts val="0"/>
              </a:spcAft>
              <a:buNone/>
            </a:pPr>
            <a:r>
              <a:rPr lang="iw"/>
              <a:t>לכן חשוב ביותר, להעלות את שיעורי הבית בסוף כל שיעור לגיט בקומיט חדש, על מנת לאפשר מעקב מסודר אחרי ההסטוריה.</a:t>
            </a:r>
            <a:endParaRPr/>
          </a:p>
          <a:p>
            <a:pPr indent="0" lvl="0" marL="0" rtl="1" algn="r">
              <a:spcBef>
                <a:spcPts val="400"/>
              </a:spcBef>
              <a:spcAft>
                <a:spcPts val="0"/>
              </a:spcAft>
              <a:buNone/>
            </a:pPr>
            <a:r>
              <a:rPr lang="iw"/>
              <a:t>תוכן הפרויקט:</a:t>
            </a:r>
            <a:endParaRPr/>
          </a:p>
          <a:p>
            <a:pPr indent="0" lvl="0" marL="0" rtl="1" algn="r">
              <a:spcBef>
                <a:spcPts val="400"/>
              </a:spcBef>
              <a:spcAft>
                <a:spcPts val="0"/>
              </a:spcAft>
              <a:buNone/>
            </a:pPr>
            <a:r>
              <a:rPr lang="iw"/>
              <a:t>הפרויקט הוא אתר לניהול של קורסים.</a:t>
            </a:r>
            <a:endParaRPr/>
          </a:p>
          <a:p>
            <a:pPr indent="0" lvl="0" marL="0" rtl="1" algn="r">
              <a:spcBef>
                <a:spcPts val="400"/>
              </a:spcBef>
              <a:spcAft>
                <a:spcPts val="0"/>
              </a:spcAft>
              <a:buNone/>
            </a:pPr>
            <a:r>
              <a:rPr lang="iw"/>
              <a:t>הוא כולל ניהול של רשימת קורסים, רשימת תלמידים, ורישום של תלמידים לקורסים.</a:t>
            </a:r>
            <a:endParaRPr/>
          </a:p>
          <a:p>
            <a:pPr indent="0" lvl="0" marL="0" rtl="1" algn="r">
              <a:spcBef>
                <a:spcPts val="400"/>
              </a:spcBef>
              <a:spcAft>
                <a:spcPts val="0"/>
              </a:spcAft>
              <a:buNone/>
            </a:pPr>
            <a:r>
              <a:rPr lang="iw"/>
              <a:t>השרת יאפשר: לקבל את רשימת הקורסים, לערוך קורס, להוסיף קורס ולמחוק.</a:t>
            </a:r>
            <a:endParaRPr/>
          </a:p>
          <a:p>
            <a:pPr indent="0" lvl="0" marL="0" rtl="1" algn="r">
              <a:spcBef>
                <a:spcPts val="400"/>
              </a:spcBef>
              <a:spcAft>
                <a:spcPts val="0"/>
              </a:spcAft>
              <a:buNone/>
            </a:pPr>
            <a:r>
              <a:rPr lang="iw"/>
              <a:t>כנ"ל עבור התלמידים - לקבל רשימה, לקבל פרטים של תלמיד בודד, לערוך ולמחוק.</a:t>
            </a:r>
            <a:endParaRPr/>
          </a:p>
          <a:p>
            <a:pPr indent="0" lvl="0" marL="0" rtl="1" algn="r">
              <a:spcBef>
                <a:spcPts val="400"/>
              </a:spcBef>
              <a:spcAft>
                <a:spcPts val="0"/>
              </a:spcAft>
              <a:buNone/>
            </a:pPr>
            <a:r>
              <a:rPr lang="iw"/>
              <a:t>כמו כן יאפשר לקבל לכל קורס את התלמידים הרשומים אליו (ולכל תלמיד את רשימת הקורסים שהוא רשום אליהם) ומאפשר רישום לקורס ומחיקת רישום.</a:t>
            </a:r>
            <a:endParaRPr/>
          </a:p>
          <a:p>
            <a:pPr indent="0" lvl="0" marL="0" rtl="1" algn="r">
              <a:spcBef>
                <a:spcPts val="400"/>
              </a:spcBef>
              <a:spcAft>
                <a:spcPts val="0"/>
              </a:spcAft>
              <a:buNone/>
            </a:pPr>
            <a:r>
              <a:rPr lang="iw"/>
              <a:t>נלמד גם כיצד לבדוק שרת על ידי שימוש בתוכנת postman.</a:t>
            </a:r>
            <a:endParaRPr/>
          </a:p>
          <a:p>
            <a:pPr indent="0" lvl="0" marL="0" rtl="1" algn="r">
              <a:spcBef>
                <a:spcPts val="400"/>
              </a:spcBef>
              <a:spcAft>
                <a:spcPts val="0"/>
              </a:spcAft>
              <a:buNone/>
            </a:pPr>
            <a:r>
              <a:rPr lang="iw"/>
              <a:t>בשלב זה לא יהיה עדיין חיבור ל db, וכל הנתונים יוגדרו על ידי מערכים בקוד בלבד (או בקבצי data)</a:t>
            </a:r>
            <a:endParaRPr/>
          </a:p>
          <a:p>
            <a:pPr indent="0" lvl="0" marL="0" rtl="1" algn="r">
              <a:spcBef>
                <a:spcPts val="400"/>
              </a:spcBef>
              <a:spcAft>
                <a:spcPts val="400"/>
              </a:spcAft>
              <a:buNone/>
            </a:pPr>
            <a:r>
              <a:rPr lang="iw"/>
              <a:t>(זוהי המטרה הסופית של הפרויקט, לא שיעורי הבית של השיעור הנוכחי)</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7"/>
          <p:cNvSpPr txBox="1"/>
          <p:nvPr>
            <p:ph type="title"/>
          </p:nvPr>
        </p:nvSpPr>
        <p:spPr>
          <a:xfrm>
            <a:off x="819150" y="23665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משימה 🔨</a:t>
            </a:r>
            <a:endParaRPr>
              <a:latin typeface="Calibri"/>
              <a:ea typeface="Calibri"/>
              <a:cs typeface="Calibri"/>
              <a:sym typeface="Calibri"/>
            </a:endParaRPr>
          </a:p>
        </p:txBody>
      </p:sp>
      <p:sp>
        <p:nvSpPr>
          <p:cNvPr id="274" name="Google Shape;274;p37"/>
          <p:cNvSpPr txBox="1"/>
          <p:nvPr>
            <p:ph idx="1" type="body"/>
          </p:nvPr>
        </p:nvSpPr>
        <p:spPr>
          <a:xfrm>
            <a:off x="819150" y="765550"/>
            <a:ext cx="7505700" cy="4110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בשיעור זה יש לשנות את השרת שנוצר בשיעור קודם לפי ההנחיות הבאות:</a:t>
            </a:r>
            <a:endParaRPr/>
          </a:p>
          <a:p>
            <a:pPr indent="0" lvl="0" marL="0" rtl="1" algn="r">
              <a:spcBef>
                <a:spcPts val="400"/>
              </a:spcBef>
              <a:spcAft>
                <a:spcPts val="0"/>
              </a:spcAft>
              <a:buNone/>
            </a:pPr>
            <a:r>
              <a:rPr lang="iw"/>
              <a:t>השרת אמור להיות מוגדר על ידי ספריית express.</a:t>
            </a:r>
            <a:endParaRPr/>
          </a:p>
          <a:p>
            <a:pPr indent="0" lvl="0" marL="0" rtl="1" algn="r">
              <a:spcBef>
                <a:spcPts val="400"/>
              </a:spcBef>
              <a:spcAft>
                <a:spcPts val="0"/>
              </a:spcAft>
              <a:buNone/>
            </a:pPr>
            <a:r>
              <a:rPr lang="iw"/>
              <a:t>יש להגדיר בשרת מערכים של רשימת קורסים (הוגדר כבר בשיעור קודם), ומערך של רשימת תלמידים.</a:t>
            </a:r>
            <a:endParaRPr/>
          </a:p>
          <a:p>
            <a:pPr indent="0" lvl="0" marL="0" rtl="1" algn="r">
              <a:spcBef>
                <a:spcPts val="400"/>
              </a:spcBef>
              <a:spcAft>
                <a:spcPts val="0"/>
              </a:spcAft>
              <a:buNone/>
            </a:pPr>
            <a:r>
              <a:rPr lang="iw"/>
              <a:t>על השרת להיות מחולק למספר קבצים:</a:t>
            </a:r>
            <a:endParaRPr/>
          </a:p>
          <a:p>
            <a:pPr indent="0" lvl="0" marL="0" rtl="1" algn="r">
              <a:spcBef>
                <a:spcPts val="400"/>
              </a:spcBef>
              <a:spcAft>
                <a:spcPts val="0"/>
              </a:spcAft>
              <a:buNone/>
            </a:pPr>
            <a:r>
              <a:rPr lang="iw"/>
              <a:t>יש את הקובץ הראשי, קובץ עבור ניהול של הקורסים וקובץ עבור התלמידים.</a:t>
            </a:r>
            <a:endParaRPr/>
          </a:p>
          <a:p>
            <a:pPr indent="0" lvl="0" marL="0" rtl="1" algn="r">
              <a:spcBef>
                <a:spcPts val="400"/>
              </a:spcBef>
              <a:spcAft>
                <a:spcPts val="0"/>
              </a:spcAft>
              <a:buNone/>
            </a:pPr>
            <a:r>
              <a:rPr lang="iw"/>
              <a:t>על השרת לתמוך במספר routes שונים:</a:t>
            </a:r>
            <a:endParaRPr/>
          </a:p>
          <a:p>
            <a:pPr indent="-311150" lvl="0" marL="457200" rtl="0" algn="l">
              <a:spcBef>
                <a:spcPts val="400"/>
              </a:spcBef>
              <a:spcAft>
                <a:spcPts val="0"/>
              </a:spcAft>
              <a:buSzPts val="1300"/>
              <a:buChar char="-"/>
            </a:pPr>
            <a:r>
              <a:rPr lang="iw" u="sng">
                <a:solidFill>
                  <a:schemeClr val="hlink"/>
                </a:solidFill>
                <a:hlinkClick r:id="rId3"/>
              </a:rPr>
              <a:t>http://localhost:3000</a:t>
            </a:r>
            <a:r>
              <a:rPr lang="iw"/>
              <a:t> - קריאה לכתובת השרת בלי ניווט, אמורה להחזיר אוביקט פשוט שמכיל מידע שהשרת עובד ותאור קצר על השרת</a:t>
            </a:r>
            <a:endParaRPr/>
          </a:p>
          <a:p>
            <a:pPr indent="-311150" lvl="0" marL="457200" rtl="0" algn="l">
              <a:spcBef>
                <a:spcPts val="0"/>
              </a:spcBef>
              <a:spcAft>
                <a:spcPts val="0"/>
              </a:spcAft>
              <a:buSzPts val="1300"/>
              <a:buChar char="-"/>
            </a:pPr>
            <a:r>
              <a:rPr lang="iw" u="sng">
                <a:solidFill>
                  <a:schemeClr val="hlink"/>
                </a:solidFill>
                <a:hlinkClick r:id="rId4"/>
              </a:rPr>
              <a:t>http://localhost:3000/courses</a:t>
            </a:r>
            <a:r>
              <a:rPr lang="iw"/>
              <a:t> - קריאה זו כוללת ניווט פנימי, ואמורה להחזיר את רשימת הקורסים</a:t>
            </a:r>
            <a:endParaRPr/>
          </a:p>
          <a:p>
            <a:pPr indent="-311150" lvl="0" marL="457200" rtl="0" algn="l">
              <a:spcBef>
                <a:spcPts val="0"/>
              </a:spcBef>
              <a:spcAft>
                <a:spcPts val="0"/>
              </a:spcAft>
              <a:buSzPts val="1300"/>
              <a:buChar char="-"/>
            </a:pPr>
            <a:r>
              <a:rPr lang="iw" u="sng">
                <a:solidFill>
                  <a:schemeClr val="hlink"/>
                </a:solidFill>
                <a:hlinkClick r:id="rId5"/>
              </a:rPr>
              <a:t>http://localhost:3000/students</a:t>
            </a:r>
            <a:r>
              <a:rPr lang="iw"/>
              <a:t> - קריאה עם ניווט פנימי, אמורה להחזיר את רשימת התלמידים</a:t>
            </a:r>
            <a:endParaRPr/>
          </a:p>
          <a:p>
            <a:pPr indent="0" lvl="0" marL="0" rtl="1" algn="r">
              <a:spcBef>
                <a:spcPts val="400"/>
              </a:spcBef>
              <a:spcAft>
                <a:spcPts val="0"/>
              </a:spcAft>
              <a:buNone/>
            </a:pPr>
            <a:r>
              <a:rPr lang="iw"/>
              <a:t>כל המידע שחוזר מהשרת חייב להיות בפורמט json בלבד!!</a:t>
            </a:r>
            <a:endParaRPr/>
          </a:p>
          <a:p>
            <a:pPr indent="0" lvl="0" marL="0" rtl="1" algn="r">
              <a:spcBef>
                <a:spcPts val="400"/>
              </a:spcBef>
              <a:spcAft>
                <a:spcPts val="400"/>
              </a:spcAft>
              <a:buNone/>
            </a:pPr>
            <a:r>
              <a:rPr lang="iw"/>
              <a:t>בשלב מתקדם יותר ילמד כיצד לבדוק את השרת (תוכנת Postman) בשלב זה, כדי לבדוק את הקריאות, יש לכתוב את הכתובת בשורת הכתובת של הדפדפן, ולראות שמוצג בדפדפן את התשובה המתבקשת, כאוביקט json.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8"/>
          <p:cNvSpPr txBox="1"/>
          <p:nvPr>
            <p:ph type="title"/>
          </p:nvPr>
        </p:nvSpPr>
        <p:spPr>
          <a:xfrm>
            <a:off x="819150" y="845600"/>
            <a:ext cx="7505700" cy="626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latin typeface="Calibri"/>
                <a:ea typeface="Calibri"/>
                <a:cs typeface="Calibri"/>
                <a:sym typeface="Calibri"/>
              </a:rPr>
              <a:t>משימה - ביצוע 📐</a:t>
            </a:r>
            <a:endParaRPr>
              <a:latin typeface="Calibri"/>
              <a:ea typeface="Calibri"/>
              <a:cs typeface="Calibri"/>
              <a:sym typeface="Calibri"/>
            </a:endParaRPr>
          </a:p>
        </p:txBody>
      </p:sp>
      <p:sp>
        <p:nvSpPr>
          <p:cNvPr id="280" name="Google Shape;280;p38"/>
          <p:cNvSpPr txBox="1"/>
          <p:nvPr>
            <p:ph idx="1" type="body"/>
          </p:nvPr>
        </p:nvSpPr>
        <p:spPr>
          <a:xfrm>
            <a:off x="819150" y="1515875"/>
            <a:ext cx="7505700" cy="33819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יש להשתמש ב ai על מנת ללמוד, להבין וגם לבצע.</a:t>
            </a:r>
            <a:endParaRPr/>
          </a:p>
          <a:p>
            <a:pPr indent="-311150" lvl="0" marL="457200" rtl="1" algn="r">
              <a:spcBef>
                <a:spcPts val="0"/>
              </a:spcBef>
              <a:spcAft>
                <a:spcPts val="0"/>
              </a:spcAft>
              <a:buSzPts val="1300"/>
              <a:buChar char="-"/>
            </a:pPr>
            <a:r>
              <a:rPr lang="iw"/>
              <a:t>כל שורת קוד שנכתבה על ידי ה ai, חובה להבין היטב!</a:t>
            </a:r>
            <a:endParaRPr/>
          </a:p>
          <a:p>
            <a:pPr indent="-311150" lvl="0" marL="457200" rtl="1" algn="r">
              <a:spcBef>
                <a:spcPts val="0"/>
              </a:spcBef>
              <a:spcAft>
                <a:spcPts val="0"/>
              </a:spcAft>
              <a:buSzPts val="1300"/>
              <a:buChar char="-"/>
            </a:pPr>
            <a:r>
              <a:rPr lang="iw"/>
              <a:t>אחרי יצירת הפרויקט הבסיסי, יש להשתמש ב ai כדי לשפר את הקוד, על ידי שאלות בסגנון:</a:t>
            </a:r>
            <a:endParaRPr/>
          </a:p>
          <a:p>
            <a:pPr indent="-298450" lvl="1" marL="914400" rtl="1" algn="r">
              <a:spcBef>
                <a:spcPts val="0"/>
              </a:spcBef>
              <a:spcAft>
                <a:spcPts val="0"/>
              </a:spcAft>
              <a:buSzPts val="1100"/>
              <a:buChar char="-"/>
            </a:pPr>
            <a:r>
              <a:rPr lang="iw"/>
              <a:t>איזה שגיאות עשויות להיות בקוד?</a:t>
            </a:r>
            <a:endParaRPr/>
          </a:p>
          <a:p>
            <a:pPr indent="-298450" lvl="1" marL="914400" rtl="1" algn="r">
              <a:spcBef>
                <a:spcPts val="0"/>
              </a:spcBef>
              <a:spcAft>
                <a:spcPts val="0"/>
              </a:spcAft>
              <a:buSzPts val="1100"/>
              <a:buChar char="-"/>
            </a:pPr>
            <a:r>
              <a:rPr lang="iw"/>
              <a:t>איך אפשר לשפר?</a:t>
            </a:r>
            <a:endParaRPr/>
          </a:p>
          <a:p>
            <a:pPr indent="-298450" lvl="1" marL="914400" rtl="1" algn="r">
              <a:spcBef>
                <a:spcPts val="0"/>
              </a:spcBef>
              <a:spcAft>
                <a:spcPts val="0"/>
              </a:spcAft>
              <a:buSzPts val="1100"/>
              <a:buChar char="-"/>
            </a:pPr>
            <a:r>
              <a:rPr lang="iw"/>
              <a:t>הער לי הערות על מבנה הקוד?</a:t>
            </a:r>
            <a:endParaRPr/>
          </a:p>
          <a:p>
            <a:pPr indent="-311150" lvl="0" marL="457200" rtl="1" algn="r">
              <a:spcBef>
                <a:spcPts val="0"/>
              </a:spcBef>
              <a:spcAft>
                <a:spcPts val="0"/>
              </a:spcAft>
              <a:buSzPts val="1300"/>
              <a:buChar char="-"/>
            </a:pPr>
            <a:r>
              <a:rPr lang="iw"/>
              <a:t>הפרויקט צריך לכלול גם קובץ txt עם פרוט של פרומפטים שונים שנשלחו ל ai ודוגמאות לתשובות.</a:t>
            </a:r>
            <a:endParaRPr/>
          </a:p>
          <a:p>
            <a:pPr indent="-311150" lvl="0" marL="457200" rtl="1" algn="r">
              <a:spcBef>
                <a:spcPts val="0"/>
              </a:spcBef>
              <a:spcAft>
                <a:spcPts val="0"/>
              </a:spcAft>
              <a:buSzPts val="1300"/>
              <a:buChar char="-"/>
            </a:pPr>
            <a:r>
              <a:rPr lang="iw"/>
              <a:t>על כל הקוד להיכתב על ידי ai.</a:t>
            </a:r>
            <a:endParaRPr/>
          </a:p>
          <a:p>
            <a:pPr indent="-311150" lvl="0" marL="457200" rtl="1" algn="r">
              <a:spcBef>
                <a:spcPts val="0"/>
              </a:spcBef>
              <a:spcAft>
                <a:spcPts val="0"/>
              </a:spcAft>
              <a:buSzPts val="1300"/>
              <a:buChar char="-"/>
            </a:pPr>
            <a:r>
              <a:rPr lang="iw"/>
              <a:t>אין לכתוב את כל הקוד בפקודה אחת, תהליך הכתיבה על ידי ai חייב להיות מחולק ל6 שלבים לפחות! (לדוגמא: התקנת ספרית express, יצירת שרת בסיסי ב express, חלוקה לקבצים, תמיכה ב routes השונים, בדיקה שהמידע חוזר בדיוק איך שהוא צריך לחזור, בקשה לתיקון ושינוי של שורות קוד מסוימות.</a:t>
            </a:r>
            <a:endParaRPr/>
          </a:p>
          <a:p>
            <a:pPr indent="-311150" lvl="0" marL="457200" rtl="1" algn="r">
              <a:spcBef>
                <a:spcPts val="0"/>
              </a:spcBef>
              <a:spcAft>
                <a:spcPts val="0"/>
              </a:spcAft>
              <a:buSzPts val="1300"/>
              <a:buChar char="-"/>
            </a:pPr>
            <a:r>
              <a:rPr lang="iw"/>
              <a:t>חובה לראות בפרויקט שספרית express מותקנת.</a:t>
            </a:r>
            <a:endParaRPr/>
          </a:p>
          <a:p>
            <a:pPr indent="-311150" lvl="0" marL="457200" rtl="1" algn="r">
              <a:spcBef>
                <a:spcPts val="0"/>
              </a:spcBef>
              <a:spcAft>
                <a:spcPts val="0"/>
              </a:spcAft>
              <a:buSzPts val="1300"/>
              <a:buChar char="-"/>
            </a:pPr>
            <a:r>
              <a:rPr lang="iw"/>
              <a:t>יש להעלות את הקוד בקומיט נוסף בגיט על הפרויט משיעור קודם.</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9"/>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1" algn="ctr">
              <a:spcBef>
                <a:spcPts val="0"/>
              </a:spcBef>
              <a:spcAft>
                <a:spcPts val="0"/>
              </a:spcAft>
              <a:buNone/>
            </a:pPr>
            <a:r>
              <a:rPr lang="iw"/>
              <a:t>שיעור 3</a:t>
            </a:r>
            <a:endParaRPr/>
          </a:p>
        </p:txBody>
      </p:sp>
      <p:sp>
        <p:nvSpPr>
          <p:cNvPr id="286" name="Google Shape;286;p39"/>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iw"/>
              <a:t>rest api &amp; crud</a:t>
            </a:r>
            <a:endParaRPr/>
          </a:p>
          <a:p>
            <a:pPr indent="0" lvl="0" marL="0" rtl="1" algn="ct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נושאי השיעור</a:t>
            </a:r>
            <a:endParaRPr/>
          </a:p>
        </p:txBody>
      </p:sp>
      <p:sp>
        <p:nvSpPr>
          <p:cNvPr id="292" name="Google Shape;292;p4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מה זה crud</a:t>
            </a:r>
            <a:endParaRPr/>
          </a:p>
          <a:p>
            <a:pPr indent="-311150" lvl="0" marL="457200" rtl="1" algn="r">
              <a:spcBef>
                <a:spcPts val="0"/>
              </a:spcBef>
              <a:spcAft>
                <a:spcPts val="0"/>
              </a:spcAft>
              <a:buSzPts val="1300"/>
              <a:buChar char="-"/>
            </a:pPr>
            <a:r>
              <a:rPr lang="iw"/>
              <a:t>מה זה rest</a:t>
            </a:r>
            <a:endParaRPr/>
          </a:p>
          <a:p>
            <a:pPr indent="-311150" lvl="0" marL="457200" rtl="1" algn="r">
              <a:spcBef>
                <a:spcPts val="0"/>
              </a:spcBef>
              <a:spcAft>
                <a:spcPts val="0"/>
              </a:spcAft>
              <a:buSzPts val="1300"/>
              <a:buChar char="-"/>
            </a:pPr>
            <a:r>
              <a:rPr lang="iw"/>
              <a:t>הכרות עם מתודות http השונות</a:t>
            </a:r>
            <a:endParaRPr/>
          </a:p>
          <a:p>
            <a:pPr indent="-311150" lvl="0" marL="457200" rtl="1" algn="r">
              <a:spcBef>
                <a:spcPts val="0"/>
              </a:spcBef>
              <a:spcAft>
                <a:spcPts val="0"/>
              </a:spcAft>
              <a:buSzPts val="1300"/>
              <a:buChar char="-"/>
            </a:pPr>
            <a:r>
              <a:rPr lang="iw"/>
              <a:t>העברת פרמטרים ב url של הקריאה</a:t>
            </a:r>
            <a:endParaRPr/>
          </a:p>
          <a:p>
            <a:pPr indent="-311150" lvl="0" marL="457200" rtl="1" algn="r">
              <a:spcBef>
                <a:spcPts val="0"/>
              </a:spcBef>
              <a:spcAft>
                <a:spcPts val="0"/>
              </a:spcAft>
              <a:buSzPts val="1300"/>
              <a:buChar char="-"/>
            </a:pPr>
            <a:r>
              <a:rPr lang="iw"/>
              <a:t>בניית rest full api ב express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crud?</a:t>
            </a:r>
            <a:endParaRPr>
              <a:latin typeface="Calibri"/>
              <a:ea typeface="Calibri"/>
              <a:cs typeface="Calibri"/>
              <a:sym typeface="Calibri"/>
            </a:endParaRPr>
          </a:p>
        </p:txBody>
      </p:sp>
      <p:sp>
        <p:nvSpPr>
          <p:cNvPr id="298" name="Google Shape;298;p41"/>
          <p:cNvSpPr txBox="1"/>
          <p:nvPr>
            <p:ph idx="1" type="body"/>
          </p:nvPr>
        </p:nvSpPr>
        <p:spPr>
          <a:xfrm>
            <a:off x="819150" y="1420825"/>
            <a:ext cx="7505700" cy="3364500"/>
          </a:xfrm>
          <a:prstGeom prst="rect">
            <a:avLst/>
          </a:prstGeom>
        </p:spPr>
        <p:txBody>
          <a:bodyPr anchorCtr="0" anchor="t" bIns="91425" lIns="91425" spcFirstLastPara="1" rIns="91425" wrap="square" tIns="91425">
            <a:normAutofit lnSpcReduction="10000"/>
          </a:bodyPr>
          <a:lstStyle/>
          <a:p>
            <a:pPr indent="0" lvl="0" marL="0" rtl="1" algn="r">
              <a:spcBef>
                <a:spcPts val="0"/>
              </a:spcBef>
              <a:spcAft>
                <a:spcPts val="0"/>
              </a:spcAft>
              <a:buNone/>
            </a:pPr>
            <a:r>
              <a:rPr lang="iw"/>
              <a:t>בשיעורים קודמים נלמד בסיס של קריאות שרת.</a:t>
            </a:r>
            <a:endParaRPr/>
          </a:p>
          <a:p>
            <a:pPr indent="0" lvl="0" marL="0" rtl="1" algn="r">
              <a:spcBef>
                <a:spcPts val="400"/>
              </a:spcBef>
              <a:spcAft>
                <a:spcPts val="0"/>
              </a:spcAft>
              <a:buNone/>
            </a:pPr>
            <a:r>
              <a:rPr lang="iw"/>
              <a:t>עד כה, כל הקריאות היו מסוג get: כלומר קריאות להחזיר נתונים מהשרת.</a:t>
            </a:r>
            <a:endParaRPr/>
          </a:p>
          <a:p>
            <a:pPr indent="0" lvl="0" marL="0" rtl="1" algn="r">
              <a:spcBef>
                <a:spcPts val="400"/>
              </a:spcBef>
              <a:spcAft>
                <a:spcPts val="0"/>
              </a:spcAft>
              <a:buNone/>
            </a:pPr>
            <a:r>
              <a:rPr lang="iw"/>
              <a:t>בצד שרת אמיתי, יש קריאות מסוגים שונים שמתארים פעולות שונות בשרת.</a:t>
            </a:r>
            <a:endParaRPr/>
          </a:p>
          <a:p>
            <a:pPr indent="0" lvl="0" marL="0" rtl="1" algn="r">
              <a:spcBef>
                <a:spcPts val="400"/>
              </a:spcBef>
              <a:spcAft>
                <a:spcPts val="0"/>
              </a:spcAft>
              <a:buNone/>
            </a:pPr>
            <a:r>
              <a:rPr lang="iw"/>
              <a:t>המונח crud מתאר את הפעולות הבסיסיות שמתבצעות על נתונים בשרת:</a:t>
            </a:r>
            <a:endParaRPr/>
          </a:p>
          <a:p>
            <a:pPr indent="0" lvl="0" marL="0" rtl="0" algn="l">
              <a:spcBef>
                <a:spcPts val="400"/>
              </a:spcBef>
              <a:spcAft>
                <a:spcPts val="0"/>
              </a:spcAft>
              <a:buNone/>
            </a:pPr>
            <a:r>
              <a:rPr lang="iw"/>
              <a:t>Create - יצירה של נתונים (לדוגמא - הוספת קורס</a:t>
            </a:r>
            <a:endParaRPr/>
          </a:p>
          <a:p>
            <a:pPr indent="0" lvl="0" marL="0" rtl="0" algn="l">
              <a:spcBef>
                <a:spcPts val="400"/>
              </a:spcBef>
              <a:spcAft>
                <a:spcPts val="0"/>
              </a:spcAft>
              <a:buNone/>
            </a:pPr>
            <a:r>
              <a:rPr lang="iw"/>
              <a:t>Read - קריאה של נתונים - לדוגמא: לקבל את רשימת הקורסים, או לקבל קורס בודד</a:t>
            </a:r>
            <a:endParaRPr/>
          </a:p>
          <a:p>
            <a:pPr indent="0" lvl="0" marL="0" rtl="0" algn="l">
              <a:spcBef>
                <a:spcPts val="400"/>
              </a:spcBef>
              <a:spcAft>
                <a:spcPts val="0"/>
              </a:spcAft>
              <a:buNone/>
            </a:pPr>
            <a:r>
              <a:rPr lang="iw"/>
              <a:t>Update</a:t>
            </a:r>
            <a:r>
              <a:rPr lang="iw"/>
              <a:t> - עדכון נתון, לדוגמא עדכון שם הקורס</a:t>
            </a:r>
            <a:endParaRPr/>
          </a:p>
          <a:p>
            <a:pPr indent="0" lvl="0" marL="0" rtl="0" algn="l">
              <a:spcBef>
                <a:spcPts val="400"/>
              </a:spcBef>
              <a:spcAft>
                <a:spcPts val="0"/>
              </a:spcAft>
              <a:buNone/>
            </a:pPr>
            <a:r>
              <a:rPr lang="iw"/>
              <a:t>Delete - מחיקת נתון, לדוגמא מחיקת קורס</a:t>
            </a:r>
            <a:endParaRPr/>
          </a:p>
          <a:p>
            <a:pPr indent="0" lvl="0" marL="0" rtl="1" algn="r">
              <a:spcBef>
                <a:spcPts val="400"/>
              </a:spcBef>
              <a:spcAft>
                <a:spcPts val="0"/>
              </a:spcAft>
              <a:buNone/>
            </a:pPr>
            <a:r>
              <a:rPr lang="iw"/>
              <a:t>בדרך כלל, צד שרת יאפשר את כל הפעולות הנל על מגוון של ישויות שונות בשרת.</a:t>
            </a:r>
            <a:endParaRPr/>
          </a:p>
          <a:p>
            <a:pPr indent="0" lvl="0" marL="0" rtl="1" algn="r">
              <a:spcBef>
                <a:spcPts val="400"/>
              </a:spcBef>
              <a:spcAft>
                <a:spcPts val="0"/>
              </a:spcAft>
              <a:buNone/>
            </a:pPr>
            <a:r>
              <a:rPr lang="iw"/>
              <a:t>בקשי מה ai שיסביר לך עוד על crud</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Explain what CRUD means in backend development.</a:t>
            </a:r>
            <a:endParaRPr/>
          </a:p>
          <a:p>
            <a:pPr indent="0" lvl="0" marL="0" rtl="0" algn="l">
              <a:spcBef>
                <a:spcPts val="400"/>
              </a:spcBef>
              <a:spcAft>
                <a:spcPts val="0"/>
              </a:spcAft>
              <a:buNone/>
            </a:pPr>
            <a:r>
              <a:rPr lang="iw"/>
              <a:t>Explain why almost every backend application needs CRUD operations.</a:t>
            </a:r>
            <a:endParaRPr/>
          </a:p>
          <a:p>
            <a:pPr indent="0" lvl="0" marL="0" rtl="0" algn="l">
              <a:spcBef>
                <a:spcPts val="400"/>
              </a:spcBef>
              <a:spcAft>
                <a:spcPts val="400"/>
              </a:spcAft>
              <a:buNone/>
            </a:pPr>
            <a:r>
              <a:rPr lang="iw"/>
              <a:t>Explain CRUD using a course management system. do not write code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w">
                <a:latin typeface="Calibri"/>
                <a:ea typeface="Calibri"/>
                <a:cs typeface="Calibri"/>
                <a:sym typeface="Calibri"/>
              </a:rPr>
              <a:t>Http Methods</a:t>
            </a:r>
            <a:endParaRPr>
              <a:latin typeface="Calibri"/>
              <a:ea typeface="Calibri"/>
              <a:cs typeface="Calibri"/>
              <a:sym typeface="Calibri"/>
            </a:endParaRPr>
          </a:p>
        </p:txBody>
      </p:sp>
      <p:sp>
        <p:nvSpPr>
          <p:cNvPr id="304" name="Google Shape;304;p42"/>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85000" lnSpcReduction="20000"/>
          </a:bodyPr>
          <a:lstStyle/>
          <a:p>
            <a:pPr indent="0" lvl="0" marL="0" rtl="1" algn="r">
              <a:spcBef>
                <a:spcPts val="0"/>
              </a:spcBef>
              <a:spcAft>
                <a:spcPts val="0"/>
              </a:spcAft>
              <a:buNone/>
            </a:pPr>
            <a:r>
              <a:rPr lang="iw"/>
              <a:t>כאשר מפנים קריאה לשרת,</a:t>
            </a:r>
            <a:endParaRPr/>
          </a:p>
          <a:p>
            <a:pPr indent="0" lvl="0" marL="0" rtl="1" algn="r">
              <a:spcBef>
                <a:spcPts val="400"/>
              </a:spcBef>
              <a:spcAft>
                <a:spcPts val="0"/>
              </a:spcAft>
              <a:buNone/>
            </a:pPr>
            <a:r>
              <a:rPr lang="iw"/>
              <a:t>כל קריאה מורכבת משני חלקים עיקריים:</a:t>
            </a:r>
            <a:endParaRPr/>
          </a:p>
          <a:p>
            <a:pPr indent="0" lvl="0" marL="0" rtl="1" algn="r">
              <a:spcBef>
                <a:spcPts val="400"/>
              </a:spcBef>
              <a:spcAft>
                <a:spcPts val="0"/>
              </a:spcAft>
              <a:buNone/>
            </a:pPr>
            <a:r>
              <a:rPr lang="iw"/>
              <a:t>הכתובת של הקריאה, לדוגמא: </a:t>
            </a:r>
            <a:r>
              <a:rPr lang="iw" u="sng">
                <a:solidFill>
                  <a:schemeClr val="hlink"/>
                </a:solidFill>
                <a:hlinkClick r:id="rId3"/>
              </a:rPr>
              <a:t>http://localhost:3000/courses</a:t>
            </a:r>
            <a:r>
              <a:rPr lang="iw"/>
              <a:t>, והמתודה של הקריאה.</a:t>
            </a:r>
            <a:endParaRPr/>
          </a:p>
          <a:p>
            <a:pPr indent="0" lvl="0" marL="0" rtl="1" algn="r">
              <a:spcBef>
                <a:spcPts val="400"/>
              </a:spcBef>
              <a:spcAft>
                <a:spcPts val="0"/>
              </a:spcAft>
              <a:buNone/>
            </a:pPr>
            <a:r>
              <a:rPr lang="iw"/>
              <a:t>שרת יכול לתמוך במספר קריאות שונות עם ניווט זהה, אבל מתודה שונה.</a:t>
            </a:r>
            <a:endParaRPr/>
          </a:p>
          <a:p>
            <a:pPr indent="0" lvl="0" marL="0" rtl="1" algn="r">
              <a:spcBef>
                <a:spcPts val="400"/>
              </a:spcBef>
              <a:spcAft>
                <a:spcPts val="0"/>
              </a:spcAft>
              <a:buNone/>
            </a:pPr>
            <a:r>
              <a:rPr lang="iw"/>
              <a:t>המתודה מגדירה את סוג הקריאה ואת הפעולה המרכזית שתתבצע בה, חשוב מאוד להשתמש תמיד במתודה המתאימה.</a:t>
            </a:r>
            <a:endParaRPr/>
          </a:p>
          <a:p>
            <a:pPr indent="0" lvl="0" marL="0" rtl="1" algn="r">
              <a:spcBef>
                <a:spcPts val="400"/>
              </a:spcBef>
              <a:spcAft>
                <a:spcPts val="0"/>
              </a:spcAft>
              <a:buNone/>
            </a:pPr>
            <a:r>
              <a:rPr lang="iw"/>
              <a:t>המתודות השימושיות הן:</a:t>
            </a:r>
            <a:endParaRPr/>
          </a:p>
          <a:p>
            <a:pPr indent="0" lvl="0" marL="0" rtl="0" algn="l">
              <a:spcBef>
                <a:spcPts val="400"/>
              </a:spcBef>
              <a:spcAft>
                <a:spcPts val="0"/>
              </a:spcAft>
              <a:buNone/>
            </a:pPr>
            <a:r>
              <a:rPr lang="iw"/>
              <a:t>GET - בשביל לקבל נתונים</a:t>
            </a:r>
            <a:endParaRPr/>
          </a:p>
          <a:p>
            <a:pPr indent="0" lvl="0" marL="0" rtl="0" algn="l">
              <a:spcBef>
                <a:spcPts val="400"/>
              </a:spcBef>
              <a:spcAft>
                <a:spcPts val="0"/>
              </a:spcAft>
              <a:buNone/>
            </a:pPr>
            <a:r>
              <a:rPr lang="iw"/>
              <a:t>POST - בשביל יצירת נתונים </a:t>
            </a:r>
            <a:endParaRPr/>
          </a:p>
          <a:p>
            <a:pPr indent="0" lvl="0" marL="0" rtl="0" algn="l">
              <a:spcBef>
                <a:spcPts val="400"/>
              </a:spcBef>
              <a:spcAft>
                <a:spcPts val="0"/>
              </a:spcAft>
              <a:buNone/>
            </a:pPr>
            <a:r>
              <a:rPr lang="iw"/>
              <a:t>PUT - בשביל עדכון</a:t>
            </a:r>
            <a:endParaRPr/>
          </a:p>
          <a:p>
            <a:pPr indent="0" lvl="0" marL="0" rtl="0" algn="l">
              <a:spcBef>
                <a:spcPts val="400"/>
              </a:spcBef>
              <a:spcAft>
                <a:spcPts val="0"/>
              </a:spcAft>
              <a:buNone/>
            </a:pPr>
            <a:r>
              <a:rPr lang="iw"/>
              <a:t>DELETE - מתודה עבור מחיקה</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http request</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Explain GET, POST, PUT and DELETE.</a:t>
            </a:r>
            <a:endParaRPr/>
          </a:p>
          <a:p>
            <a:pPr indent="0" lvl="0" marL="0" rtl="0" algn="l">
              <a:spcBef>
                <a:spcPts val="400"/>
              </a:spcBef>
              <a:spcAft>
                <a:spcPts val="0"/>
              </a:spcAft>
              <a:buNone/>
            </a:pPr>
            <a:r>
              <a:rPr lang="iw"/>
              <a:t>Give one practical example for each method.</a:t>
            </a:r>
            <a:endParaRPr/>
          </a:p>
          <a:p>
            <a:pPr indent="0" lvl="0" marL="0" rtl="0" algn="l">
              <a:spcBef>
                <a:spcPts val="400"/>
              </a:spcBef>
              <a:spcAft>
                <a:spcPts val="400"/>
              </a:spcAft>
              <a:buNone/>
            </a:pPr>
            <a:r>
              <a:rPr lang="iw"/>
              <a:t>Do not use Express code.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Rest Api?</a:t>
            </a:r>
            <a:endParaRPr>
              <a:latin typeface="Calibri"/>
              <a:ea typeface="Calibri"/>
              <a:cs typeface="Calibri"/>
              <a:sym typeface="Calibri"/>
            </a:endParaRPr>
          </a:p>
        </p:txBody>
      </p:sp>
      <p:sp>
        <p:nvSpPr>
          <p:cNvPr id="310" name="Google Shape;310;p43"/>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92500" lnSpcReduction="20000"/>
          </a:bodyPr>
          <a:lstStyle/>
          <a:p>
            <a:pPr indent="0" lvl="0" marL="0" rtl="1" algn="r">
              <a:spcBef>
                <a:spcPts val="0"/>
              </a:spcBef>
              <a:spcAft>
                <a:spcPts val="0"/>
              </a:spcAft>
              <a:buNone/>
            </a:pPr>
            <a:r>
              <a:rPr lang="iw"/>
              <a:t>בפיתוח צד שרת, יש לתכנן מראש את כל הקריאות api שהשרת תומך בהן.</a:t>
            </a:r>
            <a:endParaRPr/>
          </a:p>
          <a:p>
            <a:pPr indent="0" lvl="0" marL="0" rtl="1" algn="r">
              <a:spcBef>
                <a:spcPts val="400"/>
              </a:spcBef>
              <a:spcAft>
                <a:spcPts val="0"/>
              </a:spcAft>
              <a:buNone/>
            </a:pPr>
            <a:r>
              <a:rPr lang="iw"/>
              <a:t>בדרך כלל צד שרת יאפשר פעולות שונות על משאבים שונים.</a:t>
            </a:r>
            <a:endParaRPr/>
          </a:p>
          <a:p>
            <a:pPr indent="0" lvl="0" marL="0" rtl="1" algn="r">
              <a:spcBef>
                <a:spcPts val="400"/>
              </a:spcBef>
              <a:spcAft>
                <a:spcPts val="0"/>
              </a:spcAft>
              <a:buNone/>
            </a:pPr>
            <a:r>
              <a:rPr lang="iw"/>
              <a:t>לדוגמא: יצירת קורס, עדכון מוצר, לקבל את רשימת המורות, ביטול של תור וכדו׳.</a:t>
            </a:r>
            <a:endParaRPr/>
          </a:p>
          <a:p>
            <a:pPr indent="0" lvl="0" marL="0" rtl="1" algn="r">
              <a:spcBef>
                <a:spcPts val="400"/>
              </a:spcBef>
              <a:spcAft>
                <a:spcPts val="0"/>
              </a:spcAft>
              <a:buNone/>
            </a:pPr>
            <a:r>
              <a:rPr lang="iw"/>
              <a:t>המונח rest api מתאר ארכיטקטורת שרת מסוימת ומקובלת מאוד בתעשייה, איך להגדיר את הקריאות הנל.</a:t>
            </a:r>
            <a:endParaRPr/>
          </a:p>
          <a:p>
            <a:pPr indent="0" lvl="0" marL="0" rtl="1" algn="r">
              <a:spcBef>
                <a:spcPts val="400"/>
              </a:spcBef>
              <a:spcAft>
                <a:spcPts val="0"/>
              </a:spcAft>
              <a:buNone/>
            </a:pPr>
            <a:r>
              <a:rPr lang="iw"/>
              <a:t>בפיתוח שרת מסוג rest, קריאת api תהיה מורכבת משם של המתודה (get post put delete) והשם של המשאב שעליו נעשית הפעולה. והניווט של הקריאה לא יכיל שם עצם או תאור על המהות.</a:t>
            </a:r>
            <a:endParaRPr/>
          </a:p>
          <a:p>
            <a:pPr indent="0" lvl="0" marL="0" rtl="1" algn="r">
              <a:spcBef>
                <a:spcPts val="400"/>
              </a:spcBef>
              <a:spcAft>
                <a:spcPts val="0"/>
              </a:spcAft>
              <a:buNone/>
            </a:pPr>
            <a:r>
              <a:rPr lang="iw"/>
              <a:t>לדוגמא, בשביל להגדיר קריאת api בשביל למחוק מוצר, במקום להגדיר:</a:t>
            </a:r>
            <a:endParaRPr/>
          </a:p>
          <a:p>
            <a:pPr indent="0" lvl="0" marL="0" rtl="0" algn="l">
              <a:spcBef>
                <a:spcPts val="400"/>
              </a:spcBef>
              <a:spcAft>
                <a:spcPts val="0"/>
              </a:spcAft>
              <a:buNone/>
            </a:pPr>
            <a:r>
              <a:rPr lang="iw"/>
              <a:t>DELETE  </a:t>
            </a:r>
            <a:r>
              <a:rPr lang="iw" u="sng">
                <a:solidFill>
                  <a:schemeClr val="hlink"/>
                </a:solidFill>
                <a:hlinkClick r:id="rId3"/>
              </a:rPr>
              <a:t>http://localhost:3000/deleteOneProductFromStore</a:t>
            </a:r>
            <a:endParaRPr/>
          </a:p>
          <a:p>
            <a:pPr indent="0" lvl="0" marL="0" rtl="1" algn="r">
              <a:spcBef>
                <a:spcPts val="400"/>
              </a:spcBef>
              <a:spcAft>
                <a:spcPts val="0"/>
              </a:spcAft>
              <a:buNone/>
            </a:pPr>
            <a:r>
              <a:rPr lang="iw"/>
              <a:t>אלא רק</a:t>
            </a:r>
            <a:endParaRPr/>
          </a:p>
          <a:p>
            <a:pPr indent="0" lvl="0" marL="0" rtl="0" algn="l">
              <a:spcBef>
                <a:spcPts val="400"/>
              </a:spcBef>
              <a:spcAft>
                <a:spcPts val="0"/>
              </a:spcAft>
              <a:buNone/>
            </a:pPr>
            <a:r>
              <a:rPr lang="iw"/>
              <a:t>DELETE </a:t>
            </a:r>
            <a:r>
              <a:rPr lang="iw" u="sng">
                <a:solidFill>
                  <a:schemeClr val="hlink"/>
                </a:solidFill>
                <a:hlinkClick r:id="rId4"/>
              </a:rPr>
              <a:t>http://localhost:3000/product</a:t>
            </a:r>
            <a:endParaRPr/>
          </a:p>
          <a:p>
            <a:pPr indent="0" lvl="0" marL="0" rtl="1" algn="r">
              <a:spcBef>
                <a:spcPts val="400"/>
              </a:spcBef>
              <a:spcAft>
                <a:spcPts val="0"/>
              </a:spcAft>
              <a:buNone/>
            </a:pPr>
            <a:r>
              <a:rPr lang="iw"/>
              <a:t>במקום יצירה של קורס בצורה הזו: POST </a:t>
            </a:r>
            <a:r>
              <a:rPr lang="iw" u="sng">
                <a:solidFill>
                  <a:schemeClr val="hlink"/>
                </a:solidFill>
                <a:hlinkClick r:id="rId5"/>
              </a:rPr>
              <a:t>http://localhost:3000/createNewCourse</a:t>
            </a:r>
            <a:endParaRPr/>
          </a:p>
          <a:p>
            <a:pPr indent="0" lvl="0" marL="0" rtl="1" algn="r">
              <a:spcBef>
                <a:spcPts val="400"/>
              </a:spcBef>
              <a:spcAft>
                <a:spcPts val="0"/>
              </a:spcAft>
              <a:buNone/>
            </a:pPr>
            <a:r>
              <a:rPr lang="iw"/>
              <a:t>יש להגדיר: POST </a:t>
            </a:r>
            <a:r>
              <a:rPr lang="iw" u="sng">
                <a:solidFill>
                  <a:schemeClr val="hlink"/>
                </a:solidFill>
                <a:hlinkClick r:id="rId6"/>
              </a:rPr>
              <a:t>http://localhost:3000/course</a:t>
            </a:r>
            <a:r>
              <a:rPr lang="iw"/>
              <a:t> </a:t>
            </a:r>
            <a:endParaRPr/>
          </a:p>
          <a:p>
            <a:pPr indent="0" lvl="0" marL="0" rtl="1" algn="r">
              <a:spcBef>
                <a:spcPts val="400"/>
              </a:spcBef>
              <a:spcAft>
                <a:spcPts val="0"/>
              </a:spcAft>
              <a:buNone/>
            </a:pPr>
            <a:r>
              <a:rPr lang="iw"/>
              <a:t>בקשי מה ai שיסביר לך עוד על rest api</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Explain REST APIs to a beginner.</a:t>
            </a:r>
            <a:endParaRPr/>
          </a:p>
          <a:p>
            <a:pPr indent="0" lvl="0" marL="0" rtl="0" algn="l">
              <a:spcBef>
                <a:spcPts val="400"/>
              </a:spcBef>
              <a:spcAft>
                <a:spcPts val="400"/>
              </a:spcAft>
              <a:buNone/>
            </a:pPr>
            <a:r>
              <a:rPr lang="iw"/>
              <a:t>Focus on why HTTP methods are used instead of action names in URLs.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תכנון rest api - הגדרת resources</a:t>
            </a:r>
            <a:endParaRPr>
              <a:latin typeface="Calibri"/>
              <a:ea typeface="Calibri"/>
              <a:cs typeface="Calibri"/>
              <a:sym typeface="Calibri"/>
            </a:endParaRPr>
          </a:p>
        </p:txBody>
      </p:sp>
      <p:sp>
        <p:nvSpPr>
          <p:cNvPr id="316" name="Google Shape;316;p44"/>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62500" lnSpcReduction="20000"/>
          </a:bodyPr>
          <a:lstStyle/>
          <a:p>
            <a:pPr indent="0" lvl="0" marL="0" rtl="1" algn="r">
              <a:spcBef>
                <a:spcPts val="0"/>
              </a:spcBef>
              <a:spcAft>
                <a:spcPts val="0"/>
              </a:spcAft>
              <a:buNone/>
            </a:pPr>
            <a:r>
              <a:rPr lang="iw"/>
              <a:t>בתכנון צד שרת שבנוי בארכיטקטורת rest api, כאשר מתכננים את הקריאות שהשרת תומך בהם,</a:t>
            </a:r>
            <a:endParaRPr/>
          </a:p>
          <a:p>
            <a:pPr indent="0" lvl="0" marL="0" rtl="1" algn="r">
              <a:spcBef>
                <a:spcPts val="400"/>
              </a:spcBef>
              <a:spcAft>
                <a:spcPts val="0"/>
              </a:spcAft>
              <a:buNone/>
            </a:pPr>
            <a:r>
              <a:rPr lang="iw"/>
              <a:t>יש להגדיר: משאבים ופעולות.</a:t>
            </a:r>
            <a:endParaRPr/>
          </a:p>
          <a:p>
            <a:pPr indent="0" lvl="0" marL="0" rtl="1" algn="r">
              <a:spcBef>
                <a:spcPts val="400"/>
              </a:spcBef>
              <a:spcAft>
                <a:spcPts val="0"/>
              </a:spcAft>
              <a:buNone/>
            </a:pPr>
            <a:r>
              <a:rPr lang="iw"/>
              <a:t>משאבים הם הישויות של המערכת, ולכל משאב יש את הפעולות השונות שהוא צריך לתמוך בהם.</a:t>
            </a:r>
            <a:endParaRPr/>
          </a:p>
          <a:p>
            <a:pPr indent="0" lvl="0" marL="0" rtl="1" algn="r">
              <a:spcBef>
                <a:spcPts val="400"/>
              </a:spcBef>
              <a:spcAft>
                <a:spcPts val="0"/>
              </a:spcAft>
              <a:buNone/>
            </a:pPr>
            <a:r>
              <a:rPr lang="iw"/>
              <a:t>לדוגמא, בפרויקט הליווי של הקורס, המשאבים (resources) הם קורסים, תלמידים, ורישום לקורס.</a:t>
            </a:r>
            <a:endParaRPr/>
          </a:p>
          <a:p>
            <a:pPr indent="0" lvl="0" marL="0" rtl="1" algn="r">
              <a:spcBef>
                <a:spcPts val="400"/>
              </a:spcBef>
              <a:spcAft>
                <a:spcPts val="0"/>
              </a:spcAft>
              <a:buNone/>
            </a:pPr>
            <a:r>
              <a:rPr lang="iw"/>
              <a:t>ולכל אחד מהמשאבים נרצה את כל הפעולות - לקבל רשימה, לקבל פריט בודד, יצירה עדכון מחיקה.</a:t>
            </a:r>
            <a:endParaRPr/>
          </a:p>
          <a:p>
            <a:pPr indent="0" lvl="0" marL="0" rtl="1" algn="r">
              <a:spcBef>
                <a:spcPts val="400"/>
              </a:spcBef>
              <a:spcAft>
                <a:spcPts val="0"/>
              </a:spcAft>
              <a:buNone/>
            </a:pPr>
            <a:r>
              <a:rPr lang="iw"/>
              <a:t>לכן יש לתכנן מראש שהפרויקט אמור לכלול את הקריאות הבאות:</a:t>
            </a:r>
            <a:endParaRPr/>
          </a:p>
          <a:p>
            <a:pPr indent="0" lvl="0" marL="0" rtl="0" algn="l">
              <a:spcBef>
                <a:spcPts val="400"/>
              </a:spcBef>
              <a:spcAft>
                <a:spcPts val="0"/>
              </a:spcAft>
              <a:buNone/>
            </a:pPr>
            <a:r>
              <a:rPr lang="iw"/>
              <a:t>GET /courses - קבלת רשימת הקורסים</a:t>
            </a:r>
            <a:endParaRPr/>
          </a:p>
          <a:p>
            <a:pPr indent="0" lvl="0" marL="0" rtl="0" algn="l">
              <a:spcBef>
                <a:spcPts val="400"/>
              </a:spcBef>
              <a:spcAft>
                <a:spcPts val="0"/>
              </a:spcAft>
              <a:buNone/>
            </a:pPr>
            <a:r>
              <a:rPr lang="iw"/>
              <a:t>GET /course/:id - קבלה של קורס בודד, יש לשלוח את ה מזהה של הקורס המבוקש</a:t>
            </a:r>
            <a:endParaRPr/>
          </a:p>
          <a:p>
            <a:pPr indent="0" lvl="0" marL="0" rtl="0" algn="l">
              <a:spcBef>
                <a:spcPts val="400"/>
              </a:spcBef>
              <a:spcAft>
                <a:spcPts val="0"/>
              </a:spcAft>
              <a:buNone/>
            </a:pPr>
            <a:r>
              <a:rPr lang="iw"/>
              <a:t>POST /</a:t>
            </a:r>
            <a:r>
              <a:rPr lang="iw"/>
              <a:t>course - יצירה של קורס</a:t>
            </a:r>
            <a:endParaRPr/>
          </a:p>
          <a:p>
            <a:pPr indent="0" lvl="0" marL="0" rtl="0" algn="l">
              <a:spcBef>
                <a:spcPts val="400"/>
              </a:spcBef>
              <a:spcAft>
                <a:spcPts val="0"/>
              </a:spcAft>
              <a:buNone/>
            </a:pPr>
            <a:r>
              <a:rPr lang="iw"/>
              <a:t>PUT /course/:id - עדכון של קורס, יש לשלוח את המזהה של הקורס המבוקש</a:t>
            </a:r>
            <a:endParaRPr/>
          </a:p>
          <a:p>
            <a:pPr indent="0" lvl="0" marL="0" rtl="0" algn="l">
              <a:spcBef>
                <a:spcPts val="400"/>
              </a:spcBef>
              <a:spcAft>
                <a:spcPts val="0"/>
              </a:spcAft>
              <a:buNone/>
            </a:pPr>
            <a:r>
              <a:rPr lang="iw"/>
              <a:t>DELETE /course/:id - מחיקה של קורס, יש לשלוח את המזהה של הקורס המבוקש</a:t>
            </a:r>
            <a:endParaRPr/>
          </a:p>
          <a:p>
            <a:pPr indent="0" lvl="0" marL="0" rtl="0" algn="l">
              <a:spcBef>
                <a:spcPts val="400"/>
              </a:spcBef>
              <a:spcAft>
                <a:spcPts val="0"/>
              </a:spcAft>
              <a:buNone/>
            </a:pPr>
            <a:r>
              <a:rPr lang="iw"/>
              <a:t>GET /subscriptions - לקבל את רשימת הרישומים לקורס </a:t>
            </a:r>
            <a:endParaRPr/>
          </a:p>
          <a:p>
            <a:pPr indent="0" lvl="0" marL="0" rtl="1" algn="r">
              <a:spcBef>
                <a:spcPts val="400"/>
              </a:spcBef>
              <a:spcAft>
                <a:spcPts val="0"/>
              </a:spcAft>
              <a:buNone/>
            </a:pPr>
            <a:r>
              <a:rPr lang="iw"/>
              <a:t> וכן הלאה לכל המשאבים כל הפעולות.</a:t>
            </a:r>
            <a:endParaRPr/>
          </a:p>
          <a:p>
            <a:pPr indent="0" lvl="0" marL="0" rtl="1" algn="r">
              <a:spcBef>
                <a:spcPts val="400"/>
              </a:spcBef>
              <a:spcAft>
                <a:spcPts val="0"/>
              </a:spcAft>
              <a:buNone/>
            </a:pPr>
            <a:r>
              <a:rPr lang="iw"/>
              <a:t>אגב, את הרישום אפשר להגדיר בצורה קצת שונה:</a:t>
            </a:r>
            <a:endParaRPr/>
          </a:p>
          <a:p>
            <a:pPr indent="0" lvl="0" marL="0" rtl="0" algn="l">
              <a:spcBef>
                <a:spcPts val="400"/>
              </a:spcBef>
              <a:spcAft>
                <a:spcPts val="0"/>
              </a:spcAft>
              <a:buNone/>
            </a:pPr>
            <a:r>
              <a:rPr lang="iw"/>
              <a:t>GET /courses/:id/subscriptions - מחזיר את רשימת הרישומים לקורס מסוים.</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תכנון api נכון ב rest api</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Design a REST API for managing books.</a:t>
            </a:r>
            <a:endParaRPr/>
          </a:p>
          <a:p>
            <a:pPr indent="0" lvl="0" marL="0" rtl="0" algn="l">
              <a:spcBef>
                <a:spcPts val="400"/>
              </a:spcBef>
              <a:spcAft>
                <a:spcPts val="0"/>
              </a:spcAft>
              <a:buNone/>
            </a:pPr>
            <a:r>
              <a:rPr lang="iw"/>
              <a:t>List only the endpoints and HTTP methods.</a:t>
            </a:r>
            <a:endParaRPr/>
          </a:p>
          <a:p>
            <a:pPr indent="0" lvl="0" marL="0" rtl="0" algn="l">
              <a:spcBef>
                <a:spcPts val="400"/>
              </a:spcBef>
              <a:spcAft>
                <a:spcPts val="400"/>
              </a:spcAft>
              <a:buNone/>
            </a:pPr>
            <a:r>
              <a:rPr lang="iw"/>
              <a:t>Do not write code.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קבלת מידע בקריאת שרת	 </a:t>
            </a:r>
            <a:endParaRPr>
              <a:latin typeface="Calibri"/>
              <a:ea typeface="Calibri"/>
              <a:cs typeface="Calibri"/>
              <a:sym typeface="Calibri"/>
            </a:endParaRPr>
          </a:p>
        </p:txBody>
      </p:sp>
      <p:sp>
        <p:nvSpPr>
          <p:cNvPr id="322" name="Google Shape;322;p45"/>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77500" lnSpcReduction="20000"/>
          </a:bodyPr>
          <a:lstStyle/>
          <a:p>
            <a:pPr indent="0" lvl="0" marL="0" rtl="1" algn="r">
              <a:spcBef>
                <a:spcPts val="0"/>
              </a:spcBef>
              <a:spcAft>
                <a:spcPts val="0"/>
              </a:spcAft>
              <a:buNone/>
            </a:pPr>
            <a:r>
              <a:rPr lang="iw"/>
              <a:t>הרבה מאוד מקריאות שרת אמורות להעביר מידע לשרת.</a:t>
            </a:r>
            <a:endParaRPr/>
          </a:p>
          <a:p>
            <a:pPr indent="0" lvl="0" marL="0" rtl="1" algn="r">
              <a:spcBef>
                <a:spcPts val="400"/>
              </a:spcBef>
              <a:spcAft>
                <a:spcPts val="0"/>
              </a:spcAft>
              <a:buNone/>
            </a:pPr>
            <a:r>
              <a:rPr lang="iw"/>
              <a:t>אפשר להתייחס לשני סוגים בסיסיים של מידע שצריך להעביר:</a:t>
            </a:r>
            <a:endParaRPr/>
          </a:p>
          <a:p>
            <a:pPr indent="-292576" lvl="0" marL="457200" rtl="1" algn="r">
              <a:spcBef>
                <a:spcPts val="400"/>
              </a:spcBef>
              <a:spcAft>
                <a:spcPts val="0"/>
              </a:spcAft>
              <a:buSzPct val="100000"/>
              <a:buChar char="-"/>
            </a:pPr>
            <a:r>
              <a:rPr lang="iw"/>
              <a:t>מיהו המשאב שאליו הקריאה מתייחסת? איזה קורס רוצים לקבל, ואיזה מוצר רוצים למחוק?</a:t>
            </a:r>
            <a:endParaRPr/>
          </a:p>
          <a:p>
            <a:pPr indent="-292576" lvl="0" marL="457200" rtl="1" algn="r">
              <a:spcBef>
                <a:spcPts val="0"/>
              </a:spcBef>
              <a:spcAft>
                <a:spcPts val="0"/>
              </a:spcAft>
              <a:buSzPct val="100000"/>
              <a:buChar char="-"/>
            </a:pPr>
            <a:r>
              <a:rPr lang="iw"/>
              <a:t>פרטי מידע שקשורים לתוכן הקריאה עצמה, לדוגמא: פרטי המוצר שרוצים ליצור, או את השדות שרוצים לשנות בקורס.</a:t>
            </a:r>
            <a:endParaRPr/>
          </a:p>
          <a:p>
            <a:pPr indent="0" lvl="0" marL="0" rtl="1" algn="r">
              <a:spcBef>
                <a:spcPts val="400"/>
              </a:spcBef>
              <a:spcAft>
                <a:spcPts val="0"/>
              </a:spcAft>
              <a:buNone/>
            </a:pPr>
            <a:r>
              <a:rPr lang="iw"/>
              <a:t>כל אחד מסוגי המידע הנ״ל מועבר בצורה שונה. פרטי זהות על המשאב מועברים כחלק משורת הקריאה,</a:t>
            </a:r>
            <a:endParaRPr/>
          </a:p>
          <a:p>
            <a:pPr indent="0" lvl="0" marL="0" rtl="1" algn="r">
              <a:spcBef>
                <a:spcPts val="400"/>
              </a:spcBef>
              <a:spcAft>
                <a:spcPts val="0"/>
              </a:spcAft>
              <a:buNone/>
            </a:pPr>
            <a:r>
              <a:rPr lang="iw"/>
              <a:t>לדוגמא הקריאה: </a:t>
            </a:r>
            <a:r>
              <a:rPr lang="iw" u="sng">
                <a:solidFill>
                  <a:schemeClr val="hlink"/>
                </a:solidFill>
                <a:hlinkClick r:id="rId3"/>
              </a:rPr>
              <a:t>http://localhost:3000/courses/4</a:t>
            </a:r>
            <a:r>
              <a:rPr lang="iw"/>
              <a:t> אמורה להחזיר את הקורס שה id שלו הוא 4.</a:t>
            </a:r>
            <a:endParaRPr/>
          </a:p>
          <a:p>
            <a:pPr indent="0" lvl="0" marL="0" rtl="1" algn="r">
              <a:spcBef>
                <a:spcPts val="400"/>
              </a:spcBef>
              <a:spcAft>
                <a:spcPts val="0"/>
              </a:spcAft>
              <a:buNone/>
            </a:pPr>
            <a:r>
              <a:rPr lang="iw"/>
              <a:t>לעומת זאת, פרטים שקשורים לתוכן הקריאה מועברים בצורה שונה, דרך ״גוף הקריאה״ - body, ואינם חלק משורת ה url. (בשיעור קודם הוסבר איך מעבירים את הנ״ל בתוכנת  postman)</a:t>
            </a:r>
            <a:endParaRPr/>
          </a:p>
          <a:p>
            <a:pPr indent="0" lvl="0" marL="0" rtl="1" algn="r">
              <a:spcBef>
                <a:spcPts val="400"/>
              </a:spcBef>
              <a:spcAft>
                <a:spcPts val="0"/>
              </a:spcAft>
              <a:buNone/>
            </a:pPr>
            <a:r>
              <a:rPr lang="iw"/>
              <a:t>בצד השרת, יש לחלץ את המידע הזה מהקריאה.</a:t>
            </a:r>
            <a:endParaRPr/>
          </a:p>
          <a:p>
            <a:pPr indent="0" lvl="0" marL="0" rtl="1" algn="r">
              <a:spcBef>
                <a:spcPts val="400"/>
              </a:spcBef>
              <a:spcAft>
                <a:spcPts val="0"/>
              </a:spcAft>
              <a:buNone/>
            </a:pPr>
            <a:r>
              <a:rPr lang="iw"/>
              <a:t>בשימוש ב node + express, בהגדרת כל קריאה יש פונקציה שמקבלת את המשתנים req , res. המשתנה req מכיל מידע אודות הקריאה שנשלחה.</a:t>
            </a:r>
            <a:endParaRPr/>
          </a:p>
          <a:p>
            <a:pPr indent="0" lvl="0" marL="0" rtl="1" algn="r">
              <a:spcBef>
                <a:spcPts val="400"/>
              </a:spcBef>
              <a:spcAft>
                <a:spcPts val="0"/>
              </a:spcAft>
              <a:buNone/>
            </a:pPr>
            <a:r>
              <a:rPr lang="iw"/>
              <a:t>פרמטרים שנשלחו ב url, שמיועדים כדי לזהות את האוביקט, נמצאים במשתנה req.params,</a:t>
            </a:r>
            <a:endParaRPr/>
          </a:p>
          <a:p>
            <a:pPr indent="0" lvl="0" marL="0" rtl="1" algn="r">
              <a:spcBef>
                <a:spcPts val="400"/>
              </a:spcBef>
              <a:spcAft>
                <a:spcPts val="0"/>
              </a:spcAft>
              <a:buNone/>
            </a:pPr>
            <a:r>
              <a:rPr lang="iw"/>
              <a:t>ופרמטרים שנשלחים כגוף הקריאה נלקחים מהמשתנה req.body.</a:t>
            </a:r>
            <a:endParaRPr/>
          </a:p>
          <a:p>
            <a:pPr indent="0" lvl="0" marL="0" rtl="1" algn="r">
              <a:spcBef>
                <a:spcPts val="400"/>
              </a:spcBef>
              <a:spcAft>
                <a:spcPts val="0"/>
              </a:spcAft>
              <a:buNone/>
            </a:pPr>
            <a:r>
              <a:rPr lang="iw"/>
              <a:t>-- רק קריאות מסוג post ו put מכילות את גוף הקריאה!</a:t>
            </a:r>
            <a:endParaRPr/>
          </a:p>
          <a:p>
            <a:pPr indent="0" lvl="0" marL="0" rtl="1" algn="r">
              <a:spcBef>
                <a:spcPts val="400"/>
              </a:spcBef>
              <a:spcAft>
                <a:spcPts val="0"/>
              </a:spcAft>
              <a:buNone/>
            </a:pPr>
            <a:r>
              <a:rPr lang="iw"/>
              <a:t>בקשי מה ai שיסביר לך עוד על חילוץ מידע בשרת המבוסס express</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In Express, explain req.params and req.body.</a:t>
            </a:r>
            <a:endParaRPr/>
          </a:p>
          <a:p>
            <a:pPr indent="0" lvl="0" marL="0" rtl="0" algn="l">
              <a:spcBef>
                <a:spcPts val="400"/>
              </a:spcBef>
              <a:spcAft>
                <a:spcPts val="0"/>
              </a:spcAft>
              <a:buNone/>
            </a:pPr>
            <a:r>
              <a:rPr lang="iw"/>
              <a:t>Describe when each one is used.</a:t>
            </a:r>
            <a:endParaRPr/>
          </a:p>
          <a:p>
            <a:pPr indent="0" lvl="0" marL="0" rtl="0" algn="l">
              <a:spcBef>
                <a:spcPts val="400"/>
              </a:spcBef>
              <a:spcAft>
                <a:spcPts val="400"/>
              </a:spcAft>
              <a:buNone/>
            </a:pPr>
            <a:r>
              <a:rPr lang="iw"/>
              <a:t>Do not explain query parameters.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מימוש קריאות get ב express</a:t>
            </a:r>
            <a:endParaRPr>
              <a:latin typeface="Calibri"/>
              <a:ea typeface="Calibri"/>
              <a:cs typeface="Calibri"/>
              <a:sym typeface="Calibri"/>
            </a:endParaRPr>
          </a:p>
        </p:txBody>
      </p:sp>
      <p:sp>
        <p:nvSpPr>
          <p:cNvPr id="328" name="Google Shape;328;p46"/>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77500" lnSpcReduction="20000"/>
          </a:bodyPr>
          <a:lstStyle/>
          <a:p>
            <a:pPr indent="0" lvl="0" marL="0" rtl="1" algn="r">
              <a:spcBef>
                <a:spcPts val="0"/>
              </a:spcBef>
              <a:spcAft>
                <a:spcPts val="0"/>
              </a:spcAft>
              <a:buNone/>
            </a:pPr>
            <a:r>
              <a:rPr lang="iw"/>
              <a:t>קריאות get  אמורות להחזיר נתונים.</a:t>
            </a:r>
            <a:endParaRPr/>
          </a:p>
          <a:p>
            <a:pPr indent="0" lvl="0" marL="0" rtl="1" algn="r">
              <a:spcBef>
                <a:spcPts val="400"/>
              </a:spcBef>
              <a:spcAft>
                <a:spcPts val="0"/>
              </a:spcAft>
              <a:buNone/>
            </a:pPr>
            <a:r>
              <a:rPr lang="iw"/>
              <a:t>הן מוגדרות בצורה:</a:t>
            </a:r>
            <a:endParaRPr/>
          </a:p>
          <a:p>
            <a:pPr indent="0" lvl="0" marL="0" rtl="0" algn="l">
              <a:spcBef>
                <a:spcPts val="400"/>
              </a:spcBef>
              <a:spcAft>
                <a:spcPts val="0"/>
              </a:spcAft>
              <a:buNone/>
            </a:pPr>
            <a:r>
              <a:rPr lang="iw"/>
              <a:t>app.get()</a:t>
            </a:r>
            <a:endParaRPr/>
          </a:p>
          <a:p>
            <a:pPr indent="0" lvl="0" marL="0" rtl="1" algn="r">
              <a:spcBef>
                <a:spcPts val="400"/>
              </a:spcBef>
              <a:spcAft>
                <a:spcPts val="0"/>
              </a:spcAft>
              <a:buNone/>
            </a:pPr>
            <a:r>
              <a:rPr lang="iw"/>
              <a:t>הפונקציה מקבלת שני פרמטרים, את הניווט ואת הפונקציה של הקריאה.</a:t>
            </a:r>
            <a:endParaRPr/>
          </a:p>
          <a:p>
            <a:pPr indent="0" lvl="0" marL="0" rtl="1" algn="r">
              <a:spcBef>
                <a:spcPts val="400"/>
              </a:spcBef>
              <a:spcAft>
                <a:spcPts val="0"/>
              </a:spcAft>
              <a:buNone/>
            </a:pPr>
            <a:r>
              <a:rPr lang="iw"/>
              <a:t>יש קריאות שאמורות להחזיר מערך נתונים - כמו שנלמד בשיעור קודם,</a:t>
            </a:r>
            <a:endParaRPr/>
          </a:p>
          <a:p>
            <a:pPr indent="0" lvl="0" marL="0" rtl="1" algn="r">
              <a:spcBef>
                <a:spcPts val="400"/>
              </a:spcBef>
              <a:spcAft>
                <a:spcPts val="0"/>
              </a:spcAft>
              <a:buNone/>
            </a:pPr>
            <a:r>
              <a:rPr lang="iw"/>
              <a:t>ויש קריאות שאמורות להחזיר פריט אחד בודד.</a:t>
            </a:r>
            <a:endParaRPr/>
          </a:p>
          <a:p>
            <a:pPr indent="0" lvl="0" marL="0" rtl="1" algn="r">
              <a:spcBef>
                <a:spcPts val="400"/>
              </a:spcBef>
              <a:spcAft>
                <a:spcPts val="0"/>
              </a:spcAft>
              <a:buNone/>
            </a:pPr>
            <a:r>
              <a:rPr lang="iw"/>
              <a:t>בכזה מקרה הניווט יכלול גם פרמטר - משתנה</a:t>
            </a:r>
            <a:endParaRPr/>
          </a:p>
          <a:p>
            <a:pPr indent="0" lvl="0" marL="0" rtl="1" algn="r">
              <a:spcBef>
                <a:spcPts val="400"/>
              </a:spcBef>
              <a:spcAft>
                <a:spcPts val="0"/>
              </a:spcAft>
              <a:buNone/>
            </a:pPr>
            <a:r>
              <a:rPr lang="iw"/>
              <a:t>לדוגמא: </a:t>
            </a:r>
            <a:endParaRPr/>
          </a:p>
          <a:p>
            <a:pPr indent="0" lvl="0" marL="0" rtl="0" algn="l">
              <a:spcBef>
                <a:spcPts val="400"/>
              </a:spcBef>
              <a:spcAft>
                <a:spcPts val="0"/>
              </a:spcAft>
              <a:buNone/>
            </a:pPr>
            <a:r>
              <a:rPr lang="iw"/>
              <a:t>app.get(‘/course/:id’ () =&gt; {})</a:t>
            </a:r>
            <a:endParaRPr/>
          </a:p>
          <a:p>
            <a:pPr indent="0" lvl="0" marL="0" rtl="1" algn="r">
              <a:spcBef>
                <a:spcPts val="400"/>
              </a:spcBef>
              <a:spcAft>
                <a:spcPts val="0"/>
              </a:spcAft>
              <a:buNone/>
            </a:pPr>
            <a:r>
              <a:rPr lang="iw"/>
              <a:t>ההגדרה של ה id עם : לפני השם, מרמזת שמדובר בפרמטר, השימוש בקריאה הזו יהיה לדוגמא:</a:t>
            </a:r>
            <a:endParaRPr/>
          </a:p>
          <a:p>
            <a:pPr indent="0" lvl="0" marL="0" rtl="0" algn="l">
              <a:spcBef>
                <a:spcPts val="400"/>
              </a:spcBef>
              <a:spcAft>
                <a:spcPts val="0"/>
              </a:spcAft>
              <a:buNone/>
            </a:pPr>
            <a:r>
              <a:rPr lang="iw" u="sng">
                <a:solidFill>
                  <a:schemeClr val="hlink"/>
                </a:solidFill>
                <a:hlinkClick r:id="rId3"/>
              </a:rPr>
              <a:t>http://localhost:3000/course/4</a:t>
            </a:r>
            <a:endParaRPr/>
          </a:p>
          <a:p>
            <a:pPr indent="0" lvl="0" marL="0" rtl="1" algn="r">
              <a:spcBef>
                <a:spcPts val="400"/>
              </a:spcBef>
              <a:spcAft>
                <a:spcPts val="0"/>
              </a:spcAft>
              <a:buNone/>
            </a:pPr>
            <a:r>
              <a:rPr lang="iw"/>
              <a:t>ולא עם המילה id.</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קריאות  get ב  express</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Show how GET routes are implemented in Express.</a:t>
            </a:r>
            <a:endParaRPr/>
          </a:p>
          <a:p>
            <a:pPr indent="0" lvl="0" marL="0" rtl="0" algn="l">
              <a:spcBef>
                <a:spcPts val="400"/>
              </a:spcBef>
              <a:spcAft>
                <a:spcPts val="0"/>
              </a:spcAft>
              <a:buNone/>
            </a:pPr>
            <a:r>
              <a:rPr lang="iw"/>
              <a:t>Include one example that returns all objects and another that uses req.params.</a:t>
            </a:r>
            <a:endParaRPr/>
          </a:p>
          <a:p>
            <a:pPr indent="0" lvl="0" marL="0" rtl="0" algn="l">
              <a:spcBef>
                <a:spcPts val="400"/>
              </a:spcBef>
              <a:spcAft>
                <a:spcPts val="400"/>
              </a:spcAft>
              <a:buNone/>
            </a:pPr>
            <a:r>
              <a:rPr lang="iw"/>
              <a:t>Explain each example.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מימוש קריאות post put delete ב express</a:t>
            </a:r>
            <a:endParaRPr>
              <a:latin typeface="Calibri"/>
              <a:ea typeface="Calibri"/>
              <a:cs typeface="Calibri"/>
              <a:sym typeface="Calibri"/>
            </a:endParaRPr>
          </a:p>
        </p:txBody>
      </p:sp>
      <p:sp>
        <p:nvSpPr>
          <p:cNvPr id="334" name="Google Shape;334;p47"/>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77500" lnSpcReduction="10000"/>
          </a:bodyPr>
          <a:lstStyle/>
          <a:p>
            <a:pPr indent="0" lvl="0" marL="0" rtl="1" algn="r">
              <a:spcBef>
                <a:spcPts val="0"/>
              </a:spcBef>
              <a:spcAft>
                <a:spcPts val="0"/>
              </a:spcAft>
              <a:buNone/>
            </a:pPr>
            <a:r>
              <a:rPr lang="iw"/>
              <a:t>קריאות post מיועדות ליצירה של מידע חדש, והן מוגדרות על ידי הפונקציה  </a:t>
            </a:r>
            <a:endParaRPr/>
          </a:p>
          <a:p>
            <a:pPr indent="0" lvl="0" marL="0" rtl="0" algn="l">
              <a:spcBef>
                <a:spcPts val="400"/>
              </a:spcBef>
              <a:spcAft>
                <a:spcPts val="0"/>
              </a:spcAft>
              <a:buNone/>
            </a:pPr>
            <a:r>
              <a:rPr lang="iw" u="sng">
                <a:solidFill>
                  <a:schemeClr val="hlink"/>
                </a:solidFill>
                <a:hlinkClick r:id="rId3"/>
              </a:rPr>
              <a:t>app.post</a:t>
            </a:r>
            <a:r>
              <a:rPr lang="iw"/>
              <a:t>()</a:t>
            </a:r>
            <a:endParaRPr/>
          </a:p>
          <a:p>
            <a:pPr indent="0" lvl="0" marL="0" rtl="1" algn="r">
              <a:spcBef>
                <a:spcPts val="400"/>
              </a:spcBef>
              <a:spcAft>
                <a:spcPts val="0"/>
              </a:spcAft>
              <a:buNone/>
            </a:pPr>
            <a:r>
              <a:rPr lang="iw"/>
              <a:t>קריאות put מיועדות לעדכון, והן מוגדרות על ידי הפונקציה</a:t>
            </a:r>
            <a:endParaRPr/>
          </a:p>
          <a:p>
            <a:pPr indent="0" lvl="0" marL="0" rtl="0" algn="l">
              <a:spcBef>
                <a:spcPts val="400"/>
              </a:spcBef>
              <a:spcAft>
                <a:spcPts val="0"/>
              </a:spcAft>
              <a:buNone/>
            </a:pPr>
            <a:r>
              <a:rPr lang="iw"/>
              <a:t>app.put()</a:t>
            </a:r>
            <a:endParaRPr/>
          </a:p>
          <a:p>
            <a:pPr indent="0" lvl="0" marL="0" rtl="1" algn="r">
              <a:spcBef>
                <a:spcPts val="400"/>
              </a:spcBef>
              <a:spcAft>
                <a:spcPts val="0"/>
              </a:spcAft>
              <a:buNone/>
            </a:pPr>
            <a:r>
              <a:rPr lang="iw"/>
              <a:t>קריאות delete מיועדות למחיקה ומוגדרות על ידי </a:t>
            </a:r>
            <a:endParaRPr/>
          </a:p>
          <a:p>
            <a:pPr indent="0" lvl="0" marL="0" rtl="0" algn="l">
              <a:spcBef>
                <a:spcPts val="400"/>
              </a:spcBef>
              <a:spcAft>
                <a:spcPts val="0"/>
              </a:spcAft>
              <a:buNone/>
            </a:pPr>
            <a:r>
              <a:rPr lang="iw"/>
              <a:t>app.delete()</a:t>
            </a:r>
            <a:endParaRPr/>
          </a:p>
          <a:p>
            <a:pPr indent="0" lvl="0" marL="0" rtl="1" algn="r">
              <a:spcBef>
                <a:spcPts val="400"/>
              </a:spcBef>
              <a:spcAft>
                <a:spcPts val="0"/>
              </a:spcAft>
              <a:buNone/>
            </a:pPr>
            <a:r>
              <a:rPr lang="iw"/>
              <a:t>כל הקריאות מקבלות פרמטר ראשון את הניווט, ופרמטר שני את הפונקציה שמטפלת בקריאה. בקריאות put ו delete הניווט כולל גם פרמטר - מזהה - איזה אוביקט יש לעדכן? איזה אוביקט יש למחוק?</a:t>
            </a:r>
            <a:endParaRPr/>
          </a:p>
          <a:p>
            <a:pPr indent="0" lvl="0" marL="0" rtl="1" algn="r">
              <a:spcBef>
                <a:spcPts val="400"/>
              </a:spcBef>
              <a:spcAft>
                <a:spcPts val="0"/>
              </a:spcAft>
              <a:buNone/>
            </a:pPr>
            <a:r>
              <a:rPr lang="iw"/>
              <a:t>קריאות מסוג post ו put תכלולנה בדרך כלל גם את ״גוף״ הקריאה - פרטי האוביקט ליצירה או לעדכון, ואליהן יש לגשת על ידי req.body.</a:t>
            </a:r>
            <a:endParaRPr/>
          </a:p>
          <a:p>
            <a:pPr indent="0" lvl="0" marL="0" rtl="1" algn="r">
              <a:spcBef>
                <a:spcPts val="400"/>
              </a:spcBef>
              <a:spcAft>
                <a:spcPts val="0"/>
              </a:spcAft>
              <a:buNone/>
            </a:pPr>
            <a:r>
              <a:rPr b="1" lang="iw"/>
              <a:t>בשביל לחלץ את המידע, חובה להוסיף את השורה הבאה בתחילת פרויקט express, לפני ההגדרות של כל ה routes השונים: </a:t>
            </a:r>
            <a:endParaRPr b="1"/>
          </a:p>
          <a:p>
            <a:pPr indent="0" lvl="0" marL="0" rtl="0" algn="l">
              <a:spcBef>
                <a:spcPts val="400"/>
              </a:spcBef>
              <a:spcAft>
                <a:spcPts val="0"/>
              </a:spcAft>
              <a:buNone/>
            </a:pPr>
            <a:r>
              <a:rPr b="1" lang="iw"/>
              <a:t>app.use(express.json());</a:t>
            </a:r>
            <a:endParaRPr b="1"/>
          </a:p>
          <a:p>
            <a:pPr indent="0" lvl="0" marL="0" rtl="1" algn="r">
              <a:spcBef>
                <a:spcPts val="400"/>
              </a:spcBef>
              <a:spcAft>
                <a:spcPts val="0"/>
              </a:spcAft>
              <a:buNone/>
            </a:pPr>
            <a:r>
              <a:rPr b="1" lang="iw"/>
              <a:t> </a:t>
            </a:r>
            <a:r>
              <a:rPr lang="iw"/>
              <a:t>אחרת, המשתנה req.body יהיה ריק בכל מקרה!</a:t>
            </a:r>
            <a:endParaRPr/>
          </a:p>
          <a:p>
            <a:pPr indent="0" lvl="0" marL="0" rtl="1" algn="r">
              <a:spcBef>
                <a:spcPts val="400"/>
              </a:spcBef>
              <a:spcAft>
                <a:spcPts val="0"/>
              </a:spcAft>
              <a:buNone/>
            </a:pPr>
            <a:r>
              <a:rPr lang="iw"/>
              <a:t>בקשי מה ai שיסביר לך עוד על קריאות  post put delete ב  express</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Show how POST, PUT and DELETE routes are implemented in Express.</a:t>
            </a:r>
            <a:endParaRPr/>
          </a:p>
          <a:p>
            <a:pPr indent="0" lvl="0" marL="0" rtl="0" algn="l">
              <a:spcBef>
                <a:spcPts val="400"/>
              </a:spcBef>
              <a:spcAft>
                <a:spcPts val="0"/>
              </a:spcAft>
              <a:buNone/>
            </a:pPr>
            <a:r>
              <a:rPr lang="iw"/>
              <a:t>Explain what information comes from req.params and what comes from req.body.</a:t>
            </a:r>
            <a:endParaRPr/>
          </a:p>
          <a:p>
            <a:pPr indent="0" lvl="0" marL="0" rtl="0" algn="l">
              <a:spcBef>
                <a:spcPts val="400"/>
              </a:spcBef>
              <a:spcAft>
                <a:spcPts val="400"/>
              </a:spcAft>
              <a:buNone/>
            </a:pPr>
            <a:r>
              <a:rPr lang="iw"/>
              <a:t>Do not build a complete application.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8"/>
          <p:cNvSpPr txBox="1"/>
          <p:nvPr>
            <p:ph type="title"/>
          </p:nvPr>
        </p:nvSpPr>
        <p:spPr>
          <a:xfrm>
            <a:off x="819150" y="23665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משימה 🔨</a:t>
            </a:r>
            <a:endParaRPr>
              <a:latin typeface="Calibri"/>
              <a:ea typeface="Calibri"/>
              <a:cs typeface="Calibri"/>
              <a:sym typeface="Calibri"/>
            </a:endParaRPr>
          </a:p>
        </p:txBody>
      </p:sp>
      <p:sp>
        <p:nvSpPr>
          <p:cNvPr id="340" name="Google Shape;340;p48"/>
          <p:cNvSpPr txBox="1"/>
          <p:nvPr>
            <p:ph idx="1" type="body"/>
          </p:nvPr>
        </p:nvSpPr>
        <p:spPr>
          <a:xfrm>
            <a:off x="819150" y="765550"/>
            <a:ext cx="7505700" cy="4110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בשיעור זה יש להמשיך את הפרויקט משיעור קודם:</a:t>
            </a:r>
            <a:endParaRPr/>
          </a:p>
          <a:p>
            <a:pPr indent="0" lvl="0" marL="0" rtl="1" algn="r">
              <a:spcBef>
                <a:spcPts val="400"/>
              </a:spcBef>
              <a:spcAft>
                <a:spcPts val="0"/>
              </a:spcAft>
              <a:buNone/>
            </a:pPr>
            <a:r>
              <a:rPr lang="iw"/>
              <a:t>בשיעור קודם הוגדר פרויקט בסיסי המחולק לכמה קבצים, ותומך בקריאות get בסיסיות</a:t>
            </a:r>
            <a:endParaRPr/>
          </a:p>
          <a:p>
            <a:pPr indent="0" lvl="0" marL="0" rtl="1" algn="r">
              <a:spcBef>
                <a:spcPts val="400"/>
              </a:spcBef>
              <a:spcAft>
                <a:spcPts val="0"/>
              </a:spcAft>
              <a:buNone/>
            </a:pPr>
            <a:r>
              <a:rPr lang="iw"/>
              <a:t>בשיעור זה יש להרחיב את הפרויקט,</a:t>
            </a:r>
            <a:endParaRPr/>
          </a:p>
          <a:p>
            <a:pPr indent="0" lvl="0" marL="0" rtl="1" algn="r">
              <a:spcBef>
                <a:spcPts val="400"/>
              </a:spcBef>
              <a:spcAft>
                <a:spcPts val="0"/>
              </a:spcAft>
              <a:buNone/>
            </a:pPr>
            <a:r>
              <a:rPr lang="iw"/>
              <a:t>עדיין בתוך קובץ </a:t>
            </a:r>
            <a:r>
              <a:rPr lang="iw" u="sng">
                <a:solidFill>
                  <a:schemeClr val="hlink"/>
                </a:solidFill>
                <a:hlinkClick r:id="rId3"/>
              </a:rPr>
              <a:t>app.js</a:t>
            </a:r>
            <a:r>
              <a:rPr lang="iw"/>
              <a:t> בלבד יש לתמוך בקריאות נוספות,</a:t>
            </a:r>
            <a:endParaRPr/>
          </a:p>
          <a:p>
            <a:pPr indent="0" lvl="0" marL="0" rtl="1" algn="r">
              <a:spcBef>
                <a:spcPts val="400"/>
              </a:spcBef>
              <a:spcAft>
                <a:spcPts val="0"/>
              </a:spcAft>
              <a:buNone/>
            </a:pPr>
            <a:r>
              <a:rPr lang="iw"/>
              <a:t>על הפרויקט לתמוך בכל פעולות ה crud השונות על הישויות של הפרויקט: קורסים, תלמידים ורישום.</a:t>
            </a:r>
            <a:endParaRPr/>
          </a:p>
          <a:p>
            <a:pPr indent="0" lvl="0" marL="0" rtl="1" algn="r">
              <a:spcBef>
                <a:spcPts val="400"/>
              </a:spcBef>
              <a:spcAft>
                <a:spcPts val="0"/>
              </a:spcAft>
              <a:buNone/>
            </a:pPr>
            <a:r>
              <a:rPr lang="iw"/>
              <a:t>לכל אחת מהישויות יש לתמוך בפעולות הבאות:</a:t>
            </a:r>
            <a:endParaRPr/>
          </a:p>
          <a:p>
            <a:pPr indent="0" lvl="0" marL="0" rtl="0" algn="l">
              <a:spcBef>
                <a:spcPts val="400"/>
              </a:spcBef>
              <a:spcAft>
                <a:spcPts val="0"/>
              </a:spcAft>
              <a:buNone/>
            </a:pPr>
            <a:r>
              <a:rPr lang="iw"/>
              <a:t>get של אוביקט בודד</a:t>
            </a:r>
            <a:endParaRPr/>
          </a:p>
          <a:p>
            <a:pPr indent="0" lvl="0" marL="0" rtl="0" algn="l">
              <a:spcBef>
                <a:spcPts val="400"/>
              </a:spcBef>
              <a:spcAft>
                <a:spcPts val="0"/>
              </a:spcAft>
              <a:buNone/>
            </a:pPr>
            <a:r>
              <a:rPr lang="iw"/>
              <a:t>get של רשימה</a:t>
            </a:r>
            <a:endParaRPr/>
          </a:p>
          <a:p>
            <a:pPr indent="0" lvl="0" marL="0" rtl="0" algn="l">
              <a:spcBef>
                <a:spcPts val="400"/>
              </a:spcBef>
              <a:spcAft>
                <a:spcPts val="0"/>
              </a:spcAft>
              <a:buNone/>
            </a:pPr>
            <a:r>
              <a:rPr lang="iw"/>
              <a:t>post</a:t>
            </a:r>
            <a:endParaRPr/>
          </a:p>
          <a:p>
            <a:pPr indent="0" lvl="0" marL="0" rtl="0" algn="l">
              <a:spcBef>
                <a:spcPts val="400"/>
              </a:spcBef>
              <a:spcAft>
                <a:spcPts val="0"/>
              </a:spcAft>
              <a:buNone/>
            </a:pPr>
            <a:r>
              <a:rPr lang="iw"/>
              <a:t>put </a:t>
            </a:r>
            <a:endParaRPr/>
          </a:p>
          <a:p>
            <a:pPr indent="0" lvl="0" marL="0" rtl="0" algn="l">
              <a:spcBef>
                <a:spcPts val="400"/>
              </a:spcBef>
              <a:spcAft>
                <a:spcPts val="0"/>
              </a:spcAft>
              <a:buNone/>
            </a:pPr>
            <a:r>
              <a:rPr lang="iw"/>
              <a:t>delete</a:t>
            </a:r>
            <a:endParaRPr/>
          </a:p>
          <a:p>
            <a:pPr indent="0" lvl="0" marL="0" rtl="1" algn="r">
              <a:spcBef>
                <a:spcPts val="400"/>
              </a:spcBef>
              <a:spcAft>
                <a:spcPts val="0"/>
              </a:spcAft>
              <a:buNone/>
            </a:pPr>
            <a:r>
              <a:rPr lang="iw"/>
              <a:t>הפרויקט חייב להיות מוגדר בארכיטקטורת rest נכונה.</a:t>
            </a:r>
            <a:endParaRPr/>
          </a:p>
          <a:p>
            <a:pPr indent="0" lvl="0" marL="0" rtl="1" algn="r">
              <a:spcBef>
                <a:spcPts val="400"/>
              </a:spcBef>
              <a:spcAft>
                <a:spcPts val="0"/>
              </a:spcAft>
              <a:buNone/>
            </a:pPr>
            <a:r>
              <a:rPr lang="iw"/>
              <a:t>יש לזכור להוסיף את השורה הנ״ל לפני הגדרת ה routes השונים:</a:t>
            </a:r>
            <a:endParaRPr/>
          </a:p>
          <a:p>
            <a:pPr indent="0" lvl="0" marL="0" rtl="0" algn="l">
              <a:spcBef>
                <a:spcPts val="400"/>
              </a:spcBef>
              <a:spcAft>
                <a:spcPts val="0"/>
              </a:spcAft>
              <a:buNone/>
            </a:pPr>
            <a:r>
              <a:rPr lang="iw"/>
              <a:t>app.use(express.json())</a:t>
            </a:r>
            <a:endParaRPr/>
          </a:p>
          <a:p>
            <a:pPr indent="0" lvl="0" marL="0" rtl="1" algn="r">
              <a:spcBef>
                <a:spcPts val="400"/>
              </a:spcBef>
              <a:spcAft>
                <a:spcPts val="400"/>
              </a:spcAft>
              <a:buNone/>
            </a:pPr>
            <a:r>
              <a:rPr lang="iw"/>
              <a:t>את כל הקריאות יש לבדוק על ידי שימוש בתוכנת postman, על הקריאות להחזיר json בלבד ולא html!</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9"/>
          <p:cNvSpPr txBox="1"/>
          <p:nvPr>
            <p:ph type="title"/>
          </p:nvPr>
        </p:nvSpPr>
        <p:spPr>
          <a:xfrm>
            <a:off x="819150" y="845600"/>
            <a:ext cx="7505700" cy="626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latin typeface="Calibri"/>
                <a:ea typeface="Calibri"/>
                <a:cs typeface="Calibri"/>
                <a:sym typeface="Calibri"/>
              </a:rPr>
              <a:t>משימה - ביצוע 📐</a:t>
            </a:r>
            <a:endParaRPr>
              <a:latin typeface="Calibri"/>
              <a:ea typeface="Calibri"/>
              <a:cs typeface="Calibri"/>
              <a:sym typeface="Calibri"/>
            </a:endParaRPr>
          </a:p>
        </p:txBody>
      </p:sp>
      <p:sp>
        <p:nvSpPr>
          <p:cNvPr id="346" name="Google Shape;346;p49"/>
          <p:cNvSpPr txBox="1"/>
          <p:nvPr>
            <p:ph idx="1" type="body"/>
          </p:nvPr>
        </p:nvSpPr>
        <p:spPr>
          <a:xfrm>
            <a:off x="819150" y="1515875"/>
            <a:ext cx="7505700" cy="33819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יש להשתמש ב ai על מנת ללמוד, להבין וגם לבצע.</a:t>
            </a:r>
            <a:endParaRPr/>
          </a:p>
          <a:p>
            <a:pPr indent="-311150" lvl="0" marL="457200" rtl="1" algn="r">
              <a:spcBef>
                <a:spcPts val="0"/>
              </a:spcBef>
              <a:spcAft>
                <a:spcPts val="0"/>
              </a:spcAft>
              <a:buSzPts val="1300"/>
              <a:buChar char="-"/>
            </a:pPr>
            <a:r>
              <a:rPr lang="iw"/>
              <a:t>כל שורת קוד שנכתבה על ידי ה ai, חובה להבין היטב!</a:t>
            </a:r>
            <a:endParaRPr/>
          </a:p>
          <a:p>
            <a:pPr indent="-311150" lvl="0" marL="457200" rtl="1" algn="r">
              <a:spcBef>
                <a:spcPts val="0"/>
              </a:spcBef>
              <a:spcAft>
                <a:spcPts val="0"/>
              </a:spcAft>
              <a:buSzPts val="1300"/>
              <a:buChar char="-"/>
            </a:pPr>
            <a:r>
              <a:rPr lang="iw"/>
              <a:t>אחרי יצירת הפרויקט הבסיסי, יש להשתמש ב ai כדי לשפר את הקוד, על ידי שאלות בסגנון:</a:t>
            </a:r>
            <a:endParaRPr/>
          </a:p>
          <a:p>
            <a:pPr indent="-298450" lvl="1" marL="914400" rtl="1" algn="r">
              <a:spcBef>
                <a:spcPts val="0"/>
              </a:spcBef>
              <a:spcAft>
                <a:spcPts val="0"/>
              </a:spcAft>
              <a:buSzPts val="1100"/>
              <a:buChar char="-"/>
            </a:pPr>
            <a:r>
              <a:rPr lang="iw"/>
              <a:t>איזה שגיאות עשויות להיות בקוד?</a:t>
            </a:r>
            <a:endParaRPr/>
          </a:p>
          <a:p>
            <a:pPr indent="-298450" lvl="1" marL="914400" rtl="1" algn="r">
              <a:spcBef>
                <a:spcPts val="0"/>
              </a:spcBef>
              <a:spcAft>
                <a:spcPts val="0"/>
              </a:spcAft>
              <a:buSzPts val="1100"/>
              <a:buChar char="-"/>
            </a:pPr>
            <a:r>
              <a:rPr lang="iw"/>
              <a:t>איך אפשר לשפר?</a:t>
            </a:r>
            <a:endParaRPr/>
          </a:p>
          <a:p>
            <a:pPr indent="-298450" lvl="1" marL="914400" rtl="1" algn="r">
              <a:spcBef>
                <a:spcPts val="0"/>
              </a:spcBef>
              <a:spcAft>
                <a:spcPts val="0"/>
              </a:spcAft>
              <a:buSzPts val="1100"/>
              <a:buChar char="-"/>
            </a:pPr>
            <a:r>
              <a:rPr lang="iw"/>
              <a:t>הער לי הערות על מבנה הקוד?</a:t>
            </a:r>
            <a:endParaRPr/>
          </a:p>
          <a:p>
            <a:pPr indent="-311150" lvl="0" marL="457200" rtl="1" algn="r">
              <a:spcBef>
                <a:spcPts val="0"/>
              </a:spcBef>
              <a:spcAft>
                <a:spcPts val="0"/>
              </a:spcAft>
              <a:buSzPts val="1300"/>
              <a:buChar char="-"/>
            </a:pPr>
            <a:r>
              <a:rPr lang="iw"/>
              <a:t>הפרויקט צריך לכלול גם קובץ txt עם פרוט של פרומפטים שונים שנשלחו ל ai ודוגמאות לתשובות.</a:t>
            </a:r>
            <a:endParaRPr/>
          </a:p>
          <a:p>
            <a:pPr indent="-311150" lvl="0" marL="457200" rtl="1" algn="r">
              <a:spcBef>
                <a:spcPts val="0"/>
              </a:spcBef>
              <a:spcAft>
                <a:spcPts val="0"/>
              </a:spcAft>
              <a:buSzPts val="1300"/>
              <a:buChar char="-"/>
            </a:pPr>
            <a:r>
              <a:rPr lang="iw"/>
              <a:t>על כל הקוד להיכתב על ידי ai.</a:t>
            </a:r>
            <a:endParaRPr/>
          </a:p>
          <a:p>
            <a:pPr indent="-311150" lvl="0" marL="457200" rtl="1" algn="r">
              <a:spcBef>
                <a:spcPts val="0"/>
              </a:spcBef>
              <a:spcAft>
                <a:spcPts val="0"/>
              </a:spcAft>
              <a:buSzPts val="1300"/>
              <a:buChar char="-"/>
            </a:pPr>
            <a:r>
              <a:rPr lang="iw"/>
              <a:t>אין לכתוב את כל הקוד בפקודה אחת, תהליך הכתיבה על ידי ai חייב להיות מחולק ל6 שלבים לפחות!</a:t>
            </a:r>
            <a:endParaRPr/>
          </a:p>
          <a:p>
            <a:pPr indent="-311150" lvl="0" marL="457200" rtl="1" algn="r">
              <a:spcBef>
                <a:spcPts val="0"/>
              </a:spcBef>
              <a:spcAft>
                <a:spcPts val="0"/>
              </a:spcAft>
              <a:buSzPts val="1300"/>
              <a:buChar char="-"/>
            </a:pPr>
            <a:r>
              <a:rPr lang="iw"/>
              <a:t>יש להעלות את הקוד בקומיט נוסף בגיט על הפרויט משיעור קודם - קומיט שמבטל ומעדכן את הקוד הקודם, אין צורך לתמוך בשני קודים מקבילים.</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0"/>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1" algn="ctr">
              <a:spcBef>
                <a:spcPts val="0"/>
              </a:spcBef>
              <a:spcAft>
                <a:spcPts val="0"/>
              </a:spcAft>
              <a:buNone/>
            </a:pPr>
            <a:r>
              <a:rPr lang="iw"/>
              <a:t>שיעור 4</a:t>
            </a:r>
            <a:endParaRPr/>
          </a:p>
        </p:txBody>
      </p:sp>
      <p:sp>
        <p:nvSpPr>
          <p:cNvPr id="352" name="Google Shape;352;p50"/>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iw"/>
              <a:t>project architecture</a:t>
            </a:r>
            <a:endParaRPr/>
          </a:p>
          <a:p>
            <a:pPr indent="0" lvl="0" marL="0" rtl="1"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נושאי השיעור</a:t>
            </a:r>
            <a:endParaRPr/>
          </a:p>
        </p:txBody>
      </p:sp>
      <p:sp>
        <p:nvSpPr>
          <p:cNvPr id="358" name="Google Shape;358;p5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w"/>
              <a:t>express router</a:t>
            </a:r>
            <a:endParaRPr/>
          </a:p>
          <a:p>
            <a:pPr indent="-311150" lvl="0" marL="457200" rtl="0" algn="l">
              <a:spcBef>
                <a:spcPts val="0"/>
              </a:spcBef>
              <a:spcAft>
                <a:spcPts val="0"/>
              </a:spcAft>
              <a:buSzPts val="1300"/>
              <a:buChar char="-"/>
            </a:pPr>
            <a:r>
              <a:rPr lang="iw"/>
              <a:t>modules in node</a:t>
            </a:r>
            <a:endParaRPr/>
          </a:p>
          <a:p>
            <a:pPr indent="-311150" lvl="0" marL="457200" rtl="0" algn="l">
              <a:spcBef>
                <a:spcPts val="0"/>
              </a:spcBef>
              <a:spcAft>
                <a:spcPts val="0"/>
              </a:spcAft>
              <a:buSzPts val="1300"/>
              <a:buChar char="-"/>
            </a:pPr>
            <a:r>
              <a:rPr lang="iw"/>
              <a:t>split project to modules</a:t>
            </a:r>
            <a:endParaRPr/>
          </a:p>
          <a:p>
            <a:pPr indent="-311150" lvl="0" marL="457200" rtl="0" algn="l">
              <a:spcBef>
                <a:spcPts val="0"/>
              </a:spcBef>
              <a:spcAft>
                <a:spcPts val="0"/>
              </a:spcAft>
              <a:buSzPts val="1300"/>
              <a:buChar char="-"/>
            </a:pPr>
            <a:r>
              <a:rPr lang="iw"/>
              <a:t>Organize an Express project into folders.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חשיבות ארגון הפרויקט</a:t>
            </a:r>
            <a:endParaRPr>
              <a:latin typeface="Calibri"/>
              <a:ea typeface="Calibri"/>
              <a:cs typeface="Calibri"/>
              <a:sym typeface="Calibri"/>
            </a:endParaRPr>
          </a:p>
        </p:txBody>
      </p:sp>
      <p:sp>
        <p:nvSpPr>
          <p:cNvPr id="364" name="Google Shape;364;p52"/>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עד כה נלמד יצירת שרת בסיסי ב nodejs, שמאפשר ניהול של מערכת של קורסים.</a:t>
            </a:r>
            <a:endParaRPr/>
          </a:p>
          <a:p>
            <a:pPr indent="0" lvl="0" marL="0" rtl="1" algn="r">
              <a:spcBef>
                <a:spcPts val="400"/>
              </a:spcBef>
              <a:spcAft>
                <a:spcPts val="0"/>
              </a:spcAft>
              <a:buNone/>
            </a:pPr>
            <a:r>
              <a:rPr lang="iw"/>
              <a:t>נלמדו סוגי קריאות השרת השונים - crud, והגדרת קריאות שרת בארכיטקטורת Rest.</a:t>
            </a:r>
            <a:endParaRPr/>
          </a:p>
          <a:p>
            <a:pPr indent="0" lvl="0" marL="0" rtl="1" algn="r">
              <a:spcBef>
                <a:spcPts val="400"/>
              </a:spcBef>
              <a:spcAft>
                <a:spcPts val="0"/>
              </a:spcAft>
              <a:buNone/>
            </a:pPr>
            <a:r>
              <a:rPr lang="iw"/>
              <a:t>כמו כן נלמד גם בדיקת צד השרת ע״י תוכנת postman.</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שיעור זה לא יכלול פונקציונליות חדשה של צד השרת, אלא יתמקד בארגון וסדר נכון של צד השרת.</a:t>
            </a:r>
            <a:endParaRPr/>
          </a:p>
          <a:p>
            <a:pPr indent="0" lvl="0" marL="0" rtl="1" algn="r">
              <a:spcBef>
                <a:spcPts val="400"/>
              </a:spcBef>
              <a:spcAft>
                <a:spcPts val="0"/>
              </a:spcAft>
              <a:buNone/>
            </a:pPr>
            <a:r>
              <a:rPr lang="iw"/>
              <a:t>לחלוקה ולארגון מסודר של צד השרת יש משמעות רבה,</a:t>
            </a:r>
            <a:endParaRPr/>
          </a:p>
          <a:p>
            <a:pPr indent="0" lvl="0" marL="0" rtl="1" algn="r">
              <a:spcBef>
                <a:spcPts val="400"/>
              </a:spcBef>
              <a:spcAft>
                <a:spcPts val="0"/>
              </a:spcAft>
              <a:buNone/>
            </a:pPr>
            <a:r>
              <a:rPr lang="iw"/>
              <a:t>ויש קונבנציות ומקובלות מסודרת בארגון צד השרת בעולם התוכנה, שחשוב לעקוב אחריה.</a:t>
            </a:r>
            <a:endParaRPr/>
          </a:p>
          <a:p>
            <a:pPr indent="0" lvl="0" marL="0" rtl="1" algn="r">
              <a:spcBef>
                <a:spcPts val="400"/>
              </a:spcBef>
              <a:spcAft>
                <a:spcPts val="0"/>
              </a:spcAft>
              <a:buNone/>
            </a:pPr>
            <a:r>
              <a:rPr lang="iw"/>
              <a:t>לארגון הקוד לתיקיות מסודרת כפי שילמד בשיעור יש חשיבות רבה, ולא מדובר בענין שולי בכלל!</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עוד נקודה חשובה, ממעקב אחרי שיעורי הבית, חלק מהנושאים שילמדו בשיעור, יש בנות שכבר ממשו בפרויקטים שלהן, ויש בנות שלא. לא היה צורך לממש עד עכשיו.</a:t>
            </a:r>
            <a:endParaRPr/>
          </a:p>
          <a:p>
            <a:pPr indent="0" lvl="0" marL="0" rtl="1" algn="r">
              <a:spcBef>
                <a:spcPts val="400"/>
              </a:spcBef>
              <a:spcAft>
                <a:spcPts val="400"/>
              </a:spcAft>
              <a:buNone/>
            </a:pPr>
            <a:r>
              <a:rPr lang="iw"/>
              <a:t>מי שרואה כפילות כאן עם מה שהיא עשתה, מוזמנת לבדוק אם אכן המימוש שלה הוא לפי הכללים, או שיש מה לשפר בו.</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למה חשוב לחלק את הפרויקט?</a:t>
            </a:r>
            <a:endParaRPr>
              <a:latin typeface="Calibri"/>
              <a:ea typeface="Calibri"/>
              <a:cs typeface="Calibri"/>
              <a:sym typeface="Calibri"/>
            </a:endParaRPr>
          </a:p>
        </p:txBody>
      </p:sp>
      <p:sp>
        <p:nvSpPr>
          <p:cNvPr id="370" name="Google Shape;370;p53"/>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עד כה נלמד יצירת צד שרת בסיסי.</a:t>
            </a:r>
            <a:endParaRPr/>
          </a:p>
          <a:p>
            <a:pPr indent="0" lvl="0" marL="0" rtl="1" algn="r">
              <a:spcBef>
                <a:spcPts val="400"/>
              </a:spcBef>
              <a:spcAft>
                <a:spcPts val="0"/>
              </a:spcAft>
              <a:buNone/>
            </a:pPr>
            <a:r>
              <a:rPr lang="iw"/>
              <a:t>הרבה מהבנות, מימשו את כל הלוגיקה של הפרויקט בקובץ אחד, הלא הוא קובץ </a:t>
            </a:r>
            <a:r>
              <a:rPr lang="iw" u="sng">
                <a:solidFill>
                  <a:schemeClr val="hlink"/>
                </a:solidFill>
                <a:hlinkClick r:id="rId3"/>
              </a:rPr>
              <a:t>app.js</a:t>
            </a:r>
            <a:r>
              <a:rPr lang="iw"/>
              <a:t>,</a:t>
            </a:r>
            <a:endParaRPr/>
          </a:p>
          <a:p>
            <a:pPr indent="0" lvl="0" marL="0" rtl="1" algn="r">
              <a:spcBef>
                <a:spcPts val="400"/>
              </a:spcBef>
              <a:spcAft>
                <a:spcPts val="0"/>
              </a:spcAft>
              <a:buNone/>
            </a:pPr>
            <a:r>
              <a:rPr lang="iw"/>
              <a:t>מלבד המערכים שהוגדרו בקובץ נפרד.</a:t>
            </a:r>
            <a:endParaRPr/>
          </a:p>
          <a:p>
            <a:pPr indent="0" lvl="0" marL="0" rtl="1" algn="r">
              <a:spcBef>
                <a:spcPts val="400"/>
              </a:spcBef>
              <a:spcAft>
                <a:spcPts val="0"/>
              </a:spcAft>
              <a:buNone/>
            </a:pPr>
            <a:r>
              <a:rPr lang="iw"/>
              <a:t>התוצאה: קובץ עמוס שמגדיר 9 קריאות שרת לפחות. בפרויקט דוגמא קטן.</a:t>
            </a:r>
            <a:endParaRPr/>
          </a:p>
          <a:p>
            <a:pPr indent="0" lvl="0" marL="0" rtl="1" algn="r">
              <a:spcBef>
                <a:spcPts val="400"/>
              </a:spcBef>
              <a:spcAft>
                <a:spcPts val="0"/>
              </a:spcAft>
              <a:buNone/>
            </a:pPr>
            <a:r>
              <a:rPr lang="iw"/>
              <a:t>פרויקט ״אמיתי״ יכלול בדרך כלל מאות קריאות שרת ויותר, שמלאות בלוגיקה רבה, לא רק שליפות ממערכים והחזרת תשובה.</a:t>
            </a:r>
            <a:endParaRPr/>
          </a:p>
          <a:p>
            <a:pPr indent="0" lvl="0" marL="0" rtl="1" algn="r">
              <a:spcBef>
                <a:spcPts val="400"/>
              </a:spcBef>
              <a:spcAft>
                <a:spcPts val="0"/>
              </a:spcAft>
              <a:buNone/>
            </a:pPr>
            <a:r>
              <a:rPr lang="iw"/>
              <a:t>להגדיר את הכל בקובץ </a:t>
            </a:r>
            <a:r>
              <a:rPr lang="iw" u="sng">
                <a:solidFill>
                  <a:schemeClr val="hlink"/>
                </a:solidFill>
                <a:hlinkClick r:id="rId4"/>
              </a:rPr>
              <a:t>app.js</a:t>
            </a:r>
            <a:r>
              <a:rPr lang="iw"/>
              <a:t> יגרום לקובץ ענק, עם עשרות אלפי שורות קוד, שלא מאפשר פתרון באגים, מעקב אחרי הקוד, ופיתוח ברור. הסדר בקבצים הוא קריטי.</a:t>
            </a:r>
            <a:endParaRPr/>
          </a:p>
          <a:p>
            <a:pPr indent="0" lvl="0" marL="0" rtl="1" algn="r">
              <a:spcBef>
                <a:spcPts val="400"/>
              </a:spcBef>
              <a:spcAft>
                <a:spcPts val="0"/>
              </a:spcAft>
              <a:buNone/>
            </a:pPr>
            <a:r>
              <a:rPr lang="iw"/>
              <a:t>וב express יש סטנדרטים ברורים איך נכון לחלק את הפרויקט.</a:t>
            </a:r>
            <a:endParaRPr/>
          </a:p>
          <a:p>
            <a:pPr indent="0" lvl="0" marL="0" rtl="1" algn="r">
              <a:spcBef>
                <a:spcPts val="400"/>
              </a:spcBef>
              <a:spcAft>
                <a:spcPts val="0"/>
              </a:spcAft>
              <a:buNone/>
            </a:pPr>
            <a:r>
              <a:rPr lang="iw"/>
              <a:t>בקשי מה ai שיסביר לך עוד על חלוקת פרויקט</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400"/>
              </a:spcAft>
              <a:buNone/>
            </a:pPr>
            <a:r>
              <a:rPr lang="iw"/>
              <a:t>What are the advantages of splitting a Node.js project into multiple files? </a:t>
            </a:r>
            <a:br>
              <a:rPr lang="iw"/>
            </a:br>
            <a:r>
              <a:rPr lang="iw"/>
              <a:t>Give practical examples for beginners.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modules?</a:t>
            </a:r>
            <a:endParaRPr>
              <a:latin typeface="Calibri"/>
              <a:ea typeface="Calibri"/>
              <a:cs typeface="Calibri"/>
              <a:sym typeface="Calibri"/>
            </a:endParaRPr>
          </a:p>
        </p:txBody>
      </p:sp>
      <p:sp>
        <p:nvSpPr>
          <p:cNvPr id="376" name="Google Shape;376;p54"/>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t/>
            </a:r>
            <a:endParaRPr/>
          </a:p>
          <a:p>
            <a:pPr indent="0" lvl="0" marL="0" rtl="1" algn="r">
              <a:spcBef>
                <a:spcPts val="400"/>
              </a:spcBef>
              <a:spcAft>
                <a:spcPts val="0"/>
              </a:spcAft>
              <a:buNone/>
            </a:pPr>
            <a:r>
              <a:rPr lang="iw"/>
              <a:t>בשפת </a:t>
            </a:r>
            <a:r>
              <a:rPr lang="iw" u="sng">
                <a:solidFill>
                  <a:schemeClr val="hlink"/>
                </a:solidFill>
                <a:hlinkClick r:id="rId3"/>
              </a:rPr>
              <a:t>node.js</a:t>
            </a:r>
            <a:r>
              <a:rPr lang="iw"/>
              <a:t> כל קובץ קוד - כל קובץ js מכונה module. בכל מודול יכולים להיות מוגדרים פונקציות, משתנים, וכו׳.</a:t>
            </a:r>
            <a:endParaRPr/>
          </a:p>
          <a:p>
            <a:pPr indent="0" lvl="0" marL="0" rtl="1" algn="r">
              <a:spcBef>
                <a:spcPts val="400"/>
              </a:spcBef>
              <a:spcAft>
                <a:spcPts val="0"/>
              </a:spcAft>
              <a:buNone/>
            </a:pPr>
            <a:r>
              <a:rPr lang="iw"/>
              <a:t>באופן רגיל, ניתן להשתמש בפונקציות רק בתוך אותו המודול. אולם, ניתן ״לייצא״ פונקציות או משתנים - להגדיר על פונקציות ספציפיות שאפשר להשתמש בהם גם מחוץ לאותו המודול, במודולים אחרים. באותה מידה, כל מודול יכול לייבא משתנים / פונקציות ממודולים אחרים ולהשתמש בהם (כמובן, רק משתנים שהוגדרו כמשתנים שאפשר להשתמש בהם מחוץ למודול) בצורה זו ניתן לחלק פרויקט  node לקבצים שונים.</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a:t>
            </a:r>
            <a:r>
              <a:rPr lang="iw"/>
              <a:t>מודולים</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400"/>
              </a:spcAft>
              <a:buNone/>
            </a:pPr>
            <a:r>
              <a:rPr lang="iw"/>
              <a:t>Explain Node.js modules to a beginner. </a:t>
            </a:r>
            <a:br>
              <a:rPr lang="iw"/>
            </a:br>
            <a:r>
              <a:rPr lang="iw"/>
              <a:t>Show how one file exports data and another file imports it using import.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עקרונות בעיצוב פרויקט</a:t>
            </a:r>
            <a:endParaRPr>
              <a:latin typeface="Calibri"/>
              <a:ea typeface="Calibri"/>
              <a:cs typeface="Calibri"/>
              <a:sym typeface="Calibri"/>
            </a:endParaRPr>
          </a:p>
        </p:txBody>
      </p:sp>
      <p:sp>
        <p:nvSpPr>
          <p:cNvPr id="382" name="Google Shape;382;p55"/>
          <p:cNvSpPr txBox="1"/>
          <p:nvPr>
            <p:ph idx="1" type="body"/>
          </p:nvPr>
        </p:nvSpPr>
        <p:spPr>
          <a:xfrm>
            <a:off x="819150" y="1420825"/>
            <a:ext cx="7505700" cy="3364500"/>
          </a:xfrm>
          <a:prstGeom prst="rect">
            <a:avLst/>
          </a:prstGeom>
        </p:spPr>
        <p:txBody>
          <a:bodyPr anchorCtr="0" anchor="t" bIns="91425" lIns="91425" spcFirstLastPara="1" rIns="91425" wrap="square" tIns="91425">
            <a:normAutofit lnSpcReduction="20000"/>
          </a:bodyPr>
          <a:lstStyle/>
          <a:p>
            <a:pPr indent="0" lvl="0" marL="0" rtl="1" algn="r">
              <a:spcBef>
                <a:spcPts val="0"/>
              </a:spcBef>
              <a:spcAft>
                <a:spcPts val="0"/>
              </a:spcAft>
              <a:buNone/>
            </a:pPr>
            <a:r>
              <a:rPr lang="iw"/>
              <a:t>ככל והפרויקט גדל, החשיבות לחלוקה הולכת וגדלה.</a:t>
            </a:r>
            <a:endParaRPr/>
          </a:p>
          <a:p>
            <a:pPr indent="0" lvl="0" marL="0" rtl="1" algn="r">
              <a:spcBef>
                <a:spcPts val="400"/>
              </a:spcBef>
              <a:spcAft>
                <a:spcPts val="0"/>
              </a:spcAft>
              <a:buNone/>
            </a:pPr>
            <a:r>
              <a:rPr lang="iw"/>
              <a:t>בחלוקה נכונה לקבצים ותיקיות, חשוב להקפיד על העיקרון הבא:</a:t>
            </a:r>
            <a:endParaRPr/>
          </a:p>
          <a:p>
            <a:pPr indent="0" lvl="0" marL="0" rtl="0" algn="l">
              <a:spcBef>
                <a:spcPts val="400"/>
              </a:spcBef>
              <a:spcAft>
                <a:spcPts val="0"/>
              </a:spcAft>
              <a:buNone/>
            </a:pPr>
            <a:r>
              <a:rPr lang="iw"/>
              <a:t>one responsibility per file</a:t>
            </a:r>
            <a:endParaRPr/>
          </a:p>
          <a:p>
            <a:pPr indent="0" lvl="0" marL="0" rtl="1" algn="r">
              <a:spcBef>
                <a:spcPts val="400"/>
              </a:spcBef>
              <a:spcAft>
                <a:spcPts val="0"/>
              </a:spcAft>
              <a:buNone/>
            </a:pPr>
            <a:r>
              <a:rPr lang="iw"/>
              <a:t>לכל קובץ תפקיד - אחריות אחד.</a:t>
            </a:r>
            <a:endParaRPr/>
          </a:p>
          <a:p>
            <a:pPr indent="0" lvl="0" marL="0" rtl="1" algn="r">
              <a:spcBef>
                <a:spcPts val="400"/>
              </a:spcBef>
              <a:spcAft>
                <a:spcPts val="0"/>
              </a:spcAft>
              <a:buNone/>
            </a:pPr>
            <a:r>
              <a:rPr lang="iw"/>
              <a:t>קובץ אחד לא ינהל גישות ל db, וגם לוגיקות שקשורות לנתונים וגם יחזיר אותם למשתמש.</a:t>
            </a:r>
            <a:endParaRPr/>
          </a:p>
          <a:p>
            <a:pPr indent="0" lvl="0" marL="0" rtl="1" algn="r">
              <a:spcBef>
                <a:spcPts val="400"/>
              </a:spcBef>
              <a:spcAft>
                <a:spcPts val="0"/>
              </a:spcAft>
              <a:buNone/>
            </a:pPr>
            <a:r>
              <a:rPr lang="iw"/>
              <a:t>קובץ אחד לא ינהל את הנתונים של הקורסים, וגם של המורים.</a:t>
            </a:r>
            <a:endParaRPr/>
          </a:p>
          <a:p>
            <a:pPr indent="0" lvl="0" marL="0" rtl="1" algn="r">
              <a:spcBef>
                <a:spcPts val="400"/>
              </a:spcBef>
              <a:spcAft>
                <a:spcPts val="0"/>
              </a:spcAft>
              <a:buNone/>
            </a:pPr>
            <a:r>
              <a:rPr lang="iw"/>
              <a:t>תמיד, על כל קובץ, צריכה להיות תשובה אחת וברורה לשאלה: מה תפקידו של הקובץ הזה? (שלא כוללת את המילה וגם…)</a:t>
            </a:r>
            <a:endParaRPr/>
          </a:p>
          <a:p>
            <a:pPr indent="0" lvl="0" marL="0" rtl="1" algn="r">
              <a:spcBef>
                <a:spcPts val="400"/>
              </a:spcBef>
              <a:spcAft>
                <a:spcPts val="0"/>
              </a:spcAft>
              <a:buNone/>
            </a:pPr>
            <a:r>
              <a:rPr lang="iw"/>
              <a:t>מקובל לחלק את הפרויקט לתיקיות לפי תחומי אחריות, לדוגמא: תיקיה לניהול הנתונים והגישה ל db, תיקיה בשביל הגדרות הקריאות והניתובים, ובתוך כל תיקיה יש קבצים רבים לפי הישויות השונות, לדוגמא, קובץ לניהול טבלת קורסים, קובץ לניהול טבלת מורים וכו׳.</a:t>
            </a:r>
            <a:endParaRPr/>
          </a:p>
          <a:p>
            <a:pPr indent="0" lvl="0" marL="0" rtl="1" algn="r">
              <a:spcBef>
                <a:spcPts val="400"/>
              </a:spcBef>
              <a:spcAft>
                <a:spcPts val="0"/>
              </a:spcAft>
              <a:buNone/>
            </a:pPr>
            <a:r>
              <a:rPr lang="iw"/>
              <a:t>בקשי מה ai הסבר נוסף על חלוקה נכונה של הפרויקט</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400"/>
              </a:spcAft>
              <a:buNone/>
            </a:pPr>
            <a:r>
              <a:rPr lang="iw"/>
              <a:t>What does "one responsibility per file" mean in software development? </a:t>
            </a:r>
            <a:br>
              <a:rPr lang="iw"/>
            </a:br>
            <a:r>
              <a:rPr lang="iw"/>
              <a:t>Explain it using a beginner-friendly Express project.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 המטרה של קובץ app.js</a:t>
            </a:r>
            <a:endParaRPr>
              <a:latin typeface="Calibri"/>
              <a:ea typeface="Calibri"/>
              <a:cs typeface="Calibri"/>
              <a:sym typeface="Calibri"/>
            </a:endParaRPr>
          </a:p>
        </p:txBody>
      </p:sp>
      <p:sp>
        <p:nvSpPr>
          <p:cNvPr id="388" name="Google Shape;388;p56"/>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t/>
            </a:r>
            <a:endParaRPr/>
          </a:p>
          <a:p>
            <a:pPr indent="0" lvl="0" marL="0" rtl="1" algn="r">
              <a:spcBef>
                <a:spcPts val="400"/>
              </a:spcBef>
              <a:spcAft>
                <a:spcPts val="0"/>
              </a:spcAft>
              <a:buNone/>
            </a:pPr>
            <a:r>
              <a:rPr lang="iw"/>
              <a:t>קובץ </a:t>
            </a:r>
            <a:r>
              <a:rPr lang="iw" u="sng">
                <a:solidFill>
                  <a:schemeClr val="hlink"/>
                </a:solidFill>
                <a:hlinkClick r:id="rId3"/>
              </a:rPr>
              <a:t>app.js</a:t>
            </a:r>
            <a:r>
              <a:rPr lang="iw"/>
              <a:t> הוא הקובץ הראשי של האפליקציה. הוא יוצר אפליקצית nodejs, ומריץ אותה.</a:t>
            </a:r>
            <a:endParaRPr/>
          </a:p>
          <a:p>
            <a:pPr indent="0" lvl="0" marL="0" rtl="1" algn="r">
              <a:spcBef>
                <a:spcPts val="400"/>
              </a:spcBef>
              <a:spcAft>
                <a:spcPts val="0"/>
              </a:spcAft>
              <a:buNone/>
            </a:pPr>
            <a:r>
              <a:rPr lang="iw"/>
              <a:t>קובץ זה אמור לעסוק בהתנעת האפליקציה בלבד (אתחול של קבצי קונפיגורציה, ייבוא פונקציות ממודולים שונים, איתחול אפליקצית express וכדו׳), ולא לכלול לוגיקה פנימית של האפליקציה - כדוגמת הגדרת routes שונים.</a:t>
            </a:r>
            <a:endParaRPr/>
          </a:p>
          <a:p>
            <a:pPr indent="0" lvl="0" marL="0" rtl="1" algn="r">
              <a:spcBef>
                <a:spcPts val="400"/>
              </a:spcBef>
              <a:spcAft>
                <a:spcPts val="0"/>
              </a:spcAft>
              <a:buNone/>
            </a:pPr>
            <a:r>
              <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התפקיד של קובץ app.js</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400"/>
              </a:spcAft>
              <a:buNone/>
            </a:pPr>
            <a:r>
              <a:rPr lang="iw"/>
              <a:t>What is usually the responsibility of app.js in an Express application? </a:t>
            </a:r>
            <a:br>
              <a:rPr lang="iw"/>
            </a:br>
            <a:r>
              <a:rPr lang="iw"/>
              <a:t>What kinds of code should stay in app.js and what should be moved elsewhere?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express.Router?</a:t>
            </a:r>
            <a:endParaRPr>
              <a:latin typeface="Calibri"/>
              <a:ea typeface="Calibri"/>
              <a:cs typeface="Calibri"/>
              <a:sym typeface="Calibri"/>
            </a:endParaRPr>
          </a:p>
        </p:txBody>
      </p:sp>
      <p:sp>
        <p:nvSpPr>
          <p:cNvPr id="394" name="Google Shape;394;p57"/>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85000" lnSpcReduction="20000"/>
          </a:bodyPr>
          <a:lstStyle/>
          <a:p>
            <a:pPr indent="0" lvl="0" marL="0" rtl="1" algn="r">
              <a:spcBef>
                <a:spcPts val="0"/>
              </a:spcBef>
              <a:spcAft>
                <a:spcPts val="0"/>
              </a:spcAft>
              <a:buNone/>
            </a:pPr>
            <a:r>
              <a:rPr lang="iw"/>
              <a:t>עד כה, כל הגדרות ה routes היו מוגדרות בקובץ </a:t>
            </a:r>
            <a:r>
              <a:rPr lang="iw" u="sng">
                <a:solidFill>
                  <a:schemeClr val="hlink"/>
                </a:solidFill>
                <a:hlinkClick r:id="rId3"/>
              </a:rPr>
              <a:t>app.js</a:t>
            </a:r>
            <a:r>
              <a:rPr lang="iw"/>
              <a:t>. הגדרות הניווטים והקריאות הוגדרו ישר על אפליקצית  express, לדוגמא:</a:t>
            </a:r>
            <a:endParaRPr/>
          </a:p>
          <a:p>
            <a:pPr indent="0" lvl="0" marL="0" rtl="0" algn="l">
              <a:spcBef>
                <a:spcPts val="400"/>
              </a:spcBef>
              <a:spcAft>
                <a:spcPts val="0"/>
              </a:spcAft>
              <a:buNone/>
            </a:pPr>
            <a:r>
              <a:rPr lang="iw"/>
              <a:t>app.get(‘/course’ (req, res) =&gt; {...})</a:t>
            </a:r>
            <a:endParaRPr/>
          </a:p>
          <a:p>
            <a:pPr indent="0" lvl="0" marL="0" rtl="1" algn="r">
              <a:spcBef>
                <a:spcPts val="400"/>
              </a:spcBef>
              <a:spcAft>
                <a:spcPts val="0"/>
              </a:spcAft>
              <a:buNone/>
            </a:pPr>
            <a:r>
              <a:rPr lang="iw"/>
              <a:t>אולם, קובץ </a:t>
            </a:r>
            <a:r>
              <a:rPr lang="iw" u="sng">
                <a:solidFill>
                  <a:schemeClr val="hlink"/>
                </a:solidFill>
                <a:hlinkClick r:id="rId4"/>
              </a:rPr>
              <a:t>app.js</a:t>
            </a:r>
            <a:r>
              <a:rPr lang="iw"/>
              <a:t> לא אמור להכיל הגדרות כאלה! כל הגדרות הניווט אמורות להיות בקבצים אחרים.</a:t>
            </a:r>
            <a:endParaRPr/>
          </a:p>
          <a:p>
            <a:pPr indent="0" lvl="0" marL="0" rtl="1" algn="r">
              <a:spcBef>
                <a:spcPts val="400"/>
              </a:spcBef>
              <a:spcAft>
                <a:spcPts val="0"/>
              </a:spcAft>
              <a:buNone/>
            </a:pPr>
            <a:r>
              <a:rPr lang="iw"/>
              <a:t>מקובל ליצור תיקית routes, ובתוכה ליצור קובץ נפרד עבור כל ישות: לדוגמא, מורים, קורסים, תלמידים. כל קובץ מגדיר את ה routes - קריאות - ניווטים הקשורים לאותה הישות.</a:t>
            </a:r>
            <a:endParaRPr/>
          </a:p>
          <a:p>
            <a:pPr indent="0" lvl="0" marL="0" rtl="1" algn="r">
              <a:spcBef>
                <a:spcPts val="400"/>
              </a:spcBef>
              <a:spcAft>
                <a:spcPts val="0"/>
              </a:spcAft>
              <a:buNone/>
            </a:pPr>
            <a:r>
              <a:rPr lang="iw"/>
              <a:t>אבל, איך ניתן יהיה להגדיר שם את הניווט? המשתנה app מוגדר בקובץ </a:t>
            </a:r>
            <a:r>
              <a:rPr lang="iw" u="sng">
                <a:solidFill>
                  <a:schemeClr val="hlink"/>
                </a:solidFill>
                <a:hlinkClick r:id="rId5"/>
              </a:rPr>
              <a:t>app.js</a:t>
            </a:r>
            <a:r>
              <a:rPr lang="iw"/>
              <a:t>, ולא ניתן להשתמש בו בקבצים בתיקיית routes.</a:t>
            </a:r>
            <a:endParaRPr/>
          </a:p>
          <a:p>
            <a:pPr indent="0" lvl="0" marL="0" rtl="1" algn="r">
              <a:spcBef>
                <a:spcPts val="400"/>
              </a:spcBef>
              <a:spcAft>
                <a:spcPts val="0"/>
              </a:spcAft>
              <a:buNone/>
            </a:pPr>
            <a:r>
              <a:rPr lang="iw"/>
              <a:t>לכן, ב express מוגדרת הפונקציה express.Router. דרכו ניתן להגדיר ניווטים בקבצים שונים באפליקציה.</a:t>
            </a:r>
            <a:endParaRPr/>
          </a:p>
          <a:p>
            <a:pPr indent="0" lvl="0" marL="0" rtl="1" algn="r">
              <a:spcBef>
                <a:spcPts val="400"/>
              </a:spcBef>
              <a:spcAft>
                <a:spcPts val="0"/>
              </a:spcAft>
              <a:buNone/>
            </a:pPr>
            <a:r>
              <a:rPr lang="iw"/>
              <a:t>את ההגדרות שהוגדרו בקבצים הנפרדים יש לייצא, ולייבא בקובץ </a:t>
            </a:r>
            <a:r>
              <a:rPr lang="iw" u="sng">
                <a:solidFill>
                  <a:schemeClr val="hlink"/>
                </a:solidFill>
                <a:hlinkClick r:id="rId6"/>
              </a:rPr>
              <a:t>app.js</a:t>
            </a:r>
            <a:r>
              <a:rPr lang="iw"/>
              <a:t>.</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השימוש ב express.router. שימי לב, יש לבקש גם הסבר על החשיבות שלו, וגם הסברים מפורטים וברורים איך להשתמש בו, ואיך לארגן את הקוד בזמן השימוש בו.</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Explain Express Router to a beginner.</a:t>
            </a:r>
            <a:br>
              <a:rPr lang="iw"/>
            </a:br>
            <a:r>
              <a:rPr lang="iw"/>
              <a:t> Why is Express Router useful in larger applications?</a:t>
            </a:r>
            <a:endParaRPr/>
          </a:p>
          <a:p>
            <a:pPr indent="0" lvl="0" marL="0" rtl="0" algn="l">
              <a:spcBef>
                <a:spcPts val="400"/>
              </a:spcBef>
              <a:spcAft>
                <a:spcPts val="0"/>
              </a:spcAft>
              <a:buNone/>
            </a:pPr>
            <a:r>
              <a:rPr lang="iw"/>
              <a:t>Show the smallest possible Express Router example. Explain every line of code.</a:t>
            </a:r>
            <a:endParaRPr/>
          </a:p>
          <a:p>
            <a:pPr indent="0" lvl="0" marL="0" rtl="0" algn="l">
              <a:spcBef>
                <a:spcPts val="400"/>
              </a:spcBef>
              <a:spcAft>
                <a:spcPts val="400"/>
              </a:spcAft>
              <a:buNone/>
            </a:pPr>
            <a:r>
              <a:rPr lang="iw"/>
              <a:t>Explain app.use() in Express. </a:t>
            </a:r>
            <a:br>
              <a:rPr lang="iw"/>
            </a:br>
            <a:r>
              <a:rPr lang="iw"/>
              <a:t>Show how to connect a router to an Express application. </a:t>
            </a:r>
            <a:br>
              <a:rPr lang="iw"/>
            </a:br>
            <a:r>
              <a:rPr lang="iw"/>
              <a:t>Explain what happens when a request arrives.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מבנה הפרויקט בפועל</a:t>
            </a:r>
            <a:endParaRPr>
              <a:latin typeface="Calibri"/>
              <a:ea typeface="Calibri"/>
              <a:cs typeface="Calibri"/>
              <a:sym typeface="Calibri"/>
            </a:endParaRPr>
          </a:p>
        </p:txBody>
      </p:sp>
      <p:sp>
        <p:nvSpPr>
          <p:cNvPr id="400" name="Google Shape;400;p58"/>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החל משקופית זו ואילך, נתמקד בתיקיות השונות שהפרויקט מורכב מהן. לכל תיקיה יש מטרה ותפקיד מוגדרים.</a:t>
            </a:r>
            <a:endParaRPr/>
          </a:p>
          <a:p>
            <a:pPr indent="0" lvl="0" marL="0" rtl="1" algn="r">
              <a:spcBef>
                <a:spcPts val="400"/>
              </a:spcBef>
              <a:spcAft>
                <a:spcPts val="0"/>
              </a:spcAft>
              <a:buNone/>
            </a:pPr>
            <a:r>
              <a:rPr lang="iw"/>
              <a:t>מבנה בסיסי של פרויקט הוא תיקיית הפרויקט, ובתוכה מספר קבצים, החשובים בהם הם קבצי </a:t>
            </a:r>
            <a:r>
              <a:rPr lang="iw" u="sng">
                <a:solidFill>
                  <a:schemeClr val="hlink"/>
                </a:solidFill>
                <a:hlinkClick r:id="rId3"/>
              </a:rPr>
              <a:t>app.js</a:t>
            </a:r>
            <a:r>
              <a:rPr lang="iw"/>
              <a:t> ו package.json. במקביל, מספר תיקיות שונות, כל תיקיה למטרה ספציפית.</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בשקופיות הבאות יתוארו התיקיות הבסיסיות המרכיבות את הפרויקט.</a:t>
            </a:r>
            <a:endParaRPr/>
          </a:p>
          <a:p>
            <a:pPr indent="0" lvl="0" marL="0" rtl="1" algn="r">
              <a:spcBef>
                <a:spcPts val="400"/>
              </a:spcBef>
              <a:spcAft>
                <a:spcPts val="0"/>
              </a:spcAft>
              <a:buNone/>
            </a:pPr>
            <a:r>
              <a:rPr lang="iw"/>
              <a:t>דוגמא למבנה הסופי (מכיל רק חלק מהקבצים כמובן)</a:t>
            </a:r>
            <a:endParaRPr/>
          </a:p>
          <a:p>
            <a:pPr indent="0" lvl="0" marL="0" rtl="1" algn="r">
              <a:spcBef>
                <a:spcPts val="400"/>
              </a:spcBef>
              <a:spcAft>
                <a:spcPts val="400"/>
              </a:spcAft>
              <a:buNone/>
            </a:pPr>
            <a:r>
              <a:t/>
            </a:r>
            <a:endParaRPr/>
          </a:p>
        </p:txBody>
      </p:sp>
      <p:pic>
        <p:nvPicPr>
          <p:cNvPr id="401" name="Google Shape;401;p58"/>
          <p:cNvPicPr preferRelativeResize="0"/>
          <p:nvPr/>
        </p:nvPicPr>
        <p:blipFill>
          <a:blip r:embed="rId4">
            <a:alphaModFix/>
          </a:blip>
          <a:stretch>
            <a:fillRect/>
          </a:stretch>
        </p:blipFill>
        <p:spPr>
          <a:xfrm>
            <a:off x="1208275" y="2451700"/>
            <a:ext cx="1897225" cy="238055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תיקיית data - שכבת הנתונים</a:t>
            </a:r>
            <a:endParaRPr>
              <a:latin typeface="Calibri"/>
              <a:ea typeface="Calibri"/>
              <a:cs typeface="Calibri"/>
              <a:sym typeface="Calibri"/>
            </a:endParaRPr>
          </a:p>
        </p:txBody>
      </p:sp>
      <p:sp>
        <p:nvSpPr>
          <p:cNvPr id="407" name="Google Shape;407;p59"/>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תיקייה זו מיועדת בשביל לנהל את כל שכבת הנתונים של הפרויקט. בפרויקטים ״אמיתיים״ בדרך כלל, בתיקייה זו ישבו הקבצים של החיבור ל database, הממפים בין טבלאות לקוד הפרויקט.</a:t>
            </a:r>
            <a:endParaRPr/>
          </a:p>
          <a:p>
            <a:pPr indent="0" lvl="0" marL="0" rtl="1" algn="r">
              <a:spcBef>
                <a:spcPts val="400"/>
              </a:spcBef>
              <a:spcAft>
                <a:spcPts val="0"/>
              </a:spcAft>
              <a:buNone/>
            </a:pPr>
            <a:r>
              <a:rPr lang="iw"/>
              <a:t>בפרויקט שלנו, בפרויקט זה ימוקמו הקבצים המגדירים את המערכים של הנתונים שהוגדרו בשיעור 2.</a:t>
            </a:r>
            <a:endParaRPr/>
          </a:p>
          <a:p>
            <a:pPr indent="0" lvl="0" marL="0" rtl="1" algn="r">
              <a:spcBef>
                <a:spcPts val="400"/>
              </a:spcBef>
              <a:spcAft>
                <a:spcPts val="0"/>
              </a:spcAft>
              <a:buNone/>
            </a:pPr>
            <a:r>
              <a:rPr lang="iw"/>
              <a:t>שכבה זו מיועדת לאחסון data בלבד. לא כוללת לוגיקה ופונקציות למינהן.</a:t>
            </a:r>
            <a:endParaRPr/>
          </a:p>
          <a:p>
            <a:pPr indent="0" lvl="0" marL="0" rtl="1" algn="r">
              <a:spcBef>
                <a:spcPts val="400"/>
              </a:spcBef>
              <a:spcAft>
                <a:spcPts val="0"/>
              </a:spcAft>
              <a:buNone/>
            </a:pPr>
            <a:r>
              <a:rPr lang="iw"/>
              <a:t>מגדירה את המערכים ומייצאת אותן, וזהו.</a:t>
            </a:r>
            <a:endParaRPr/>
          </a:p>
          <a:p>
            <a:pPr indent="0" lvl="0" marL="0" rtl="1" algn="r">
              <a:spcBef>
                <a:spcPts val="400"/>
              </a:spcBef>
              <a:spcAft>
                <a:spcPts val="0"/>
              </a:spcAft>
              <a:buNone/>
            </a:pPr>
            <a:r>
              <a:rPr lang="iw"/>
              <a:t>בהמשך ילמד כיצד להגדיר שכבה זו כאשר יש חיבור אמיתי ל db.</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שכבת ה data</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In a beginner Express project without a database, </a:t>
            </a:r>
            <a:endParaRPr/>
          </a:p>
          <a:p>
            <a:pPr indent="0" lvl="0" marL="0" rtl="0" algn="l">
              <a:spcBef>
                <a:spcPts val="400"/>
              </a:spcBef>
              <a:spcAft>
                <a:spcPts val="0"/>
              </a:spcAft>
              <a:buNone/>
            </a:pPr>
            <a:r>
              <a:rPr lang="iw"/>
              <a:t>what is the responsibility of the data layer? </a:t>
            </a:r>
            <a:endParaRPr/>
          </a:p>
          <a:p>
            <a:pPr indent="0" lvl="0" marL="0" rtl="0" algn="l">
              <a:spcBef>
                <a:spcPts val="400"/>
              </a:spcBef>
              <a:spcAft>
                <a:spcPts val="400"/>
              </a:spcAft>
              <a:buNone/>
            </a:pPr>
            <a:r>
              <a:rPr lang="iw"/>
              <a:t>Should Express routes be written inside the data layer? Explain why.</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תיקיית services - שכבת הלוגיקה</a:t>
            </a:r>
            <a:endParaRPr>
              <a:latin typeface="Calibri"/>
              <a:ea typeface="Calibri"/>
              <a:cs typeface="Calibri"/>
              <a:sym typeface="Calibri"/>
            </a:endParaRPr>
          </a:p>
        </p:txBody>
      </p:sp>
      <p:sp>
        <p:nvSpPr>
          <p:cNvPr id="413" name="Google Shape;413;p60"/>
          <p:cNvSpPr txBox="1"/>
          <p:nvPr>
            <p:ph idx="1" type="body"/>
          </p:nvPr>
        </p:nvSpPr>
        <p:spPr>
          <a:xfrm>
            <a:off x="819150" y="1420825"/>
            <a:ext cx="7505700" cy="3364500"/>
          </a:xfrm>
          <a:prstGeom prst="rect">
            <a:avLst/>
          </a:prstGeom>
        </p:spPr>
        <p:txBody>
          <a:bodyPr anchorCtr="0" anchor="t" bIns="91425" lIns="91425" spcFirstLastPara="1" rIns="91425" wrap="square" tIns="91425">
            <a:normAutofit lnSpcReduction="20000"/>
          </a:bodyPr>
          <a:lstStyle/>
          <a:p>
            <a:pPr indent="0" lvl="0" marL="0" rtl="1" algn="r">
              <a:spcBef>
                <a:spcPts val="0"/>
              </a:spcBef>
              <a:spcAft>
                <a:spcPts val="0"/>
              </a:spcAft>
              <a:buNone/>
            </a:pPr>
            <a:r>
              <a:rPr lang="iw"/>
              <a:t>שכבה זו מכילה את ה ״business logic״ של האפליקציה. כלומר - את כל הלוגיקה המרכזית של האפליקציה.</a:t>
            </a:r>
            <a:endParaRPr/>
          </a:p>
          <a:p>
            <a:pPr indent="0" lvl="0" marL="0" rtl="1" algn="r">
              <a:spcBef>
                <a:spcPts val="400"/>
              </a:spcBef>
              <a:spcAft>
                <a:spcPts val="0"/>
              </a:spcAft>
              <a:buNone/>
            </a:pPr>
            <a:r>
              <a:rPr lang="iw"/>
              <a:t>כל הלוגיקה, כולל סינונים, שליפות, הוספות, חישובים, ולידציות, וכו׳ - שייכים לשכבה זו.</a:t>
            </a:r>
            <a:endParaRPr/>
          </a:p>
          <a:p>
            <a:pPr indent="0" lvl="0" marL="0" rtl="1" algn="r">
              <a:spcBef>
                <a:spcPts val="400"/>
              </a:spcBef>
              <a:spcAft>
                <a:spcPts val="0"/>
              </a:spcAft>
              <a:buNone/>
            </a:pPr>
            <a:r>
              <a:rPr lang="iw"/>
              <a:t>שכבה זו לא מתעסקת עם החזרת המידע למשתמש, ולא עם הגדרות ניווטים. המשתנים req, res שבאו לידי שימוש בשיעורים קודמים לא נמצאים בשימוש כאן כלל. קבצים אלו מתעסקים עם לוגיקה ״טהורה״. הם שולפים מידע מקבצי המידע, ומחזירים מידע נקי למי שקרא לפונקציות.</a:t>
            </a:r>
            <a:endParaRPr/>
          </a:p>
          <a:p>
            <a:pPr indent="0" lvl="0" marL="0" rtl="1" algn="r">
              <a:spcBef>
                <a:spcPts val="400"/>
              </a:spcBef>
              <a:spcAft>
                <a:spcPts val="0"/>
              </a:spcAft>
              <a:buNone/>
            </a:pPr>
            <a:r>
              <a:rPr lang="iw"/>
              <a:t>לדוגמא, סרוויס שמיועד לנהל קורסים, יוכל להכיל את הפונקציות:</a:t>
            </a:r>
            <a:endParaRPr/>
          </a:p>
          <a:p>
            <a:pPr indent="0" lvl="0" marL="0" rtl="0" algn="l">
              <a:spcBef>
                <a:spcPts val="400"/>
              </a:spcBef>
              <a:spcAft>
                <a:spcPts val="0"/>
              </a:spcAft>
              <a:buNone/>
            </a:pPr>
            <a:r>
              <a:rPr lang="iw"/>
              <a:t>getById(id)</a:t>
            </a:r>
            <a:endParaRPr/>
          </a:p>
          <a:p>
            <a:pPr indent="0" lvl="0" marL="0" rtl="0" algn="l">
              <a:spcBef>
                <a:spcPts val="400"/>
              </a:spcBef>
              <a:spcAft>
                <a:spcPts val="0"/>
              </a:spcAft>
              <a:buNone/>
            </a:pPr>
            <a:r>
              <a:rPr lang="iw"/>
              <a:t>getAllCourses()</a:t>
            </a:r>
            <a:endParaRPr/>
          </a:p>
          <a:p>
            <a:pPr indent="0" lvl="0" marL="0" rtl="0" algn="l">
              <a:spcBef>
                <a:spcPts val="400"/>
              </a:spcBef>
              <a:spcAft>
                <a:spcPts val="0"/>
              </a:spcAft>
              <a:buNone/>
            </a:pPr>
            <a:r>
              <a:rPr lang="iw"/>
              <a:t>updateCourse()</a:t>
            </a:r>
            <a:endParaRPr/>
          </a:p>
          <a:p>
            <a:pPr indent="0" lvl="0" marL="0" rtl="1" algn="r">
              <a:spcBef>
                <a:spcPts val="400"/>
              </a:spcBef>
              <a:spcAft>
                <a:spcPts val="0"/>
              </a:spcAft>
              <a:buNone/>
            </a:pPr>
            <a:r>
              <a:rPr lang="iw"/>
              <a:t>וכן הלאה.</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שכבת ה services</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400"/>
              </a:spcAft>
              <a:buNone/>
            </a:pPr>
            <a:r>
              <a:rPr lang="iw"/>
              <a:t>Explain the purpose of the service layer in an Express application.</a:t>
            </a:r>
            <a:br>
              <a:rPr lang="iw"/>
            </a:br>
            <a:r>
              <a:rPr lang="iw"/>
              <a:t>Show simple examples of functions that belong in a service. </a:t>
            </a:r>
            <a:br>
              <a:rPr lang="iw"/>
            </a:br>
            <a:r>
              <a:rPr lang="iw"/>
              <a:t>Do not write Express routes.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תיקיית controllers - שכבת הבקר</a:t>
            </a:r>
            <a:endParaRPr>
              <a:latin typeface="Calibri"/>
              <a:ea typeface="Calibri"/>
              <a:cs typeface="Calibri"/>
              <a:sym typeface="Calibri"/>
            </a:endParaRPr>
          </a:p>
        </p:txBody>
      </p:sp>
      <p:sp>
        <p:nvSpPr>
          <p:cNvPr id="419" name="Google Shape;419;p61"/>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קבצים אלה הם מנהלים את הקריאות שמתקבלות מהמשתמש. הם מכילים את הפונקציות המכילות את המשתנים req, res שהכרנו בשיעורים קודמים. הם קוראים לפונקציה הנכונה מה services, ומחזירים את התשובה למשתמש.</a:t>
            </a:r>
            <a:endParaRPr/>
          </a:p>
          <a:p>
            <a:pPr indent="0" lvl="0" marL="0" rtl="1" algn="r">
              <a:spcBef>
                <a:spcPts val="400"/>
              </a:spcBef>
              <a:spcAft>
                <a:spcPts val="0"/>
              </a:spcAft>
              <a:buNone/>
            </a:pPr>
            <a:r>
              <a:rPr lang="iw"/>
              <a:t>לכל ישות יש controller נפרד משלה.</a:t>
            </a:r>
            <a:endParaRPr/>
          </a:p>
          <a:p>
            <a:pPr indent="0" lvl="0" marL="0" rtl="1" algn="r">
              <a:spcBef>
                <a:spcPts val="400"/>
              </a:spcBef>
              <a:spcAft>
                <a:spcPts val="0"/>
              </a:spcAft>
              <a:buNone/>
            </a:pPr>
            <a:r>
              <a:rPr lang="iw"/>
              <a:t>יש controller עבור הקורסים, אחד עבור המורים, ואחד נוסף עבור ניהול הרישומים לקורסים.</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שכבת ה controllers</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What is the responsibility of a controller in an Express application?</a:t>
            </a:r>
            <a:endParaRPr/>
          </a:p>
          <a:p>
            <a:pPr indent="0" lvl="0" marL="0" rtl="0" algn="l">
              <a:spcBef>
                <a:spcPts val="400"/>
              </a:spcBef>
              <a:spcAft>
                <a:spcPts val="0"/>
              </a:spcAft>
              <a:buNone/>
            </a:pPr>
            <a:r>
              <a:rPr lang="iw"/>
              <a:t>How is it different from a service?</a:t>
            </a:r>
            <a:endParaRPr/>
          </a:p>
          <a:p>
            <a:pPr indent="0" lvl="0" marL="0" rtl="0" algn="l">
              <a:spcBef>
                <a:spcPts val="400"/>
              </a:spcBef>
              <a:spcAft>
                <a:spcPts val="0"/>
              </a:spcAft>
              <a:buNone/>
            </a:pPr>
            <a:r>
              <a:rPr lang="iw"/>
              <a:t>Give beginner-friendly examples.</a:t>
            </a:r>
            <a:endParaRPr/>
          </a:p>
          <a:p>
            <a:pPr indent="0" lvl="0" marL="0" rtl="0" algn="l">
              <a:spcBef>
                <a:spcPts val="400"/>
              </a:spcBef>
              <a:spcAft>
                <a:spcPts val="40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תיקיית routes - שכבת הניווט</a:t>
            </a:r>
            <a:endParaRPr>
              <a:latin typeface="Calibri"/>
              <a:ea typeface="Calibri"/>
              <a:cs typeface="Calibri"/>
              <a:sym typeface="Calibri"/>
            </a:endParaRPr>
          </a:p>
        </p:txBody>
      </p:sp>
      <p:sp>
        <p:nvSpPr>
          <p:cNvPr id="425" name="Google Shape;425;p62"/>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85000" lnSpcReduction="20000"/>
          </a:bodyPr>
          <a:lstStyle/>
          <a:p>
            <a:pPr indent="0" lvl="0" marL="0" rtl="1" algn="r">
              <a:spcBef>
                <a:spcPts val="0"/>
              </a:spcBef>
              <a:spcAft>
                <a:spcPts val="0"/>
              </a:spcAft>
              <a:buNone/>
            </a:pPr>
            <a:r>
              <a:rPr lang="iw"/>
              <a:t>בתוך תיקיית ה routes מגדירים את הניווטים השונים.</a:t>
            </a:r>
            <a:endParaRPr/>
          </a:p>
          <a:p>
            <a:pPr indent="0" lvl="0" marL="0" rtl="1" algn="r">
              <a:spcBef>
                <a:spcPts val="400"/>
              </a:spcBef>
              <a:spcAft>
                <a:spcPts val="0"/>
              </a:spcAft>
              <a:buNone/>
            </a:pPr>
            <a:r>
              <a:rPr lang="iw"/>
              <a:t>לכל ישות יש קובץ routes משלה, קובץ courses.routes המגדיר את הניווטים עבור הקורסים, students.routes עבור הניווטים של של תלמידים.</a:t>
            </a:r>
            <a:endParaRPr/>
          </a:p>
          <a:p>
            <a:pPr indent="0" lvl="0" marL="0" rtl="1" algn="r">
              <a:spcBef>
                <a:spcPts val="400"/>
              </a:spcBef>
              <a:spcAft>
                <a:spcPts val="0"/>
              </a:spcAft>
              <a:buNone/>
            </a:pPr>
            <a:r>
              <a:rPr lang="iw"/>
              <a:t>קבצים אלה מגדירים את הניווט, ועבור כל ניווט מגדירים איזו פונקציה מהקונטרולר תפעל.</a:t>
            </a:r>
            <a:endParaRPr/>
          </a:p>
          <a:p>
            <a:pPr indent="0" lvl="0" marL="0" rtl="1" algn="r">
              <a:spcBef>
                <a:spcPts val="400"/>
              </a:spcBef>
              <a:spcAft>
                <a:spcPts val="0"/>
              </a:spcAft>
              <a:buNone/>
            </a:pPr>
            <a:r>
              <a:rPr lang="iw"/>
              <a:t>דוגמא לקובץ כזה:</a:t>
            </a:r>
            <a:endParaRPr/>
          </a:p>
          <a:p>
            <a:pPr indent="0" lvl="0" marL="0" rtl="0" algn="l">
              <a:spcBef>
                <a:spcPts val="400"/>
              </a:spcBef>
              <a:spcAft>
                <a:spcPts val="0"/>
              </a:spcAft>
              <a:buNone/>
            </a:pPr>
            <a:r>
              <a:rPr lang="iw"/>
              <a:t>import coursesController from ‘../controllers/</a:t>
            </a:r>
            <a:r>
              <a:rPr lang="iw" u="sng">
                <a:solidFill>
                  <a:schemeClr val="hlink"/>
                </a:solidFill>
                <a:hlinkClick r:id="rId3"/>
              </a:rPr>
              <a:t>courses.controller.js</a:t>
            </a:r>
            <a:r>
              <a:rPr lang="iw"/>
              <a:t>’</a:t>
            </a:r>
            <a:endParaRPr/>
          </a:p>
          <a:p>
            <a:pPr indent="0" lvl="0" marL="0" rtl="0" algn="l">
              <a:spcBef>
                <a:spcPts val="400"/>
              </a:spcBef>
              <a:spcAft>
                <a:spcPts val="0"/>
              </a:spcAft>
              <a:buNone/>
            </a:pPr>
            <a:r>
              <a:rPr lang="iw"/>
              <a:t>import express from ‘express’</a:t>
            </a:r>
            <a:endParaRPr/>
          </a:p>
          <a:p>
            <a:pPr indent="0" lvl="0" marL="0" rtl="0" algn="l">
              <a:spcBef>
                <a:spcPts val="400"/>
              </a:spcBef>
              <a:spcAft>
                <a:spcPts val="0"/>
              </a:spcAft>
              <a:buNone/>
            </a:pPr>
            <a:r>
              <a:rPr lang="iw"/>
              <a:t>const router = express.Router();</a:t>
            </a:r>
            <a:endParaRPr/>
          </a:p>
          <a:p>
            <a:pPr indent="0" lvl="0" marL="0" rtl="0" algn="l">
              <a:spcBef>
                <a:spcPts val="400"/>
              </a:spcBef>
              <a:spcAft>
                <a:spcPts val="0"/>
              </a:spcAft>
              <a:buNone/>
            </a:pPr>
            <a:r>
              <a:t/>
            </a:r>
            <a:endParaRPr/>
          </a:p>
          <a:p>
            <a:pPr indent="0" lvl="0" marL="0" rtl="0" algn="l">
              <a:spcBef>
                <a:spcPts val="400"/>
              </a:spcBef>
              <a:spcAft>
                <a:spcPts val="0"/>
              </a:spcAft>
              <a:buNone/>
            </a:pPr>
            <a:r>
              <a:rPr lang="iw"/>
              <a:t>router.get(‘/’, coursesController.getAllCourses);</a:t>
            </a:r>
            <a:endParaRPr/>
          </a:p>
          <a:p>
            <a:pPr indent="0" lvl="0" marL="0" rtl="1" algn="r">
              <a:spcBef>
                <a:spcPts val="400"/>
              </a:spcBef>
              <a:spcAft>
                <a:spcPts val="0"/>
              </a:spcAft>
              <a:buNone/>
            </a:pPr>
            <a:r>
              <a:rPr lang="iw"/>
              <a:t>ההגדרה המופיעה כאן, הינה: עבור הקריאה עם הניוט /, יש להפעיל את הפונקציה </a:t>
            </a:r>
            <a:r>
              <a:rPr lang="iw"/>
              <a:t>getAllCourses המוגדרת בתוך הקונטרולר.</a:t>
            </a:r>
            <a:endParaRPr/>
          </a:p>
          <a:p>
            <a:pPr indent="0" lvl="0" marL="0" rtl="1" algn="r">
              <a:spcBef>
                <a:spcPts val="400"/>
              </a:spcBef>
              <a:spcAft>
                <a:spcPts val="0"/>
              </a:spcAft>
              <a:buNone/>
            </a:pPr>
            <a:r>
              <a:rPr lang="iw"/>
              <a:t>בקשי מה ai שיסביר לך עוד על שכבת ה routes</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What is the difference between an Express Router and a Controller?</a:t>
            </a:r>
            <a:endParaRPr/>
          </a:p>
          <a:p>
            <a:pPr indent="0" lvl="0" marL="0" rtl="0" algn="l">
              <a:spcBef>
                <a:spcPts val="400"/>
              </a:spcBef>
              <a:spcAft>
                <a:spcPts val="0"/>
              </a:spcAft>
              <a:buNone/>
            </a:pPr>
            <a:r>
              <a:rPr lang="iw"/>
              <a:t> Explain the responsibility of each. </a:t>
            </a:r>
            <a:endParaRPr/>
          </a:p>
          <a:p>
            <a:pPr indent="0" lvl="0" marL="0" rtl="0" algn="l">
              <a:spcBef>
                <a:spcPts val="400"/>
              </a:spcBef>
              <a:spcAft>
                <a:spcPts val="0"/>
              </a:spcAft>
              <a:buNone/>
            </a:pPr>
            <a:r>
              <a:rPr lang="iw"/>
              <a:t>Use a simple CRUD example.</a:t>
            </a:r>
            <a:endParaRPr/>
          </a:p>
          <a:p>
            <a:pPr indent="0" lvl="0" marL="0" rtl="0" algn="l">
              <a:spcBef>
                <a:spcPts val="400"/>
              </a:spcBef>
              <a:spcAft>
                <a:spcPts val="40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מעקב אחרי קריאה </a:t>
            </a:r>
            <a:endParaRPr>
              <a:latin typeface="Calibri"/>
              <a:ea typeface="Calibri"/>
              <a:cs typeface="Calibri"/>
              <a:sym typeface="Calibri"/>
            </a:endParaRPr>
          </a:p>
        </p:txBody>
      </p:sp>
      <p:sp>
        <p:nvSpPr>
          <p:cNvPr id="431" name="Google Shape;431;p63"/>
          <p:cNvSpPr txBox="1"/>
          <p:nvPr>
            <p:ph idx="1" type="body"/>
          </p:nvPr>
        </p:nvSpPr>
        <p:spPr>
          <a:xfrm>
            <a:off x="819150" y="1420825"/>
            <a:ext cx="7505700" cy="3364500"/>
          </a:xfrm>
          <a:prstGeom prst="rect">
            <a:avLst/>
          </a:prstGeom>
        </p:spPr>
        <p:txBody>
          <a:bodyPr anchorCtr="0" anchor="t" bIns="91425" lIns="91425" spcFirstLastPara="1" rIns="91425" wrap="square" tIns="91425">
            <a:normAutofit lnSpcReduction="20000"/>
          </a:bodyPr>
          <a:lstStyle/>
          <a:p>
            <a:pPr indent="0" lvl="0" marL="0" rtl="1" algn="r">
              <a:spcBef>
                <a:spcPts val="0"/>
              </a:spcBef>
              <a:spcAft>
                <a:spcPts val="0"/>
              </a:spcAft>
              <a:buNone/>
            </a:pPr>
            <a:r>
              <a:rPr lang="iw"/>
              <a:t>בסופו של דבר, כאשר מגיעה קריאה לשרת, היא עוברת את התהליך הבא:</a:t>
            </a:r>
            <a:endParaRPr/>
          </a:p>
          <a:p>
            <a:pPr indent="0" lvl="0" marL="0" rtl="1" algn="r">
              <a:spcBef>
                <a:spcPts val="400"/>
              </a:spcBef>
              <a:spcAft>
                <a:spcPts val="0"/>
              </a:spcAft>
              <a:buNone/>
            </a:pPr>
            <a:r>
              <a:rPr lang="iw"/>
              <a:t>מתקבלת בקובץ </a:t>
            </a:r>
            <a:r>
              <a:rPr lang="iw" u="sng">
                <a:solidFill>
                  <a:schemeClr val="hlink"/>
                </a:solidFill>
                <a:hlinkClick r:id="rId3"/>
              </a:rPr>
              <a:t>app.js</a:t>
            </a:r>
            <a:r>
              <a:rPr lang="iw"/>
              <a:t>, קובץ זה בודק לאיזה קובץ route היא שייכת.</a:t>
            </a:r>
            <a:endParaRPr/>
          </a:p>
          <a:p>
            <a:pPr indent="0" lvl="0" marL="0" rtl="1" algn="r">
              <a:spcBef>
                <a:spcPts val="400"/>
              </a:spcBef>
              <a:spcAft>
                <a:spcPts val="0"/>
              </a:spcAft>
              <a:buNone/>
            </a:pPr>
            <a:r>
              <a:rPr lang="iw"/>
              <a:t>קובץ ה route קולט את הקריאה, ומחליט לאיזה פונקציה ב controller היא שייכת.</a:t>
            </a:r>
            <a:endParaRPr/>
          </a:p>
          <a:p>
            <a:pPr indent="0" lvl="0" marL="0" rtl="1" algn="r">
              <a:spcBef>
                <a:spcPts val="400"/>
              </a:spcBef>
              <a:spcAft>
                <a:spcPts val="0"/>
              </a:spcAft>
              <a:buNone/>
            </a:pPr>
            <a:r>
              <a:rPr lang="iw"/>
              <a:t>הפונקציה ב controller תקרא לפונקציה הנכונה משכבת ה service שתבצע את הפעולה (לדוגמא: ליצור תלמיד חדש)</a:t>
            </a:r>
            <a:endParaRPr/>
          </a:p>
          <a:p>
            <a:pPr indent="0" lvl="0" marL="0" rtl="1" algn="r">
              <a:spcBef>
                <a:spcPts val="400"/>
              </a:spcBef>
              <a:spcAft>
                <a:spcPts val="0"/>
              </a:spcAft>
              <a:buNone/>
            </a:pPr>
            <a:r>
              <a:rPr lang="iw"/>
              <a:t>הפונקציה ב service תיעזר במידע היושב בתיקיית data.</a:t>
            </a:r>
            <a:endParaRPr/>
          </a:p>
          <a:p>
            <a:pPr indent="0" lvl="0" marL="0" rtl="1" algn="r">
              <a:spcBef>
                <a:spcPts val="400"/>
              </a:spcBef>
              <a:spcAft>
                <a:spcPts val="0"/>
              </a:spcAft>
              <a:buNone/>
            </a:pPr>
            <a:r>
              <a:rPr lang="iw"/>
              <a:t>הפונקציה תחזיר את המידע ל controller</a:t>
            </a:r>
            <a:endParaRPr/>
          </a:p>
          <a:p>
            <a:pPr indent="0" lvl="0" marL="0" rtl="1" algn="r">
              <a:spcBef>
                <a:spcPts val="400"/>
              </a:spcBef>
              <a:spcAft>
                <a:spcPts val="0"/>
              </a:spcAft>
              <a:buNone/>
            </a:pPr>
            <a:r>
              <a:rPr lang="iw"/>
              <a:t>שירנדר את המידע למשתמש.</a:t>
            </a:r>
            <a:endParaRPr/>
          </a:p>
          <a:p>
            <a:pPr indent="0" lvl="0" marL="0" rtl="1" algn="r">
              <a:spcBef>
                <a:spcPts val="400"/>
              </a:spcBef>
              <a:spcAft>
                <a:spcPts val="0"/>
              </a:spcAft>
              <a:buNone/>
            </a:pPr>
            <a:r>
              <a:rPr lang="iw"/>
              <a:t>.</a:t>
            </a:r>
            <a:endParaRPr/>
          </a:p>
          <a:p>
            <a:pPr indent="0" lvl="0" marL="0" rtl="1" algn="r">
              <a:spcBef>
                <a:spcPts val="400"/>
              </a:spcBef>
              <a:spcAft>
                <a:spcPts val="0"/>
              </a:spcAft>
              <a:buNone/>
            </a:pPr>
            <a:r>
              <a:rPr lang="iw"/>
              <a:t>בקשי מה ai שיסביר לך עוד על מעגל החיים של הקריאה</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Describe what happens step by step when a GET request is processed in an Express application that uses routes, controllers, services and a data layer.</a:t>
            </a:r>
            <a:endParaRPr/>
          </a:p>
          <a:p>
            <a:pPr indent="0" lvl="0" marL="0" rtl="0" algn="l">
              <a:spcBef>
                <a:spcPts val="400"/>
              </a:spcBef>
              <a:spcAft>
                <a:spcPts val="0"/>
              </a:spcAft>
              <a:buNone/>
            </a:pPr>
            <a:r>
              <a:rPr lang="iw"/>
              <a:t>Explain the responsibility of each layer.</a:t>
            </a:r>
            <a:endParaRPr/>
          </a:p>
          <a:p>
            <a:pPr indent="0" lvl="0" marL="0" rtl="0" algn="l">
              <a:spcBef>
                <a:spcPts val="400"/>
              </a:spcBef>
              <a:spcAft>
                <a:spcPts val="40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4"/>
          <p:cNvSpPr txBox="1"/>
          <p:nvPr>
            <p:ph type="title"/>
          </p:nvPr>
        </p:nvSpPr>
        <p:spPr>
          <a:xfrm>
            <a:off x="819150" y="23665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משימה 🔨</a:t>
            </a:r>
            <a:endParaRPr>
              <a:latin typeface="Calibri"/>
              <a:ea typeface="Calibri"/>
              <a:cs typeface="Calibri"/>
              <a:sym typeface="Calibri"/>
            </a:endParaRPr>
          </a:p>
        </p:txBody>
      </p:sp>
      <p:sp>
        <p:nvSpPr>
          <p:cNvPr id="437" name="Google Shape;437;p64"/>
          <p:cNvSpPr txBox="1"/>
          <p:nvPr>
            <p:ph idx="1" type="body"/>
          </p:nvPr>
        </p:nvSpPr>
        <p:spPr>
          <a:xfrm>
            <a:off x="819150" y="765550"/>
            <a:ext cx="7505700" cy="4110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בשיעור זה יש להמשיך את הפרויקט משיעור קודם:</a:t>
            </a:r>
            <a:endParaRPr/>
          </a:p>
          <a:p>
            <a:pPr indent="0" lvl="0" marL="0" rtl="1" algn="r">
              <a:spcBef>
                <a:spcPts val="400"/>
              </a:spcBef>
              <a:spcAft>
                <a:spcPts val="0"/>
              </a:spcAft>
              <a:buNone/>
            </a:pPr>
            <a:r>
              <a:rPr lang="iw"/>
              <a:t>בשיעור קודם הוגדר פרויקט בסיסי שמכיל את כל קריאות ה crud השונות למספר ישויות שונות.</a:t>
            </a:r>
            <a:endParaRPr/>
          </a:p>
          <a:p>
            <a:pPr indent="0" lvl="0" marL="0" rtl="1" algn="r">
              <a:spcBef>
                <a:spcPts val="400"/>
              </a:spcBef>
              <a:spcAft>
                <a:spcPts val="0"/>
              </a:spcAft>
              <a:buNone/>
            </a:pPr>
            <a:r>
              <a:rPr lang="iw"/>
              <a:t>בשיעור זה יש לשכתב את הפרויקט מחדש, בחלוקה נכונה לתיקיות שונות כמו שנלמד בשיעור:</a:t>
            </a:r>
            <a:endParaRPr/>
          </a:p>
          <a:p>
            <a:pPr indent="-311150" lvl="0" marL="457200" rtl="0" algn="l">
              <a:spcBef>
                <a:spcPts val="400"/>
              </a:spcBef>
              <a:spcAft>
                <a:spcPts val="0"/>
              </a:spcAft>
              <a:buSzPts val="1300"/>
              <a:buChar char="-"/>
            </a:pPr>
            <a:r>
              <a:rPr lang="iw"/>
              <a:t>routes</a:t>
            </a:r>
            <a:endParaRPr/>
          </a:p>
          <a:p>
            <a:pPr indent="-311150" lvl="0" marL="457200" rtl="0" algn="l">
              <a:spcBef>
                <a:spcPts val="0"/>
              </a:spcBef>
              <a:spcAft>
                <a:spcPts val="0"/>
              </a:spcAft>
              <a:buSzPts val="1300"/>
              <a:buChar char="-"/>
            </a:pPr>
            <a:r>
              <a:rPr lang="iw"/>
              <a:t>controllers</a:t>
            </a:r>
            <a:endParaRPr/>
          </a:p>
          <a:p>
            <a:pPr indent="-311150" lvl="0" marL="457200" rtl="0" algn="l">
              <a:spcBef>
                <a:spcPts val="0"/>
              </a:spcBef>
              <a:spcAft>
                <a:spcPts val="0"/>
              </a:spcAft>
              <a:buSzPts val="1300"/>
              <a:buChar char="-"/>
            </a:pPr>
            <a:r>
              <a:rPr lang="iw"/>
              <a:t>services</a:t>
            </a:r>
            <a:endParaRPr/>
          </a:p>
          <a:p>
            <a:pPr indent="-311150" lvl="0" marL="457200" rtl="0" algn="l">
              <a:spcBef>
                <a:spcPts val="0"/>
              </a:spcBef>
              <a:spcAft>
                <a:spcPts val="0"/>
              </a:spcAft>
              <a:buSzPts val="1300"/>
              <a:buChar char="-"/>
            </a:pPr>
            <a:r>
              <a:rPr lang="iw"/>
              <a:t>data</a:t>
            </a:r>
            <a:endParaRPr/>
          </a:p>
          <a:p>
            <a:pPr indent="0" lvl="0" marL="0" rtl="1" algn="r">
              <a:spcBef>
                <a:spcPts val="400"/>
              </a:spcBef>
              <a:spcAft>
                <a:spcPts val="0"/>
              </a:spcAft>
              <a:buNone/>
            </a:pPr>
            <a:r>
              <a:rPr lang="iw"/>
              <a:t>בתוך כל אחת מהתיקיות אמור להיות קובץ עבור כל אחת מהישויות:</a:t>
            </a:r>
            <a:endParaRPr/>
          </a:p>
          <a:p>
            <a:pPr indent="-311150" lvl="0" marL="457200" rtl="0" algn="l">
              <a:spcBef>
                <a:spcPts val="400"/>
              </a:spcBef>
              <a:spcAft>
                <a:spcPts val="0"/>
              </a:spcAft>
              <a:buSzPts val="1300"/>
              <a:buChar char="-"/>
            </a:pPr>
            <a:r>
              <a:rPr lang="iw"/>
              <a:t>courses</a:t>
            </a:r>
            <a:endParaRPr/>
          </a:p>
          <a:p>
            <a:pPr indent="-311150" lvl="0" marL="457200" rtl="0" algn="l">
              <a:spcBef>
                <a:spcPts val="0"/>
              </a:spcBef>
              <a:spcAft>
                <a:spcPts val="0"/>
              </a:spcAft>
              <a:buSzPts val="1300"/>
              <a:buChar char="-"/>
            </a:pPr>
            <a:r>
              <a:rPr lang="iw"/>
              <a:t>students</a:t>
            </a:r>
            <a:endParaRPr/>
          </a:p>
          <a:p>
            <a:pPr indent="-311150" lvl="0" marL="457200" rtl="0" algn="l">
              <a:spcBef>
                <a:spcPts val="0"/>
              </a:spcBef>
              <a:spcAft>
                <a:spcPts val="0"/>
              </a:spcAft>
              <a:buSzPts val="1300"/>
              <a:buChar char="-"/>
            </a:pPr>
            <a:r>
              <a:rPr lang="iw"/>
              <a:t>enrollment / subscription (רישום לקורסים)</a:t>
            </a:r>
            <a:endParaRPr/>
          </a:p>
          <a:p>
            <a:pPr indent="0" lvl="0" marL="457200" rtl="0" algn="l">
              <a:spcBef>
                <a:spcPts val="400"/>
              </a:spcBef>
              <a:spcAft>
                <a:spcPts val="0"/>
              </a:spcAft>
              <a:buNone/>
            </a:pPr>
            <a:r>
              <a:t/>
            </a:r>
            <a:endParaRPr/>
          </a:p>
          <a:p>
            <a:pPr indent="0" lvl="0" marL="457200" rtl="1" algn="r">
              <a:spcBef>
                <a:spcPts val="400"/>
              </a:spcBef>
              <a:spcAft>
                <a:spcPts val="400"/>
              </a:spcAft>
              <a:buNone/>
            </a:pPr>
            <a:r>
              <a:rPr lang="iw"/>
              <a:t>הפרויקט אמור להמשיך לעבוד כמו קודם לכן, ניתן לבדוק זאת על ידי postman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5"/>
          <p:cNvSpPr txBox="1"/>
          <p:nvPr>
            <p:ph type="title"/>
          </p:nvPr>
        </p:nvSpPr>
        <p:spPr>
          <a:xfrm>
            <a:off x="819150" y="845600"/>
            <a:ext cx="7505700" cy="626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latin typeface="Calibri"/>
                <a:ea typeface="Calibri"/>
                <a:cs typeface="Calibri"/>
                <a:sym typeface="Calibri"/>
              </a:rPr>
              <a:t>משימה - ביצוע 📐</a:t>
            </a:r>
            <a:endParaRPr>
              <a:latin typeface="Calibri"/>
              <a:ea typeface="Calibri"/>
              <a:cs typeface="Calibri"/>
              <a:sym typeface="Calibri"/>
            </a:endParaRPr>
          </a:p>
        </p:txBody>
      </p:sp>
      <p:sp>
        <p:nvSpPr>
          <p:cNvPr id="443" name="Google Shape;443;p65"/>
          <p:cNvSpPr txBox="1"/>
          <p:nvPr>
            <p:ph idx="1" type="body"/>
          </p:nvPr>
        </p:nvSpPr>
        <p:spPr>
          <a:xfrm>
            <a:off x="819150" y="1515875"/>
            <a:ext cx="7505700" cy="33819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יש להשתמש ב ai על מנת ללמוד, להבין וגם לבצע.</a:t>
            </a:r>
            <a:endParaRPr/>
          </a:p>
          <a:p>
            <a:pPr indent="-311150" lvl="0" marL="457200" rtl="1" algn="r">
              <a:spcBef>
                <a:spcPts val="0"/>
              </a:spcBef>
              <a:spcAft>
                <a:spcPts val="0"/>
              </a:spcAft>
              <a:buSzPts val="1300"/>
              <a:buChar char="-"/>
            </a:pPr>
            <a:r>
              <a:rPr lang="iw"/>
              <a:t>כל שורת קוד שנכתבה על ידי ה ai, חובה להבין היטב!</a:t>
            </a:r>
            <a:endParaRPr/>
          </a:p>
          <a:p>
            <a:pPr indent="-311150" lvl="0" marL="457200" rtl="1" algn="r">
              <a:spcBef>
                <a:spcPts val="0"/>
              </a:spcBef>
              <a:spcAft>
                <a:spcPts val="0"/>
              </a:spcAft>
              <a:buSzPts val="1300"/>
              <a:buChar char="-"/>
            </a:pPr>
            <a:r>
              <a:rPr lang="iw"/>
              <a:t>אחרי יצירת הפרויקט הבסיסי, יש להשתמש ב ai כדי לשפר את הקוד, על ידי שאלות בסגנון:</a:t>
            </a:r>
            <a:endParaRPr/>
          </a:p>
          <a:p>
            <a:pPr indent="-298450" lvl="1" marL="914400" rtl="1" algn="r">
              <a:spcBef>
                <a:spcPts val="0"/>
              </a:spcBef>
              <a:spcAft>
                <a:spcPts val="0"/>
              </a:spcAft>
              <a:buSzPts val="1100"/>
              <a:buChar char="-"/>
            </a:pPr>
            <a:r>
              <a:rPr lang="iw"/>
              <a:t>איזה שגיאות עשויות להיות בקוד?</a:t>
            </a:r>
            <a:endParaRPr/>
          </a:p>
          <a:p>
            <a:pPr indent="-298450" lvl="1" marL="914400" rtl="1" algn="r">
              <a:spcBef>
                <a:spcPts val="0"/>
              </a:spcBef>
              <a:spcAft>
                <a:spcPts val="0"/>
              </a:spcAft>
              <a:buSzPts val="1100"/>
              <a:buChar char="-"/>
            </a:pPr>
            <a:r>
              <a:rPr lang="iw"/>
              <a:t>איך אפשר לשפר?</a:t>
            </a:r>
            <a:endParaRPr/>
          </a:p>
          <a:p>
            <a:pPr indent="-298450" lvl="1" marL="914400" rtl="1" algn="r">
              <a:spcBef>
                <a:spcPts val="0"/>
              </a:spcBef>
              <a:spcAft>
                <a:spcPts val="0"/>
              </a:spcAft>
              <a:buSzPts val="1100"/>
              <a:buChar char="-"/>
            </a:pPr>
            <a:r>
              <a:rPr lang="iw"/>
              <a:t>הער לי הערות על מבנה הקוד?</a:t>
            </a:r>
            <a:endParaRPr/>
          </a:p>
          <a:p>
            <a:pPr indent="-311150" lvl="0" marL="457200" rtl="1" algn="r">
              <a:spcBef>
                <a:spcPts val="0"/>
              </a:spcBef>
              <a:spcAft>
                <a:spcPts val="0"/>
              </a:spcAft>
              <a:buSzPts val="1300"/>
              <a:buChar char="-"/>
            </a:pPr>
            <a:r>
              <a:rPr lang="iw"/>
              <a:t>הפרויקט צריך לכלול גם קובץ txt עם פרוט של פרומפטים שונים שנשלחו ל ai ודוגמאות לתשובות.</a:t>
            </a:r>
            <a:endParaRPr/>
          </a:p>
          <a:p>
            <a:pPr indent="-311150" lvl="0" marL="457200" rtl="1" algn="r">
              <a:spcBef>
                <a:spcPts val="0"/>
              </a:spcBef>
              <a:spcAft>
                <a:spcPts val="0"/>
              </a:spcAft>
              <a:buSzPts val="1300"/>
              <a:buChar char="-"/>
            </a:pPr>
            <a:r>
              <a:rPr lang="iw"/>
              <a:t>על כל הקוד להיכתב על ידי ai.</a:t>
            </a:r>
            <a:endParaRPr/>
          </a:p>
          <a:p>
            <a:pPr indent="-311150" lvl="0" marL="457200" rtl="1" algn="r">
              <a:spcBef>
                <a:spcPts val="0"/>
              </a:spcBef>
              <a:spcAft>
                <a:spcPts val="0"/>
              </a:spcAft>
              <a:buSzPts val="1300"/>
              <a:buChar char="-"/>
            </a:pPr>
            <a:r>
              <a:rPr lang="iw"/>
              <a:t>אין לכתוב את כל הקוד בפקודה אחת, תהליך הכתיבה על ידי ai חייב להיות מחולק ל6 שלבים לפחות!</a:t>
            </a:r>
            <a:endParaRPr/>
          </a:p>
          <a:p>
            <a:pPr indent="-311150" lvl="0" marL="457200" rtl="1" algn="r">
              <a:spcBef>
                <a:spcPts val="0"/>
              </a:spcBef>
              <a:spcAft>
                <a:spcPts val="0"/>
              </a:spcAft>
              <a:buSzPts val="1300"/>
              <a:buChar char="-"/>
            </a:pPr>
            <a:r>
              <a:rPr lang="iw"/>
              <a:t>יש להעלות את הקוד בקומיט נוסף בגיט על הפרויט משיעור קודם - קומיט שמבטל ומעדכן את הקוד הקודם, אין צורך לתמוך בשני קודים מקבילים.</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6"/>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1" algn="ctr">
              <a:spcBef>
                <a:spcPts val="0"/>
              </a:spcBef>
              <a:spcAft>
                <a:spcPts val="0"/>
              </a:spcAft>
              <a:buNone/>
            </a:pPr>
            <a:r>
              <a:rPr lang="iw"/>
              <a:t>שיעור 5</a:t>
            </a:r>
            <a:endParaRPr/>
          </a:p>
        </p:txBody>
      </p:sp>
      <p:sp>
        <p:nvSpPr>
          <p:cNvPr id="449" name="Google Shape;449;p66"/>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iw"/>
              <a:t>make the project </a:t>
            </a:r>
            <a:r>
              <a:rPr lang="iw"/>
              <a:t>professional</a:t>
            </a:r>
            <a:endParaRPr/>
          </a:p>
          <a:p>
            <a:pPr indent="0" lvl="0" marL="0" rtl="1" algn="ctr">
              <a:spcBef>
                <a:spcPts val="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נושאי השיעור</a:t>
            </a:r>
            <a:endParaRPr/>
          </a:p>
        </p:txBody>
      </p:sp>
      <p:sp>
        <p:nvSpPr>
          <p:cNvPr id="455" name="Google Shape;455;p6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w"/>
              <a:t>middleware</a:t>
            </a:r>
            <a:endParaRPr/>
          </a:p>
          <a:p>
            <a:pPr indent="-311150" lvl="0" marL="457200" rtl="0" algn="l">
              <a:spcBef>
                <a:spcPts val="0"/>
              </a:spcBef>
              <a:spcAft>
                <a:spcPts val="0"/>
              </a:spcAft>
              <a:buSzPts val="1300"/>
              <a:buChar char="-"/>
            </a:pPr>
            <a:r>
              <a:rPr lang="iw"/>
              <a:t>create custom middleware</a:t>
            </a:r>
            <a:endParaRPr/>
          </a:p>
          <a:p>
            <a:pPr indent="-311150" lvl="0" marL="457200" rtl="0" algn="l">
              <a:spcBef>
                <a:spcPts val="0"/>
              </a:spcBef>
              <a:spcAft>
                <a:spcPts val="0"/>
              </a:spcAft>
              <a:buSzPts val="1300"/>
              <a:buChar char="-"/>
            </a:pPr>
            <a:r>
              <a:rPr lang="iw"/>
              <a:t>basic validation</a:t>
            </a:r>
            <a:endParaRPr/>
          </a:p>
          <a:p>
            <a:pPr indent="-311150" lvl="0" marL="457200" rtl="0" algn="l">
              <a:spcBef>
                <a:spcPts val="0"/>
              </a:spcBef>
              <a:spcAft>
                <a:spcPts val="0"/>
              </a:spcAft>
              <a:buSzPts val="1300"/>
              <a:buChar char="-"/>
            </a:pPr>
            <a:r>
              <a:rPr lang="iw"/>
              <a:t>http headers</a:t>
            </a:r>
            <a:endParaRPr/>
          </a:p>
          <a:p>
            <a:pPr indent="-311150" lvl="0" marL="457200" rtl="0" algn="l">
              <a:spcBef>
                <a:spcPts val="0"/>
              </a:spcBef>
              <a:spcAft>
                <a:spcPts val="0"/>
              </a:spcAft>
              <a:buSzPts val="1300"/>
              <a:buChar char="-"/>
            </a:pPr>
            <a:r>
              <a:rPr lang="iw"/>
              <a:t>return </a:t>
            </a:r>
            <a:r>
              <a:rPr lang="iw"/>
              <a:t>appropriate</a:t>
            </a:r>
            <a:r>
              <a:rPr lang="iw"/>
              <a:t> http status</a:t>
            </a:r>
            <a:endParaRPr/>
          </a:p>
          <a:p>
            <a:pPr indent="0" lvl="0" marL="0" rtl="0" algn="l">
              <a:spcBef>
                <a:spcPts val="400"/>
              </a:spcBef>
              <a:spcAft>
                <a:spcPts val="40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סטטוס תשובה</a:t>
            </a:r>
            <a:endParaRPr>
              <a:latin typeface="Calibri"/>
              <a:ea typeface="Calibri"/>
              <a:cs typeface="Calibri"/>
              <a:sym typeface="Calibri"/>
            </a:endParaRPr>
          </a:p>
        </p:txBody>
      </p:sp>
      <p:sp>
        <p:nvSpPr>
          <p:cNvPr id="461" name="Google Shape;461;p68"/>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85000" lnSpcReduction="10000"/>
          </a:bodyPr>
          <a:lstStyle/>
          <a:p>
            <a:pPr indent="0" lvl="0" marL="0" rtl="1" algn="r">
              <a:spcBef>
                <a:spcPts val="0"/>
              </a:spcBef>
              <a:spcAft>
                <a:spcPts val="0"/>
              </a:spcAft>
              <a:buNone/>
            </a:pPr>
            <a:r>
              <a:rPr lang="iw"/>
              <a:t>עד עכשיו נלמד יצירת פרויקט בסיסי, שמנהל את כל קריאות ה crud, מממש ארכיטקטורת rest, ומאורגן בתיקיות בצורה נכונה.</a:t>
            </a:r>
            <a:endParaRPr/>
          </a:p>
          <a:p>
            <a:pPr indent="0" lvl="0" marL="0" rtl="1" algn="r">
              <a:spcBef>
                <a:spcPts val="400"/>
              </a:spcBef>
              <a:spcAft>
                <a:spcPts val="0"/>
              </a:spcAft>
              <a:buNone/>
            </a:pPr>
            <a:r>
              <a:rPr lang="iw"/>
              <a:t>אולם, השרת תומך כרגע רק בסט פעולות הבסיסי ביותר, ומתייחס רק למצבים בהם ״הכל תקין״.</a:t>
            </a:r>
            <a:endParaRPr/>
          </a:p>
          <a:p>
            <a:pPr indent="0" lvl="0" marL="0" rtl="1" algn="r">
              <a:spcBef>
                <a:spcPts val="400"/>
              </a:spcBef>
              <a:spcAft>
                <a:spcPts val="0"/>
              </a:spcAft>
              <a:buNone/>
            </a:pPr>
            <a:r>
              <a:rPr lang="iw"/>
              <a:t>למעשה, שרת אמיתי אמור לתמוך במגוון מצבים שונים, ולא רק במצב שבו ״הכל בסדר״.</a:t>
            </a:r>
            <a:endParaRPr/>
          </a:p>
          <a:p>
            <a:pPr indent="0" lvl="0" marL="0" rtl="1" algn="r">
              <a:spcBef>
                <a:spcPts val="400"/>
              </a:spcBef>
              <a:spcAft>
                <a:spcPts val="0"/>
              </a:spcAft>
              <a:buNone/>
            </a:pPr>
            <a:r>
              <a:rPr lang="iw"/>
              <a:t>כשלב ראשון, חשוב להבין, שכל פעם בעת שנשלחת תשובה למשתמש, נשלח גם ערך מספרי, המהווה ״סטטוס״ של התשובה - http status. יש רשימה קבועה של מספרים שיכולים לשמש כ status של תשובה, וחשוב תמיד להחזיר את הערך הנכון. לכל סטטוס יש משמעות שונה: </a:t>
            </a:r>
            <a:endParaRPr/>
          </a:p>
          <a:p>
            <a:pPr indent="0" lvl="0" marL="0" rtl="1" algn="r">
              <a:spcBef>
                <a:spcPts val="400"/>
              </a:spcBef>
              <a:spcAft>
                <a:spcPts val="0"/>
              </a:spcAft>
              <a:buNone/>
            </a:pPr>
            <a:r>
              <a:rPr lang="iw"/>
              <a:t>סטטוס 200 - הקריאה התבצעה בהצלחה</a:t>
            </a:r>
            <a:endParaRPr/>
          </a:p>
          <a:p>
            <a:pPr indent="0" lvl="0" marL="0" rtl="1" algn="r">
              <a:spcBef>
                <a:spcPts val="400"/>
              </a:spcBef>
              <a:spcAft>
                <a:spcPts val="0"/>
              </a:spcAft>
              <a:buNone/>
            </a:pPr>
            <a:r>
              <a:rPr lang="iw"/>
              <a:t>סטטוס 500 - יש שגיאה בצד השרת</a:t>
            </a:r>
            <a:endParaRPr/>
          </a:p>
          <a:p>
            <a:pPr indent="0" lvl="0" marL="0" rtl="1" algn="r">
              <a:spcBef>
                <a:spcPts val="400"/>
              </a:spcBef>
              <a:spcAft>
                <a:spcPts val="0"/>
              </a:spcAft>
              <a:buNone/>
            </a:pPr>
            <a:r>
              <a:rPr lang="iw"/>
              <a:t>סטטוס 404 - הכתובת אינה קיימת, ניסיון לפנות למקום שאינו קיים.</a:t>
            </a:r>
            <a:endParaRPr/>
          </a:p>
          <a:p>
            <a:pPr indent="0" lvl="0" marL="0" rtl="1" algn="r">
              <a:spcBef>
                <a:spcPts val="400"/>
              </a:spcBef>
              <a:spcAft>
                <a:spcPts val="0"/>
              </a:spcAft>
              <a:buNone/>
            </a:pPr>
            <a:r>
              <a:rPr lang="iw"/>
              <a:t>בבדיקה של קריאות ב postman אפשר לראות את סטטוס התשובה בחלון שבו רואים את התשובה עצמה.</a:t>
            </a:r>
            <a:endParaRPr/>
          </a:p>
          <a:p>
            <a:pPr indent="0" lvl="0" marL="0" rtl="1" algn="r">
              <a:spcBef>
                <a:spcPts val="400"/>
              </a:spcBef>
              <a:spcAft>
                <a:spcPts val="0"/>
              </a:spcAft>
              <a:buNone/>
            </a:pPr>
            <a:r>
              <a:rPr lang="iw"/>
              <a:t>בקריאות ״תקינות״ בהן הכל התבצע בהצלחה (כמו שהיה עד כה) סטטוס 200 חוזר אוטומטית - אין צורך להגדיר אותו.</a:t>
            </a:r>
            <a:endParaRPr/>
          </a:p>
          <a:p>
            <a:pPr indent="0" lvl="0" marL="0" rtl="1" algn="r">
              <a:spcBef>
                <a:spcPts val="400"/>
              </a:spcBef>
              <a:spcAft>
                <a:spcPts val="0"/>
              </a:spcAft>
              <a:buNone/>
            </a:pPr>
            <a:r>
              <a:rPr lang="iw"/>
              <a:t>אולם יש מצבים בהם יש צורך להגדיר סטטוס בצורה מכוונת.</a:t>
            </a:r>
            <a:endParaRPr/>
          </a:p>
          <a:p>
            <a:pPr indent="0" lvl="0" marL="0" rtl="1" algn="r">
              <a:spcBef>
                <a:spcPts val="400"/>
              </a:spcBef>
              <a:spcAft>
                <a:spcPts val="0"/>
              </a:spcAft>
              <a:buNone/>
            </a:pPr>
            <a:r>
              <a:rPr lang="iw"/>
              <a:t>בקשי מה ai שיסביר לך עוד על http status code</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Why should a backend API return different HTTP status codes instead of always returning 200? </a:t>
            </a:r>
            <a:endParaRPr/>
          </a:p>
          <a:p>
            <a:pPr indent="0" lvl="0" marL="0" rtl="0" algn="l">
              <a:spcBef>
                <a:spcPts val="400"/>
              </a:spcBef>
              <a:spcAft>
                <a:spcPts val="400"/>
              </a:spcAft>
              <a:buNone/>
            </a:pPr>
            <a:r>
              <a:rPr lang="iw"/>
              <a:t>Explain the purpose of HTTP status codes. Focus on 200, 201, 401 and 404.</a:t>
            </a:r>
            <a:endParaRPr/>
          </a:p>
        </p:txBody>
      </p:sp>
      <p:pic>
        <p:nvPicPr>
          <p:cNvPr id="462" name="Google Shape;462;p68"/>
          <p:cNvPicPr preferRelativeResize="0"/>
          <p:nvPr/>
        </p:nvPicPr>
        <p:blipFill>
          <a:blip r:embed="rId3">
            <a:alphaModFix/>
          </a:blip>
          <a:stretch>
            <a:fillRect/>
          </a:stretch>
        </p:blipFill>
        <p:spPr>
          <a:xfrm>
            <a:off x="743650" y="3510375"/>
            <a:ext cx="1380599" cy="4384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קריאה למשאב לא קיים - סטטוס 404</a:t>
            </a:r>
            <a:endParaRPr>
              <a:latin typeface="Calibri"/>
              <a:ea typeface="Calibri"/>
              <a:cs typeface="Calibri"/>
              <a:sym typeface="Calibri"/>
            </a:endParaRPr>
          </a:p>
        </p:txBody>
      </p:sp>
      <p:sp>
        <p:nvSpPr>
          <p:cNvPr id="468" name="Google Shape;468;p69"/>
          <p:cNvSpPr txBox="1"/>
          <p:nvPr>
            <p:ph idx="1" type="body"/>
          </p:nvPr>
        </p:nvSpPr>
        <p:spPr>
          <a:xfrm>
            <a:off x="819150" y="1420825"/>
            <a:ext cx="7505700" cy="3364500"/>
          </a:xfrm>
          <a:prstGeom prst="rect">
            <a:avLst/>
          </a:prstGeom>
        </p:spPr>
        <p:txBody>
          <a:bodyPr anchorCtr="0" anchor="t" bIns="91425" lIns="91425" spcFirstLastPara="1" rIns="91425" wrap="square" tIns="91425">
            <a:normAutofit lnSpcReduction="20000"/>
          </a:bodyPr>
          <a:lstStyle/>
          <a:p>
            <a:pPr indent="0" lvl="0" marL="0" rtl="1" algn="r">
              <a:spcBef>
                <a:spcPts val="0"/>
              </a:spcBef>
              <a:spcAft>
                <a:spcPts val="0"/>
              </a:spcAft>
              <a:buNone/>
            </a:pPr>
            <a:r>
              <a:rPr lang="iw"/>
              <a:t>לפעמים, יש קריאות לכתובות שאינן קיימות. לדוגמא, אם משתמש יפנה לשרת שיצרנו בשיעורים קודמים לכתובת </a:t>
            </a:r>
            <a:r>
              <a:rPr lang="iw" u="sng">
                <a:solidFill>
                  <a:schemeClr val="hlink"/>
                </a:solidFill>
                <a:hlinkClick r:id="rId3"/>
              </a:rPr>
              <a:t>http://localhost:3000/phone</a:t>
            </a:r>
            <a:r>
              <a:rPr lang="iw"/>
              <a:t> .</a:t>
            </a:r>
            <a:endParaRPr/>
          </a:p>
          <a:p>
            <a:pPr indent="0" lvl="0" marL="0" rtl="1" algn="r">
              <a:spcBef>
                <a:spcPts val="400"/>
              </a:spcBef>
              <a:spcAft>
                <a:spcPts val="0"/>
              </a:spcAft>
              <a:buNone/>
            </a:pPr>
            <a:r>
              <a:rPr lang="iw"/>
              <a:t>אולם לעיתים, מופיעה קריאה לכתובת קיימת, אבל מנסה לשלוף אובייקט לא קיים. יש בפרויקט מספר קריאות המיועדות לאובקיטים ספציפיים, כמו </a:t>
            </a:r>
            <a:r>
              <a:rPr lang="iw" u="sng">
                <a:solidFill>
                  <a:schemeClr val="hlink"/>
                </a:solidFill>
                <a:hlinkClick r:id="rId4"/>
              </a:rPr>
              <a:t>http://localhost:3000/courses/4</a:t>
            </a:r>
            <a:r>
              <a:rPr lang="iw"/>
              <a:t> - לקבל / למחוק / לעדכן את קורס מספר 4.</a:t>
            </a:r>
            <a:endParaRPr/>
          </a:p>
          <a:p>
            <a:pPr indent="0" lvl="0" marL="0" rtl="1" algn="r">
              <a:spcBef>
                <a:spcPts val="400"/>
              </a:spcBef>
              <a:spcAft>
                <a:spcPts val="0"/>
              </a:spcAft>
              <a:buNone/>
            </a:pPr>
            <a:r>
              <a:rPr lang="iw"/>
              <a:t>מה קורה כאשר נשלח מזהה של אובייקט שאינו קיים?</a:t>
            </a:r>
            <a:endParaRPr/>
          </a:p>
          <a:p>
            <a:pPr indent="0" lvl="0" marL="0" rtl="1" algn="r">
              <a:spcBef>
                <a:spcPts val="400"/>
              </a:spcBef>
              <a:spcAft>
                <a:spcPts val="0"/>
              </a:spcAft>
              <a:buNone/>
            </a:pPr>
            <a:r>
              <a:rPr lang="iw"/>
              <a:t>בסיטואציה כזו, חובה להחזיר סטטוס 404 מהקריאה בצורה מפורשת.</a:t>
            </a:r>
            <a:endParaRPr/>
          </a:p>
          <a:p>
            <a:pPr indent="0" lvl="0" marL="0" rtl="1" algn="r">
              <a:spcBef>
                <a:spcPts val="400"/>
              </a:spcBef>
              <a:spcAft>
                <a:spcPts val="0"/>
              </a:spcAft>
              <a:buNone/>
            </a:pPr>
            <a:r>
              <a:rPr lang="iw"/>
              <a:t>בחלוקה לפי שכבות ארכיטקטורה: בשכבת ה service יש פונקציה שמקבלת id ומחזירה את האובייקט שמתאים לו. אם אין אוביקט כזה, הפונקציה תחזיר null או undefined.</a:t>
            </a:r>
            <a:endParaRPr/>
          </a:p>
          <a:p>
            <a:pPr indent="0" lvl="0" marL="0" rtl="1" algn="r">
              <a:spcBef>
                <a:spcPts val="400"/>
              </a:spcBef>
              <a:spcAft>
                <a:spcPts val="0"/>
              </a:spcAft>
              <a:buNone/>
            </a:pPr>
            <a:r>
              <a:rPr lang="iw"/>
              <a:t>הפונקציה ב controller קוראת לפונקציה ב service, ובודקת אם חזר ערך. אם כן, היא מחזירה את הערך כרגיל - res.json. אם אין, הפונקציה צריכה להחזיר סטטוס 404.</a:t>
            </a:r>
            <a:endParaRPr/>
          </a:p>
          <a:p>
            <a:pPr indent="0" lvl="0" marL="0" rtl="1" algn="r">
              <a:spcBef>
                <a:spcPts val="400"/>
              </a:spcBef>
              <a:spcAft>
                <a:spcPts val="0"/>
              </a:spcAft>
              <a:buNone/>
            </a:pPr>
            <a:r>
              <a:rPr lang="iw"/>
              <a:t>בקשי מה ai שיסביר לך עוד על החזרת סטטוס 404 ב express</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400"/>
              </a:spcAft>
              <a:buNone/>
            </a:pPr>
            <a:r>
              <a:rPr lang="iw"/>
              <a:t>In an Express application, when should I return HTTP 404? </a:t>
            </a:r>
            <a:br>
              <a:rPr lang="iw"/>
            </a:br>
            <a:r>
              <a:rPr lang="iw"/>
              <a:t>Show a simple example using GET /courses/:id. </a:t>
            </a:r>
            <a:br>
              <a:rPr lang="iw"/>
            </a:br>
            <a:r>
              <a:rPr lang="iw"/>
              <a:t>Explain why returning 404 is better than returning an empty response.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מי יכול לגשת לשרת? / http header</a:t>
            </a:r>
            <a:endParaRPr>
              <a:latin typeface="Calibri"/>
              <a:ea typeface="Calibri"/>
              <a:cs typeface="Calibri"/>
              <a:sym typeface="Calibri"/>
            </a:endParaRPr>
          </a:p>
        </p:txBody>
      </p:sp>
      <p:sp>
        <p:nvSpPr>
          <p:cNvPr id="474" name="Google Shape;474;p70"/>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יצרנו צד שרת שתומך במספר קריאות שונות. כרגע הוא רץ על המחשב הפרטי, אבל אין בעיה עקרונית להעלות אותו לשרת ציבורי ולהפנות אליו קריאות מכל מקום באינטרנט.</a:t>
            </a:r>
            <a:endParaRPr/>
          </a:p>
          <a:p>
            <a:pPr indent="0" lvl="0" marL="0" rtl="1" algn="r">
              <a:spcBef>
                <a:spcPts val="400"/>
              </a:spcBef>
              <a:spcAft>
                <a:spcPts val="0"/>
              </a:spcAft>
              <a:buNone/>
            </a:pPr>
            <a:r>
              <a:rPr lang="iw"/>
              <a:t>אם אכן כך יהיה, כל אחד ואחד שיהיה לו את הכתובת של השרת יוכל להפנות אליו קריאות.</a:t>
            </a:r>
            <a:endParaRPr/>
          </a:p>
          <a:p>
            <a:pPr indent="0" lvl="0" marL="0" rtl="1" algn="r">
              <a:spcBef>
                <a:spcPts val="400"/>
              </a:spcBef>
              <a:spcAft>
                <a:spcPts val="0"/>
              </a:spcAft>
              <a:buNone/>
            </a:pPr>
            <a:r>
              <a:rPr lang="iw"/>
              <a:t>באפליקציות אמיתיות, בדרך כלל, יש חובה להגן על חלק גדול מהקריאות שהשרת מכיל, ולאפשר אך ורק למשתמשים מאומתים לפנות אליו.</a:t>
            </a:r>
            <a:endParaRPr/>
          </a:p>
          <a:p>
            <a:pPr indent="0" lvl="0" marL="0" rtl="1" algn="r">
              <a:spcBef>
                <a:spcPts val="400"/>
              </a:spcBef>
              <a:spcAft>
                <a:spcPts val="0"/>
              </a:spcAft>
              <a:buNone/>
            </a:pPr>
            <a:r>
              <a:rPr lang="iw"/>
              <a:t>לדוגמא, צד שרת של קופת חולים. מכיל קריאה שמקבלת את מזהה הפציינט, ואמורה להחזיר את רשימת התורים שלו. לא יעלה על הדעת שכל אחד יוכל להפנות קריאה לשרת דרך תוכנת postman, ולקבל את נתוני התורות של כל הפציינטים בקופת חולים. חייבת להיות שכבת הגנה ואימות על כל קריאה.</a:t>
            </a:r>
            <a:endParaRPr/>
          </a:p>
          <a:p>
            <a:pPr indent="0" lvl="0" marL="0" rtl="1" algn="r">
              <a:spcBef>
                <a:spcPts val="400"/>
              </a:spcBef>
              <a:spcAft>
                <a:spcPts val="0"/>
              </a:spcAft>
              <a:buNone/>
            </a:pPr>
            <a:r>
              <a:rPr lang="iw"/>
              <a:t>אם נעשית קריאה ממשתמש לא מורשה / לא מאומת, השרת צריך להחזיר סטטוס 401 (או 401), ולא את התשובה המתאימה. צילום מ postman:</a:t>
            </a:r>
            <a:br>
              <a:rPr lang="iw"/>
            </a:br>
            <a:endParaRPr/>
          </a:p>
          <a:p>
            <a:pPr indent="0" lvl="0" marL="0" rtl="0" algn="l">
              <a:spcBef>
                <a:spcPts val="400"/>
              </a:spcBef>
              <a:spcAft>
                <a:spcPts val="400"/>
              </a:spcAft>
              <a:buNone/>
            </a:pPr>
            <a:r>
              <a:t/>
            </a:r>
            <a:endParaRPr/>
          </a:p>
        </p:txBody>
      </p:sp>
      <p:pic>
        <p:nvPicPr>
          <p:cNvPr id="475" name="Google Shape;475;p70"/>
          <p:cNvPicPr preferRelativeResize="0"/>
          <p:nvPr/>
        </p:nvPicPr>
        <p:blipFill>
          <a:blip r:embed="rId3">
            <a:alphaModFix/>
          </a:blip>
          <a:stretch>
            <a:fillRect/>
          </a:stretch>
        </p:blipFill>
        <p:spPr>
          <a:xfrm>
            <a:off x="1759425" y="3740450"/>
            <a:ext cx="2715525" cy="5810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7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אימות בקשות - http header</a:t>
            </a:r>
            <a:endParaRPr>
              <a:latin typeface="Calibri"/>
              <a:ea typeface="Calibri"/>
              <a:cs typeface="Calibri"/>
              <a:sym typeface="Calibri"/>
            </a:endParaRPr>
          </a:p>
        </p:txBody>
      </p:sp>
      <p:sp>
        <p:nvSpPr>
          <p:cNvPr id="481" name="Google Shape;481;p71"/>
          <p:cNvSpPr txBox="1"/>
          <p:nvPr>
            <p:ph idx="1" type="body"/>
          </p:nvPr>
        </p:nvSpPr>
        <p:spPr>
          <a:xfrm>
            <a:off x="819150" y="1420825"/>
            <a:ext cx="7505700" cy="3657900"/>
          </a:xfrm>
          <a:prstGeom prst="rect">
            <a:avLst/>
          </a:prstGeom>
        </p:spPr>
        <p:txBody>
          <a:bodyPr anchorCtr="0" anchor="t" bIns="91425" lIns="91425" spcFirstLastPara="1" rIns="91425" wrap="square" tIns="91425">
            <a:normAutofit fontScale="77500" lnSpcReduction="20000"/>
          </a:bodyPr>
          <a:lstStyle/>
          <a:p>
            <a:pPr indent="0" lvl="0" marL="0" rtl="1" algn="r">
              <a:spcBef>
                <a:spcPts val="0"/>
              </a:spcBef>
              <a:spcAft>
                <a:spcPts val="0"/>
              </a:spcAft>
              <a:buNone/>
            </a:pPr>
            <a:r>
              <a:rPr lang="iw"/>
              <a:t>אימות הקריאה הוא חובה. (מלבד קריאות שתקין שתהינה פתוחות לכל המשתמשים). איך ניתן להוסיף אימות לקריאה?</a:t>
            </a:r>
            <a:endParaRPr/>
          </a:p>
          <a:p>
            <a:pPr indent="0" lvl="0" marL="0" rtl="1" algn="r">
              <a:spcBef>
                <a:spcPts val="400"/>
              </a:spcBef>
              <a:spcAft>
                <a:spcPts val="0"/>
              </a:spcAft>
              <a:buNone/>
            </a:pPr>
            <a:r>
              <a:rPr lang="iw"/>
              <a:t>בשיעור זה נלמד אימות בסיסי ביותר, בפועל משתמשים במערכת מעט יותר מורכבת, אך עם אותם העקרונות.</a:t>
            </a:r>
            <a:endParaRPr/>
          </a:p>
          <a:p>
            <a:pPr indent="0" lvl="0" marL="0" rtl="1" algn="r">
              <a:spcBef>
                <a:spcPts val="400"/>
              </a:spcBef>
              <a:spcAft>
                <a:spcPts val="0"/>
              </a:spcAft>
              <a:buNone/>
            </a:pPr>
            <a:r>
              <a:rPr lang="iw"/>
              <a:t>עד כה, קריאות שרת כללו שני מרכיבים בלבד: כתובת הקריאה, לדוגמא </a:t>
            </a:r>
            <a:r>
              <a:rPr lang="iw" u="sng">
                <a:solidFill>
                  <a:schemeClr val="hlink"/>
                </a:solidFill>
                <a:hlinkClick r:id="rId3"/>
              </a:rPr>
              <a:t>http://localhost:3000/courses</a:t>
            </a:r>
            <a:r>
              <a:rPr lang="iw"/>
              <a:t> , ובקריאות מסוג post / put כללו גם כן את ״גוף״ הקריאה - אובייקט של יצירה / עדכון.</a:t>
            </a:r>
            <a:endParaRPr/>
          </a:p>
          <a:p>
            <a:pPr indent="0" lvl="0" marL="0" rtl="1" algn="r">
              <a:spcBef>
                <a:spcPts val="400"/>
              </a:spcBef>
              <a:spcAft>
                <a:spcPts val="0"/>
              </a:spcAft>
              <a:buNone/>
            </a:pPr>
            <a:r>
              <a:rPr lang="iw"/>
              <a:t>קריאות עשויות לכלול חלק נוסף, שנקרא header - כותרות. אלה הם פריטי מידע שמתווספים לקריאה. (גם תשובה מהשרת כוללת headers - מידע נוסף על התשובה).</a:t>
            </a:r>
            <a:br>
              <a:rPr lang="iw"/>
            </a:br>
            <a:r>
              <a:rPr lang="iw"/>
              <a:t>ניתן להוסיף את ה headers בתוכנת postman:  ליד האפשרות להוסיף body</a:t>
            </a:r>
            <a:endParaRPr/>
          </a:p>
          <a:p>
            <a:pPr indent="0" lvl="0" marL="0" rtl="1" algn="r">
              <a:spcBef>
                <a:spcPts val="400"/>
              </a:spcBef>
              <a:spcAft>
                <a:spcPts val="0"/>
              </a:spcAft>
              <a:buNone/>
            </a:pPr>
            <a:r>
              <a:rPr lang="iw"/>
              <a:t>יש כפתור של headers ששם אפשר להוסיף כותרות. כל כותרת מורכבת</a:t>
            </a:r>
            <a:endParaRPr/>
          </a:p>
          <a:p>
            <a:pPr indent="0" lvl="0" marL="0" rtl="1" algn="r">
              <a:spcBef>
                <a:spcPts val="400"/>
              </a:spcBef>
              <a:spcAft>
                <a:spcPts val="0"/>
              </a:spcAft>
              <a:buNone/>
            </a:pPr>
            <a:r>
              <a:rPr lang="iw"/>
              <a:t>משם הכותרת, והערך שלו. קריאה מאומתת תמיד תכלול header </a:t>
            </a:r>
            <a:endParaRPr/>
          </a:p>
          <a:p>
            <a:pPr indent="0" lvl="0" marL="0" rtl="1" algn="r">
              <a:spcBef>
                <a:spcPts val="400"/>
              </a:spcBef>
              <a:spcAft>
                <a:spcPts val="0"/>
              </a:spcAft>
              <a:buNone/>
            </a:pPr>
            <a:r>
              <a:rPr lang="iw"/>
              <a:t>כלשהו לאימות, ובצד השרת תהיה בדיקה: האם הקריאה כוללת את </a:t>
            </a:r>
            <a:endParaRPr/>
          </a:p>
          <a:p>
            <a:pPr indent="0" lvl="0" marL="0" rtl="1" algn="r">
              <a:spcBef>
                <a:spcPts val="400"/>
              </a:spcBef>
              <a:spcAft>
                <a:spcPts val="0"/>
              </a:spcAft>
              <a:buNone/>
            </a:pPr>
            <a:r>
              <a:rPr lang="iw"/>
              <a:t>ה header המבוקש, ואם כן, האם הערך של ה header הוא הערך הנכון. אם כן, הקריאה מאומתת ותחזור תשובה נכונה. אם לא, האימות נכשל ויש להחזיר סטטוס 401.</a:t>
            </a:r>
            <a:br>
              <a:rPr lang="iw"/>
            </a:br>
            <a:r>
              <a:rPr lang="iw"/>
              <a:t>(שימי לב - בפרויקט אמיתי הערך של ה header יהיה מורכב הרבה יותר מהמפורט כאן.)</a:t>
            </a:r>
            <a:endParaRPr/>
          </a:p>
          <a:p>
            <a:pPr indent="0" lvl="0" marL="0" rtl="1" algn="r">
              <a:spcBef>
                <a:spcPts val="400"/>
              </a:spcBef>
              <a:spcAft>
                <a:spcPts val="0"/>
              </a:spcAft>
              <a:buNone/>
            </a:pPr>
            <a:r>
              <a:rPr lang="iw"/>
              <a:t>בקשי מה ai שיסביר לך עוד על אימות קריאה דרך שימוש ב http header</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What are HTTP request headers? </a:t>
            </a:r>
            <a:br>
              <a:rPr lang="iw"/>
            </a:br>
            <a:r>
              <a:rPr lang="iw"/>
              <a:t>Explain why servers sometimes check request headers before processing a request. Do not explain JWT or OAuth.</a:t>
            </a:r>
            <a:br>
              <a:rPr lang="iw"/>
            </a:br>
            <a:r>
              <a:rPr lang="iw"/>
              <a:t>Explain HTTP 401 Unauthorized.</a:t>
            </a:r>
            <a:endParaRPr/>
          </a:p>
          <a:p>
            <a:pPr indent="0" lvl="0" marL="0" rtl="0" algn="l">
              <a:spcBef>
                <a:spcPts val="400"/>
              </a:spcBef>
              <a:spcAft>
                <a:spcPts val="0"/>
              </a:spcAft>
              <a:buNone/>
            </a:pPr>
            <a:r>
              <a:rPr lang="iw"/>
              <a:t>Show a simple Express example that checks a custom request header.</a:t>
            </a:r>
            <a:endParaRPr/>
          </a:p>
          <a:p>
            <a:pPr indent="0" lvl="0" marL="0" rtl="0" algn="l">
              <a:spcBef>
                <a:spcPts val="400"/>
              </a:spcBef>
              <a:spcAft>
                <a:spcPts val="0"/>
              </a:spcAft>
              <a:buNone/>
            </a:pPr>
            <a:r>
              <a:rPr lang="iw"/>
              <a:t>Do not use JWT or authentication libraries.</a:t>
            </a:r>
            <a:endParaRPr/>
          </a:p>
          <a:p>
            <a:pPr indent="0" lvl="0" marL="0" rtl="0" algn="l">
              <a:spcBef>
                <a:spcPts val="400"/>
              </a:spcBef>
              <a:spcAft>
                <a:spcPts val="400"/>
              </a:spcAft>
              <a:buNone/>
            </a:pPr>
            <a:r>
              <a:t/>
            </a:r>
            <a:endParaRPr/>
          </a:p>
        </p:txBody>
      </p:sp>
      <p:pic>
        <p:nvPicPr>
          <p:cNvPr id="482" name="Google Shape;482;p71"/>
          <p:cNvPicPr preferRelativeResize="0"/>
          <p:nvPr/>
        </p:nvPicPr>
        <p:blipFill>
          <a:blip r:embed="rId4">
            <a:alphaModFix/>
          </a:blip>
          <a:stretch>
            <a:fillRect/>
          </a:stretch>
        </p:blipFill>
        <p:spPr>
          <a:xfrm>
            <a:off x="916575" y="2505200"/>
            <a:ext cx="2738901" cy="7544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7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אימות / המשך</a:t>
            </a:r>
            <a:endParaRPr>
              <a:latin typeface="Calibri"/>
              <a:ea typeface="Calibri"/>
              <a:cs typeface="Calibri"/>
              <a:sym typeface="Calibri"/>
            </a:endParaRPr>
          </a:p>
        </p:txBody>
      </p:sp>
      <p:sp>
        <p:nvSpPr>
          <p:cNvPr id="488" name="Google Shape;488;p72"/>
          <p:cNvSpPr txBox="1"/>
          <p:nvPr>
            <p:ph idx="1" type="body"/>
          </p:nvPr>
        </p:nvSpPr>
        <p:spPr>
          <a:xfrm>
            <a:off x="819150" y="1420825"/>
            <a:ext cx="7505700" cy="2860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בשקופית קודמת הופיע תקציר על אימות.</a:t>
            </a:r>
            <a:endParaRPr/>
          </a:p>
          <a:p>
            <a:pPr indent="0" lvl="0" marL="0" rtl="1" algn="r">
              <a:spcBef>
                <a:spcPts val="400"/>
              </a:spcBef>
              <a:spcAft>
                <a:spcPts val="0"/>
              </a:spcAft>
              <a:buNone/>
            </a:pPr>
            <a:r>
              <a:rPr lang="iw"/>
              <a:t>יש לשים לב, ששקופית זו כוללת בתוכה מספר תתי נושאים קצרים, יש להשתמש ב ai כדי לבדוק כל אחד מהם בנפרד ולהבין את התשובות דרכו:</a:t>
            </a:r>
            <a:endParaRPr/>
          </a:p>
          <a:p>
            <a:pPr indent="-311150" lvl="0" marL="457200" rtl="1" algn="r">
              <a:spcBef>
                <a:spcPts val="400"/>
              </a:spcBef>
              <a:spcAft>
                <a:spcPts val="0"/>
              </a:spcAft>
              <a:buSzPts val="1300"/>
              <a:buChar char="-"/>
            </a:pPr>
            <a:r>
              <a:rPr lang="iw"/>
              <a:t>מה זה http header?</a:t>
            </a:r>
            <a:endParaRPr/>
          </a:p>
          <a:p>
            <a:pPr indent="-311150" lvl="0" marL="457200" rtl="1" algn="r">
              <a:spcBef>
                <a:spcPts val="0"/>
              </a:spcBef>
              <a:spcAft>
                <a:spcPts val="0"/>
              </a:spcAft>
              <a:buSzPts val="1300"/>
              <a:buChar char="-"/>
            </a:pPr>
            <a:r>
              <a:rPr lang="iw"/>
              <a:t>למה חשוב לאמת את הקריאות והמשתמשים?</a:t>
            </a:r>
            <a:endParaRPr/>
          </a:p>
          <a:p>
            <a:pPr indent="-311150" lvl="0" marL="457200" rtl="1" algn="r">
              <a:spcBef>
                <a:spcPts val="0"/>
              </a:spcBef>
              <a:spcAft>
                <a:spcPts val="0"/>
              </a:spcAft>
              <a:buSzPts val="1300"/>
              <a:buChar char="-"/>
            </a:pPr>
            <a:r>
              <a:rPr lang="iw"/>
              <a:t>מהו סטטוס התשובה שחוזר בקריאה לא מאומתת?</a:t>
            </a:r>
            <a:endParaRPr/>
          </a:p>
          <a:p>
            <a:pPr indent="-311150" lvl="0" marL="457200" rtl="1" algn="r">
              <a:spcBef>
                <a:spcPts val="0"/>
              </a:spcBef>
              <a:spcAft>
                <a:spcPts val="0"/>
              </a:spcAft>
              <a:buSzPts val="1300"/>
              <a:buChar char="-"/>
            </a:pPr>
            <a:r>
              <a:rPr lang="iw"/>
              <a:t>איך אפשר בצד השרת לבדוק את הערכים של http headers?</a:t>
            </a:r>
            <a:endParaRPr/>
          </a:p>
          <a:p>
            <a:pPr indent="0" lvl="0" marL="0" rtl="1" algn="r">
              <a:spcBef>
                <a:spcPts val="400"/>
              </a:spcBef>
              <a:spcAft>
                <a:spcPts val="0"/>
              </a:spcAft>
              <a:buNone/>
            </a:pPr>
            <a:r>
              <a:rPr lang="iw"/>
              <a:t>בצד השרת, יש לבדוק את הערכים של ה http headers, ואם הם אינם הערכים המבוקשים יש להחזיר סטטוס 401 (או 403)</a:t>
            </a:r>
            <a:endParaRPr/>
          </a:p>
          <a:p>
            <a:pPr indent="0" lvl="0" marL="0" rtl="1" algn="r">
              <a:spcBef>
                <a:spcPts val="400"/>
              </a:spcBef>
              <a:spcAft>
                <a:spcPts val="400"/>
              </a:spcAft>
              <a:buNone/>
            </a:pPr>
            <a:r>
              <a:rPr lang="iw"/>
              <a:t>יש להשתמש ב ai כדי להבין היטב איך ניתן לבדוק, לאמת, ולהחזיר את התשובה הזו.</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למה צריך middleware?</a:t>
            </a:r>
            <a:endParaRPr>
              <a:latin typeface="Calibri"/>
              <a:ea typeface="Calibri"/>
              <a:cs typeface="Calibri"/>
              <a:sym typeface="Calibri"/>
            </a:endParaRPr>
          </a:p>
        </p:txBody>
      </p:sp>
      <p:sp>
        <p:nvSpPr>
          <p:cNvPr id="494" name="Google Shape;494;p73"/>
          <p:cNvSpPr txBox="1"/>
          <p:nvPr>
            <p:ph idx="1" type="body"/>
          </p:nvPr>
        </p:nvSpPr>
        <p:spPr>
          <a:xfrm>
            <a:off x="819150" y="1420825"/>
            <a:ext cx="7505700" cy="3657900"/>
          </a:xfrm>
          <a:prstGeom prst="rect">
            <a:avLst/>
          </a:prstGeom>
        </p:spPr>
        <p:txBody>
          <a:bodyPr anchorCtr="0" anchor="t" bIns="91425" lIns="91425" spcFirstLastPara="1" rIns="91425" wrap="square" tIns="91425">
            <a:normAutofit lnSpcReduction="20000"/>
          </a:bodyPr>
          <a:lstStyle/>
          <a:p>
            <a:pPr indent="0" lvl="0" marL="0" rtl="1" algn="r">
              <a:spcBef>
                <a:spcPts val="0"/>
              </a:spcBef>
              <a:spcAft>
                <a:spcPts val="0"/>
              </a:spcAft>
              <a:buNone/>
            </a:pPr>
            <a:r>
              <a:rPr lang="iw"/>
              <a:t>בשקופיות קודמות נלמד הצורך והחשיבות לאמת כל קריאה מהמשתמש. יש לבדוק בכל אחת מקריאות השרת את ה http header, ואם הוא אינו תקין, יש להחזיר סטטוס 401.</a:t>
            </a:r>
            <a:endParaRPr/>
          </a:p>
          <a:p>
            <a:pPr indent="0" lvl="0" marL="0" rtl="1" algn="r">
              <a:spcBef>
                <a:spcPts val="400"/>
              </a:spcBef>
              <a:spcAft>
                <a:spcPts val="0"/>
              </a:spcAft>
              <a:buNone/>
            </a:pPr>
            <a:r>
              <a:rPr lang="iw"/>
              <a:t>האם באמת נכון לחזור על הקוד הזה בתוך כל פונקציה של קריאת שרת? וודאי שלא. הקוד גם הופך להיות מסובך יותר, יש חזרתיות בקוד, וכו׳.</a:t>
            </a:r>
            <a:endParaRPr/>
          </a:p>
          <a:p>
            <a:pPr indent="0" lvl="0" marL="0" rtl="1" algn="r">
              <a:spcBef>
                <a:spcPts val="400"/>
              </a:spcBef>
              <a:spcAft>
                <a:spcPts val="0"/>
              </a:spcAft>
              <a:buNone/>
            </a:pPr>
            <a:r>
              <a:rPr lang="iw"/>
              <a:t>הפתרון הפשוט - יצירת פונקציה אחת, ולקרוא לה מכל המקומות. גם פתרון זה אינו מושלם,</a:t>
            </a:r>
            <a:endParaRPr/>
          </a:p>
          <a:p>
            <a:pPr indent="0" lvl="0" marL="0" rtl="1" algn="r">
              <a:spcBef>
                <a:spcPts val="400"/>
              </a:spcBef>
              <a:spcAft>
                <a:spcPts val="0"/>
              </a:spcAft>
              <a:buNone/>
            </a:pPr>
            <a:r>
              <a:rPr lang="iw"/>
              <a:t>ולו מהסיבה הפשוטה, שיש צורך לזכור לקרוא לה מכל מקום, ותמיד יכול להיות שקריאה אחת בשגגה לא תכיל את הקריאה לפונקציה, והקריאה לא תהיה מוגנת.</a:t>
            </a:r>
            <a:endParaRPr/>
          </a:p>
          <a:p>
            <a:pPr indent="0" lvl="0" marL="0" rtl="1" algn="r">
              <a:spcBef>
                <a:spcPts val="400"/>
              </a:spcBef>
              <a:spcAft>
                <a:spcPts val="0"/>
              </a:spcAft>
              <a:buNone/>
            </a:pPr>
            <a:r>
              <a:rPr lang="iw"/>
              <a:t>לשם כך, יש להשתמש במנגנון ה middleware שקיים ב express.</a:t>
            </a:r>
            <a:endParaRPr/>
          </a:p>
          <a:p>
            <a:pPr indent="0" lvl="0" marL="0" rtl="1" algn="r">
              <a:spcBef>
                <a:spcPts val="400"/>
              </a:spcBef>
              <a:spcAft>
                <a:spcPts val="0"/>
              </a:spcAft>
              <a:buNone/>
            </a:pPr>
            <a:r>
              <a:rPr lang="iw"/>
              <a:t>פונקציית middleware לא משמשת רק לצרכי אימות, אלא לעוד פעולות שונות, אבל אימות זוהי אחת הפעולות הבסיסיות שיש להשתמש ב middleware</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הצורך ב middleware</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Why is duplicating the same code in many Express routes considered bad practice?</a:t>
            </a:r>
            <a:endParaRPr/>
          </a:p>
          <a:p>
            <a:pPr indent="0" lvl="0" marL="0" rtl="0" algn="l">
              <a:lnSpc>
                <a:spcPct val="115000"/>
              </a:lnSpc>
              <a:spcBef>
                <a:spcPts val="400"/>
              </a:spcBef>
              <a:spcAft>
                <a:spcPts val="0"/>
              </a:spcAft>
              <a:buNone/>
            </a:pPr>
            <a:r>
              <a:rPr lang="iw"/>
              <a:t>Explain using request validation as an example.</a:t>
            </a:r>
            <a:br>
              <a:rPr lang="iw"/>
            </a:br>
            <a:r>
              <a:rPr lang="iw"/>
              <a:t>What is the solution to prevent duplication the same code of validation</a:t>
            </a:r>
            <a:endParaRPr/>
          </a:p>
          <a:p>
            <a:pPr indent="0" lvl="0" marL="0" rtl="0" algn="l">
              <a:lnSpc>
                <a:spcPct val="115000"/>
              </a:lnSpc>
              <a:spcBef>
                <a:spcPts val="0"/>
              </a:spcBef>
              <a:spcAft>
                <a:spcPts val="0"/>
              </a:spcAft>
              <a:buNone/>
            </a:pPr>
            <a:r>
              <a:t/>
            </a:r>
            <a:endParaRPr/>
          </a:p>
          <a:p>
            <a:pPr indent="0" lvl="0" marL="0" rtl="0" algn="l">
              <a:spcBef>
                <a:spcPts val="0"/>
              </a:spcBef>
              <a:spcAft>
                <a:spcPts val="40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a:t>
            </a:r>
            <a:r>
              <a:rPr lang="iw">
                <a:latin typeface="Calibri"/>
                <a:ea typeface="Calibri"/>
                <a:cs typeface="Calibri"/>
                <a:sym typeface="Calibri"/>
              </a:rPr>
              <a:t> middleware?</a:t>
            </a:r>
            <a:endParaRPr>
              <a:latin typeface="Calibri"/>
              <a:ea typeface="Calibri"/>
              <a:cs typeface="Calibri"/>
              <a:sym typeface="Calibri"/>
            </a:endParaRPr>
          </a:p>
        </p:txBody>
      </p:sp>
      <p:sp>
        <p:nvSpPr>
          <p:cNvPr id="500" name="Google Shape;500;p74"/>
          <p:cNvSpPr txBox="1"/>
          <p:nvPr>
            <p:ph idx="1" type="body"/>
          </p:nvPr>
        </p:nvSpPr>
        <p:spPr>
          <a:xfrm>
            <a:off x="819150" y="1420825"/>
            <a:ext cx="7505700" cy="3657900"/>
          </a:xfrm>
          <a:prstGeom prst="rect">
            <a:avLst/>
          </a:prstGeom>
        </p:spPr>
        <p:txBody>
          <a:bodyPr anchorCtr="0" anchor="t" bIns="91425" lIns="91425" spcFirstLastPara="1" rIns="91425" wrap="square" tIns="91425">
            <a:normAutofit fontScale="85000" lnSpcReduction="20000"/>
          </a:bodyPr>
          <a:lstStyle/>
          <a:p>
            <a:pPr indent="0" lvl="0" marL="0" rtl="1" algn="r">
              <a:spcBef>
                <a:spcPts val="0"/>
              </a:spcBef>
              <a:spcAft>
                <a:spcPts val="0"/>
              </a:spcAft>
              <a:buNone/>
            </a:pPr>
            <a:r>
              <a:rPr lang="iw"/>
              <a:t>באופן רגיל, קריאה מגיעה לשרת, השרת בודק את הניתוב שלה, ומפנה אותה מיידית לפונקציה המתאימה לה בקונטרולר המתאים.</a:t>
            </a:r>
            <a:endParaRPr/>
          </a:p>
          <a:p>
            <a:pPr indent="0" lvl="0" marL="0" rtl="1" algn="r">
              <a:spcBef>
                <a:spcPts val="400"/>
              </a:spcBef>
              <a:spcAft>
                <a:spcPts val="0"/>
              </a:spcAft>
              <a:buNone/>
            </a:pPr>
            <a:r>
              <a:rPr lang="iw"/>
              <a:t>לעיתים, יש פונקציות שמעורבות במנגנון הזה, ולפני שהשרת מעביר את הקריאה ישירות לפונקציה המתאימה בקונטרולר, הוא קורא קודם כל לפונקציות אחרות, ורק אחרי שהן מסיימות את פעולתן בהצלחה השרת יעביר את הקריאה לפונקציה המתאימה.</a:t>
            </a:r>
            <a:endParaRPr/>
          </a:p>
          <a:p>
            <a:pPr indent="0" lvl="0" marL="0" rtl="1" algn="r">
              <a:spcBef>
                <a:spcPts val="400"/>
              </a:spcBef>
              <a:spcAft>
                <a:spcPts val="0"/>
              </a:spcAft>
              <a:buNone/>
            </a:pPr>
            <a:r>
              <a:rPr lang="iw"/>
              <a:t>הפונקציות האלה, שנקראות מיד אחרי שהקריאה מגיעה לשרת, ולפני שהקריאה עוברת לתוך הפונקציה המתאימה ב controller , נקראות middleware.</a:t>
            </a:r>
            <a:endParaRPr/>
          </a:p>
          <a:p>
            <a:pPr indent="0" lvl="0" marL="0" rtl="1" algn="r">
              <a:spcBef>
                <a:spcPts val="400"/>
              </a:spcBef>
              <a:spcAft>
                <a:spcPts val="0"/>
              </a:spcAft>
              <a:buNone/>
            </a:pPr>
            <a:r>
              <a:rPr lang="iw"/>
              <a:t>הדוגמא הבולטת לצורך בפונקציית middleware: אימות משתמשים. מיד אחרי שהקריאה מגיעה לשרת, ולפני שהיא עוברת לתוך הפונקציה המתאימה ב controller, יש צורך לבדוק את האימות.</a:t>
            </a:r>
            <a:endParaRPr/>
          </a:p>
          <a:p>
            <a:pPr indent="0" lvl="0" marL="0" rtl="1" algn="r">
              <a:spcBef>
                <a:spcPts val="400"/>
              </a:spcBef>
              <a:spcAft>
                <a:spcPts val="0"/>
              </a:spcAft>
              <a:buNone/>
            </a:pPr>
            <a:r>
              <a:rPr lang="iw"/>
              <a:t>יכולות להיות סיבות נוספות לשימוש ב middleware, לדוגמא אם יש צורך להוסיף כתיבה ללוג על כל קריאה שמגיעה לשרת, ויש סיבות נוספות.</a:t>
            </a:r>
            <a:endParaRPr/>
          </a:p>
          <a:p>
            <a:pPr indent="0" lvl="0" marL="0" rtl="1" algn="r">
              <a:spcBef>
                <a:spcPts val="400"/>
              </a:spcBef>
              <a:spcAft>
                <a:spcPts val="0"/>
              </a:spcAft>
              <a:buNone/>
            </a:pPr>
            <a:r>
              <a:rPr lang="iw"/>
              <a:t>פונקציית middleware דומה מאוד לפונקציה רגילה ב controller: היא מקבלת את אובייקט req ו res, ויכולה לקבל את כל הנתונים של הקריאה. היא יכולה לבדוק את האימות, ואם האימות נכשל ישר להחזיר תשובה עם סטטוס 401. אם הכל בסדר, ואפשר להמשיך, ה middleware יקרא לפונקציה מיוחדת שנקראת next, ואז השרת יעביר את הקריאה הלאה - לפונקציה ב controller (או ל middleware נוסף)</a:t>
            </a:r>
            <a:endParaRPr/>
          </a:p>
          <a:p>
            <a:pPr indent="0" lvl="0" marL="0" rtl="1" algn="r">
              <a:spcBef>
                <a:spcPts val="400"/>
              </a:spcBef>
              <a:spcAft>
                <a:spcPts val="0"/>
              </a:spcAft>
              <a:buNone/>
            </a:pPr>
            <a:r>
              <a:rPr lang="iw"/>
              <a:t>בקשי מה ai שיסביר לך עוד על middleware, וכיצד לממש אותם ב express</a:t>
            </a:r>
            <a:endParaRPr/>
          </a:p>
          <a:p>
            <a:pPr indent="0" lvl="0" marL="0" rtl="1" algn="r">
              <a:spcBef>
                <a:spcPts val="400"/>
              </a:spcBef>
              <a:spcAft>
                <a:spcPts val="0"/>
              </a:spcAft>
              <a:buNone/>
            </a:pPr>
            <a:r>
              <a:rPr lang="iw"/>
              <a:t>פרומפט לדוגמא:</a:t>
            </a:r>
            <a:endParaRPr/>
          </a:p>
          <a:p>
            <a:pPr indent="0" lvl="0" marL="0" rtl="0" algn="l">
              <a:lnSpc>
                <a:spcPct val="115000"/>
              </a:lnSpc>
              <a:spcBef>
                <a:spcPts val="400"/>
              </a:spcBef>
              <a:spcAft>
                <a:spcPts val="0"/>
              </a:spcAft>
              <a:buNone/>
            </a:pPr>
            <a:r>
              <a:rPr lang="iw"/>
              <a:t>Explain middleware in Express to a beginner. </a:t>
            </a:r>
            <a:br>
              <a:rPr lang="iw"/>
            </a:br>
            <a:r>
              <a:rPr lang="iw"/>
              <a:t>Use API key validation as the example. </a:t>
            </a:r>
            <a:br>
              <a:rPr lang="iw"/>
            </a:br>
            <a:r>
              <a:rPr lang="iw"/>
              <a:t>Explain what next() does.</a:t>
            </a:r>
            <a:endParaRPr/>
          </a:p>
          <a:p>
            <a:pPr indent="0" lvl="0" marL="0" rtl="0" algn="l">
              <a:lnSpc>
                <a:spcPct val="115000"/>
              </a:lnSpc>
              <a:spcBef>
                <a:spcPts val="0"/>
              </a:spcBef>
              <a:spcAft>
                <a:spcPts val="0"/>
              </a:spcAft>
              <a:buNone/>
            </a:pPr>
            <a:r>
              <a:rPr lang="iw"/>
              <a:t>Show how to create a simple Express middleware that checks a custom x-api-key header. Explain every line of code.</a:t>
            </a:r>
            <a:endParaRPr/>
          </a:p>
          <a:p>
            <a:pPr indent="0" lvl="0" marL="0" rtl="0" algn="l">
              <a:spcBef>
                <a:spcPts val="0"/>
              </a:spcBef>
              <a:spcAft>
                <a:spcPts val="40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75"/>
          <p:cNvSpPr txBox="1"/>
          <p:nvPr>
            <p:ph type="title"/>
          </p:nvPr>
        </p:nvSpPr>
        <p:spPr>
          <a:xfrm>
            <a:off x="819150" y="23665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משימה 🔨</a:t>
            </a:r>
            <a:endParaRPr>
              <a:latin typeface="Calibri"/>
              <a:ea typeface="Calibri"/>
              <a:cs typeface="Calibri"/>
              <a:sym typeface="Calibri"/>
            </a:endParaRPr>
          </a:p>
        </p:txBody>
      </p:sp>
      <p:sp>
        <p:nvSpPr>
          <p:cNvPr id="506" name="Google Shape;506;p75"/>
          <p:cNvSpPr txBox="1"/>
          <p:nvPr>
            <p:ph idx="1" type="body"/>
          </p:nvPr>
        </p:nvSpPr>
        <p:spPr>
          <a:xfrm>
            <a:off x="819150" y="765550"/>
            <a:ext cx="7505700" cy="4110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בשיעור זה יש להמשיך את הפרויקט משיעור קודם:</a:t>
            </a:r>
            <a:endParaRPr/>
          </a:p>
          <a:p>
            <a:pPr indent="-311150" lvl="0" marL="457200" rtl="1" algn="r">
              <a:spcBef>
                <a:spcPts val="400"/>
              </a:spcBef>
              <a:spcAft>
                <a:spcPts val="0"/>
              </a:spcAft>
              <a:buSzPts val="1300"/>
              <a:buChar char="-"/>
            </a:pPr>
            <a:r>
              <a:rPr lang="iw"/>
              <a:t>הפרויקט כבר מוכן ומאורגן, יש להעלות את הקוד ברמה!</a:t>
            </a:r>
            <a:endParaRPr/>
          </a:p>
          <a:p>
            <a:pPr indent="-311150" lvl="0" marL="457200" rtl="1" algn="r">
              <a:spcBef>
                <a:spcPts val="0"/>
              </a:spcBef>
              <a:spcAft>
                <a:spcPts val="0"/>
              </a:spcAft>
              <a:buSzPts val="1300"/>
              <a:buChar char="-"/>
            </a:pPr>
            <a:r>
              <a:rPr lang="iw"/>
              <a:t>לכל הקריאות שמופנות על אובייקט בודד (קריאות get לקבל אובייקט בודד, קריאות עדכון ומחיקה)</a:t>
            </a:r>
            <a:br>
              <a:rPr lang="iw"/>
            </a:br>
            <a:r>
              <a:rPr lang="iw"/>
              <a:t>יש להוסיף בדיקה שאכן האובייקט קיים. אם לא, יש להחזיר סטטוס 404.</a:t>
            </a:r>
            <a:endParaRPr/>
          </a:p>
          <a:p>
            <a:pPr indent="-311150" lvl="0" marL="457200" rtl="1" algn="r">
              <a:spcBef>
                <a:spcPts val="0"/>
              </a:spcBef>
              <a:spcAft>
                <a:spcPts val="0"/>
              </a:spcAft>
              <a:buSzPts val="1300"/>
              <a:buChar char="-"/>
            </a:pPr>
            <a:r>
              <a:rPr lang="iw"/>
              <a:t>יש להוסיף אימות של הקריאה:</a:t>
            </a:r>
            <a:endParaRPr/>
          </a:p>
          <a:p>
            <a:pPr indent="-298450" lvl="1" marL="914400" rtl="1" algn="r">
              <a:spcBef>
                <a:spcPts val="0"/>
              </a:spcBef>
              <a:spcAft>
                <a:spcPts val="0"/>
              </a:spcAft>
              <a:buSzPts val="1100"/>
              <a:buChar char="-"/>
            </a:pPr>
            <a:r>
              <a:rPr lang="iw"/>
              <a:t>יש ליצור middleware בשביל האימות, ולוודא שהיא נקראת לפני כל קריאה (ניתן להוסיף ב middleware קריאה ל console.log, וכך לוודא שהיא אכן רצה בכל הקריאות)</a:t>
            </a:r>
            <a:endParaRPr/>
          </a:p>
          <a:p>
            <a:pPr indent="-298450" lvl="1" marL="914400" rtl="1" algn="r">
              <a:spcBef>
                <a:spcPts val="0"/>
              </a:spcBef>
              <a:spcAft>
                <a:spcPts val="0"/>
              </a:spcAft>
              <a:buSzPts val="1100"/>
              <a:buChar char="-"/>
            </a:pPr>
            <a:r>
              <a:rPr lang="iw"/>
              <a:t>ה middleware בודק אם נשלח header בשם auth-key עם ערך מסוים - אפשר להחליט לבד איזה ערך.</a:t>
            </a:r>
            <a:endParaRPr/>
          </a:p>
          <a:p>
            <a:pPr indent="-298450" lvl="1" marL="914400" rtl="1" algn="r">
              <a:spcBef>
                <a:spcPts val="0"/>
              </a:spcBef>
              <a:spcAft>
                <a:spcPts val="0"/>
              </a:spcAft>
              <a:buSzPts val="1100"/>
              <a:buChar char="-"/>
            </a:pPr>
            <a:r>
              <a:rPr lang="iw"/>
              <a:t>אם כן, הקריאה יכולה להמשיך הלאה. אם לא יש להחזיר סטטוס 401.</a:t>
            </a:r>
            <a:endParaRPr/>
          </a:p>
          <a:p>
            <a:pPr indent="0" lvl="0" marL="457200" rtl="0" algn="l">
              <a:spcBef>
                <a:spcPts val="1200"/>
              </a:spcBef>
              <a:spcAft>
                <a:spcPts val="0"/>
              </a:spcAft>
              <a:buNone/>
            </a:pPr>
            <a:r>
              <a:t/>
            </a:r>
            <a:endParaRPr/>
          </a:p>
          <a:p>
            <a:pPr indent="0" lvl="0" marL="457200" rtl="1" algn="r">
              <a:spcBef>
                <a:spcPts val="400"/>
              </a:spcBef>
              <a:spcAft>
                <a:spcPts val="400"/>
              </a:spcAft>
              <a:buNone/>
            </a:pPr>
            <a:r>
              <a:rPr lang="iw"/>
              <a:t>הפרויקט אמור להמשיך לעבוד כמו קודם לכן, ניתן לבדוק זאת על ידי postman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6"/>
          <p:cNvSpPr txBox="1"/>
          <p:nvPr>
            <p:ph type="title"/>
          </p:nvPr>
        </p:nvSpPr>
        <p:spPr>
          <a:xfrm>
            <a:off x="819150" y="845600"/>
            <a:ext cx="7505700" cy="626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latin typeface="Calibri"/>
                <a:ea typeface="Calibri"/>
                <a:cs typeface="Calibri"/>
                <a:sym typeface="Calibri"/>
              </a:rPr>
              <a:t>משימה - ביצוע 📐</a:t>
            </a:r>
            <a:endParaRPr>
              <a:latin typeface="Calibri"/>
              <a:ea typeface="Calibri"/>
              <a:cs typeface="Calibri"/>
              <a:sym typeface="Calibri"/>
            </a:endParaRPr>
          </a:p>
        </p:txBody>
      </p:sp>
      <p:sp>
        <p:nvSpPr>
          <p:cNvPr id="512" name="Google Shape;512;p76"/>
          <p:cNvSpPr txBox="1"/>
          <p:nvPr>
            <p:ph idx="1" type="body"/>
          </p:nvPr>
        </p:nvSpPr>
        <p:spPr>
          <a:xfrm>
            <a:off x="819150" y="1515875"/>
            <a:ext cx="7505700" cy="33819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יש להשתמש ב ai על מנת ללמוד, להבין וגם לבצע.</a:t>
            </a:r>
            <a:endParaRPr/>
          </a:p>
          <a:p>
            <a:pPr indent="-311150" lvl="0" marL="457200" rtl="1" algn="r">
              <a:spcBef>
                <a:spcPts val="0"/>
              </a:spcBef>
              <a:spcAft>
                <a:spcPts val="0"/>
              </a:spcAft>
              <a:buSzPts val="1300"/>
              <a:buChar char="-"/>
            </a:pPr>
            <a:r>
              <a:rPr lang="iw"/>
              <a:t>כל שורת קוד שנכתבה על ידי ה ai, חובה להבין היטב!</a:t>
            </a:r>
            <a:endParaRPr/>
          </a:p>
          <a:p>
            <a:pPr indent="-311150" lvl="0" marL="457200" rtl="1" algn="r">
              <a:spcBef>
                <a:spcPts val="0"/>
              </a:spcBef>
              <a:spcAft>
                <a:spcPts val="0"/>
              </a:spcAft>
              <a:buSzPts val="1300"/>
              <a:buChar char="-"/>
            </a:pPr>
            <a:r>
              <a:rPr lang="iw"/>
              <a:t>אחרי יצירת הפרויקט הבסיסי, יש להשתמש ב ai כדי לשפר את הקוד, על ידי שאלות בסגנון:</a:t>
            </a:r>
            <a:endParaRPr/>
          </a:p>
          <a:p>
            <a:pPr indent="-298450" lvl="1" marL="914400" rtl="1" algn="r">
              <a:spcBef>
                <a:spcPts val="0"/>
              </a:spcBef>
              <a:spcAft>
                <a:spcPts val="0"/>
              </a:spcAft>
              <a:buSzPts val="1100"/>
              <a:buChar char="-"/>
            </a:pPr>
            <a:r>
              <a:rPr lang="iw"/>
              <a:t>איזה שגיאות עשויות להיות בקוד?</a:t>
            </a:r>
            <a:endParaRPr/>
          </a:p>
          <a:p>
            <a:pPr indent="-298450" lvl="1" marL="914400" rtl="1" algn="r">
              <a:spcBef>
                <a:spcPts val="0"/>
              </a:spcBef>
              <a:spcAft>
                <a:spcPts val="0"/>
              </a:spcAft>
              <a:buSzPts val="1100"/>
              <a:buChar char="-"/>
            </a:pPr>
            <a:r>
              <a:rPr lang="iw"/>
              <a:t>איך אפשר לשפר?</a:t>
            </a:r>
            <a:endParaRPr/>
          </a:p>
          <a:p>
            <a:pPr indent="-298450" lvl="1" marL="914400" rtl="1" algn="r">
              <a:spcBef>
                <a:spcPts val="0"/>
              </a:spcBef>
              <a:spcAft>
                <a:spcPts val="0"/>
              </a:spcAft>
              <a:buSzPts val="1100"/>
              <a:buChar char="-"/>
            </a:pPr>
            <a:r>
              <a:rPr lang="iw"/>
              <a:t>הער לי הערות על מבנה הקוד?</a:t>
            </a:r>
            <a:endParaRPr/>
          </a:p>
          <a:p>
            <a:pPr indent="-311150" lvl="0" marL="457200" rtl="1" algn="r">
              <a:spcBef>
                <a:spcPts val="0"/>
              </a:spcBef>
              <a:spcAft>
                <a:spcPts val="0"/>
              </a:spcAft>
              <a:buSzPts val="1300"/>
              <a:buChar char="-"/>
            </a:pPr>
            <a:r>
              <a:rPr lang="iw"/>
              <a:t>הפרויקט צריך לכלול גם קובץ txt עם פרוט של פרומפטים שונים שנשלחו ל ai ודוגמאות לתשובות.</a:t>
            </a:r>
            <a:endParaRPr/>
          </a:p>
          <a:p>
            <a:pPr indent="-311150" lvl="0" marL="457200" rtl="1" algn="r">
              <a:spcBef>
                <a:spcPts val="0"/>
              </a:spcBef>
              <a:spcAft>
                <a:spcPts val="0"/>
              </a:spcAft>
              <a:buSzPts val="1300"/>
              <a:buChar char="-"/>
            </a:pPr>
            <a:r>
              <a:rPr lang="iw"/>
              <a:t>על כל הקוד להיכתב על ידי ai.</a:t>
            </a:r>
            <a:endParaRPr/>
          </a:p>
          <a:p>
            <a:pPr indent="-311150" lvl="0" marL="457200" rtl="1" algn="r">
              <a:spcBef>
                <a:spcPts val="0"/>
              </a:spcBef>
              <a:spcAft>
                <a:spcPts val="0"/>
              </a:spcAft>
              <a:buSzPts val="1300"/>
              <a:buChar char="-"/>
            </a:pPr>
            <a:r>
              <a:rPr lang="iw"/>
              <a:t>אין לכתוב את כל הקוד בפקודה אחת, תהליך הכתיבה על ידי ai חייב להיות מחולק ל6 שלבים לפחות!</a:t>
            </a:r>
            <a:endParaRPr/>
          </a:p>
          <a:p>
            <a:pPr indent="-311150" lvl="0" marL="457200" rtl="1" algn="r">
              <a:spcBef>
                <a:spcPts val="0"/>
              </a:spcBef>
              <a:spcAft>
                <a:spcPts val="0"/>
              </a:spcAft>
              <a:buSzPts val="1300"/>
              <a:buChar char="-"/>
            </a:pPr>
            <a:r>
              <a:rPr lang="iw"/>
              <a:t>יש להעלות את הקוד בקומיט נוסף בגיט על הפרויט משיעור קודם - קומיט שמבטל ומעדכן את הקוד הקודם, אין צורך לתמוך בשני קודים מקבילים.</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7"/>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1" algn="ctr">
              <a:spcBef>
                <a:spcPts val="0"/>
              </a:spcBef>
              <a:spcAft>
                <a:spcPts val="0"/>
              </a:spcAft>
              <a:buNone/>
            </a:pPr>
            <a:r>
              <a:rPr lang="iw"/>
              <a:t>שיעור 6</a:t>
            </a:r>
            <a:endParaRPr/>
          </a:p>
        </p:txBody>
      </p:sp>
      <p:sp>
        <p:nvSpPr>
          <p:cNvPr id="518" name="Google Shape;518;p77"/>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iw"/>
              <a:t>environment variable</a:t>
            </a:r>
            <a:endParaRPr/>
          </a:p>
          <a:p>
            <a:pPr indent="0" lvl="0" marL="0" rtl="1" algn="ctr">
              <a:spcBef>
                <a:spcPts val="0"/>
              </a:spcBef>
              <a:spcAft>
                <a:spcPts val="0"/>
              </a:spcAft>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7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נושאי השיעור</a:t>
            </a:r>
            <a:endParaRPr/>
          </a:p>
        </p:txBody>
      </p:sp>
      <p:sp>
        <p:nvSpPr>
          <p:cNvPr id="524" name="Google Shape;524;p7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w"/>
              <a:t>environment variable</a:t>
            </a:r>
            <a:endParaRPr/>
          </a:p>
          <a:p>
            <a:pPr indent="0" lvl="0" marL="0" rtl="0" algn="l">
              <a:spcBef>
                <a:spcPts val="400"/>
              </a:spcBef>
              <a:spcAft>
                <a:spcPts val="400"/>
              </a:spcAft>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7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משתני סביבה - environment variable</a:t>
            </a:r>
            <a:endParaRPr>
              <a:latin typeface="Calibri"/>
              <a:ea typeface="Calibri"/>
              <a:cs typeface="Calibri"/>
              <a:sym typeface="Calibri"/>
            </a:endParaRPr>
          </a:p>
        </p:txBody>
      </p:sp>
      <p:sp>
        <p:nvSpPr>
          <p:cNvPr id="530" name="Google Shape;530;p79"/>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הפרויקט שלנו בשלב זה כולל הגדרה של משתנים שהם משתני קונפיגורציה - הגדרות.</a:t>
            </a:r>
            <a:endParaRPr/>
          </a:p>
          <a:p>
            <a:pPr indent="0" lvl="0" marL="0" rtl="1" algn="r">
              <a:spcBef>
                <a:spcPts val="400"/>
              </a:spcBef>
              <a:spcAft>
                <a:spcPts val="0"/>
              </a:spcAft>
              <a:buNone/>
            </a:pPr>
            <a:r>
              <a:rPr lang="iw"/>
              <a:t>כגון: ה secret key - הערך שאותו אנחנו בודקים ב middleware.</a:t>
            </a:r>
            <a:endParaRPr/>
          </a:p>
          <a:p>
            <a:pPr indent="0" lvl="0" marL="0" rtl="1" algn="r">
              <a:spcBef>
                <a:spcPts val="400"/>
              </a:spcBef>
              <a:spcAft>
                <a:spcPts val="0"/>
              </a:spcAft>
              <a:buNone/>
            </a:pPr>
            <a:r>
              <a:rPr lang="iw"/>
              <a:t>ערכים נוספים מסוג זה: ה port של השרת, פרטי החיבור ל database, ססמאות וכדו'.</a:t>
            </a:r>
            <a:endParaRPr/>
          </a:p>
          <a:p>
            <a:pPr indent="0" lvl="0" marL="0" rtl="1" algn="r">
              <a:spcBef>
                <a:spcPts val="400"/>
              </a:spcBef>
              <a:spcAft>
                <a:spcPts val="0"/>
              </a:spcAft>
              <a:buNone/>
            </a:pPr>
            <a:r>
              <a:rPr lang="iw"/>
              <a:t>משתנים אלה לא אמורים להיות חלק מהקוד!</a:t>
            </a:r>
            <a:endParaRPr/>
          </a:p>
          <a:p>
            <a:pPr indent="-311150" lvl="0" marL="457200" rtl="1" algn="r">
              <a:spcBef>
                <a:spcPts val="400"/>
              </a:spcBef>
              <a:spcAft>
                <a:spcPts val="0"/>
              </a:spcAft>
              <a:buSzPts val="1300"/>
              <a:buAutoNum type="arabicPeriod"/>
            </a:pPr>
            <a:r>
              <a:rPr lang="iw"/>
              <a:t>הם אמורים להיות חסויים, ולא להיות חלק מהפרויקט בגיט, שגלוי לכולם.</a:t>
            </a:r>
            <a:endParaRPr/>
          </a:p>
          <a:p>
            <a:pPr indent="-311150" lvl="0" marL="457200" rtl="1" algn="r">
              <a:spcBef>
                <a:spcPts val="0"/>
              </a:spcBef>
              <a:spcAft>
                <a:spcPts val="0"/>
              </a:spcAft>
              <a:buSzPts val="1300"/>
              <a:buAutoNum type="arabicPeriod"/>
            </a:pPr>
            <a:r>
              <a:rPr lang="iw"/>
              <a:t>הפרויקט רץ בכמה סביבות שונות: המחשב הביתי, בענן, וכדו'. ובכל סביבה ערך המשתנים הנ"ל אמור להיות שונה.</a:t>
            </a:r>
            <a:endParaRPr/>
          </a:p>
          <a:p>
            <a:pPr indent="0" lvl="0" marL="0" rtl="1" algn="r">
              <a:spcBef>
                <a:spcPts val="400"/>
              </a:spcBef>
              <a:spcAft>
                <a:spcPts val="0"/>
              </a:spcAft>
              <a:buNone/>
            </a:pPr>
            <a:r>
              <a:rPr lang="iw"/>
              <a:t>את המשתנים האלה צריך להגדיר על המחשב עצמו - לכן הם נקראים משתני סביבה, ולקרוא להם מתוך הפרויקט.</a:t>
            </a:r>
            <a:endParaRPr/>
          </a:p>
          <a:p>
            <a:pPr indent="0" lvl="0" marL="0" rtl="1" algn="r">
              <a:spcBef>
                <a:spcPts val="400"/>
              </a:spcBef>
              <a:spcAft>
                <a:spcPts val="0"/>
              </a:spcAft>
              <a:buNone/>
            </a:pPr>
            <a:r>
              <a:rPr lang="iw"/>
              <a:t>בקשי מה ai שיסביר לך עוד על משתני סביבה ואיך להגדיר אותם ב nodejs</a:t>
            </a:r>
            <a:endParaRPr/>
          </a:p>
          <a:p>
            <a:pPr indent="0" lvl="0" marL="0" rtl="1" algn="r">
              <a:spcBef>
                <a:spcPts val="400"/>
              </a:spcBef>
              <a:spcAft>
                <a:spcPts val="0"/>
              </a:spcAft>
              <a:buNone/>
            </a:pPr>
            <a:r>
              <a:rPr lang="iw"/>
              <a:t>פרומפט לדוגמא:</a:t>
            </a:r>
            <a:endParaRPr/>
          </a:p>
          <a:p>
            <a:pPr indent="0" lvl="0" marL="0" rtl="0" algn="l">
              <a:spcBef>
                <a:spcPts val="400"/>
              </a:spcBef>
              <a:spcAft>
                <a:spcPts val="0"/>
              </a:spcAft>
              <a:buNone/>
            </a:pPr>
            <a:r>
              <a:rPr lang="iw"/>
              <a:t>What are environment variables? Explain them to a beginner using simple examples. Explain why backend applications use them. </a:t>
            </a:r>
            <a:endParaRPr/>
          </a:p>
          <a:p>
            <a:pPr indent="0" lvl="0" marL="0" rtl="0" algn="l">
              <a:spcBef>
                <a:spcPts val="400"/>
              </a:spcBef>
              <a:spcAft>
                <a:spcPts val="400"/>
              </a:spcAft>
              <a:buNone/>
            </a:pPr>
            <a:r>
              <a:rPr lang="iw" sz="1100">
                <a:solidFill>
                  <a:srgbClr val="000000"/>
                </a:solidFill>
                <a:latin typeface="Arial"/>
                <a:ea typeface="Arial"/>
                <a:cs typeface="Arial"/>
                <a:sym typeface="Arial"/>
              </a:rPr>
              <a:t>How do I use environment variables in a Node.js Express application? Show a simple example using </a:t>
            </a:r>
            <a:r>
              <a:rPr lang="iw" sz="1100">
                <a:solidFill>
                  <a:srgbClr val="188038"/>
                </a:solidFill>
                <a:latin typeface="Roboto Mono"/>
                <a:ea typeface="Roboto Mono"/>
                <a:cs typeface="Roboto Mono"/>
                <a:sym typeface="Roboto Mono"/>
              </a:rPr>
              <a:t>process.env</a:t>
            </a:r>
            <a:r>
              <a:rPr lang="iw" sz="1100">
                <a:solidFill>
                  <a:srgbClr val="000000"/>
                </a:solidFill>
                <a:latin typeface="Arial"/>
                <a:ea typeface="Arial"/>
                <a:cs typeface="Arial"/>
                <a:sym typeface="Arial"/>
              </a:rPr>
              <a:t> and explain each step.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80"/>
          <p:cNvSpPr txBox="1"/>
          <p:nvPr>
            <p:ph type="title"/>
          </p:nvPr>
        </p:nvSpPr>
        <p:spPr>
          <a:xfrm>
            <a:off x="819150" y="23665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משימה 🔨</a:t>
            </a:r>
            <a:endParaRPr>
              <a:latin typeface="Calibri"/>
              <a:ea typeface="Calibri"/>
              <a:cs typeface="Calibri"/>
              <a:sym typeface="Calibri"/>
            </a:endParaRPr>
          </a:p>
        </p:txBody>
      </p:sp>
      <p:sp>
        <p:nvSpPr>
          <p:cNvPr id="536" name="Google Shape;536;p80"/>
          <p:cNvSpPr txBox="1"/>
          <p:nvPr>
            <p:ph idx="1" type="body"/>
          </p:nvPr>
        </p:nvSpPr>
        <p:spPr>
          <a:xfrm>
            <a:off x="819150" y="765550"/>
            <a:ext cx="7505700" cy="4110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בשיעור זה יש להמשיך את הפרויקט משיעור קודם:</a:t>
            </a:r>
            <a:endParaRPr/>
          </a:p>
          <a:p>
            <a:pPr indent="0" lvl="0" marL="457200" rtl="1" algn="r">
              <a:spcBef>
                <a:spcPts val="400"/>
              </a:spcBef>
              <a:spcAft>
                <a:spcPts val="0"/>
              </a:spcAft>
              <a:buNone/>
            </a:pPr>
            <a:r>
              <a:rPr lang="iw"/>
              <a:t>יש להעביר משתנים מסוימים למשתני סביבה:</a:t>
            </a:r>
            <a:endParaRPr/>
          </a:p>
          <a:p>
            <a:pPr indent="-311150" lvl="0" marL="457200" rtl="1" algn="r">
              <a:spcBef>
                <a:spcPts val="400"/>
              </a:spcBef>
              <a:spcAft>
                <a:spcPts val="0"/>
              </a:spcAft>
              <a:buSzPts val="1300"/>
              <a:buChar char="-"/>
            </a:pPr>
            <a:r>
              <a:rPr lang="iw"/>
              <a:t>הפורט שעליו הפרויקט רץ</a:t>
            </a:r>
            <a:endParaRPr/>
          </a:p>
          <a:p>
            <a:pPr indent="-311150" lvl="0" marL="457200" rtl="1" algn="r">
              <a:spcBef>
                <a:spcPts val="0"/>
              </a:spcBef>
              <a:spcAft>
                <a:spcPts val="0"/>
              </a:spcAft>
              <a:buSzPts val="1300"/>
              <a:buChar char="-"/>
            </a:pPr>
            <a:r>
              <a:rPr lang="iw"/>
              <a:t>המפתח הסודי מה middleware</a:t>
            </a:r>
            <a:endParaRPr/>
          </a:p>
          <a:p>
            <a:pPr indent="0" lvl="0" marL="0" rtl="1" algn="r">
              <a:spcBef>
                <a:spcPts val="400"/>
              </a:spcBef>
              <a:spcAft>
                <a:spcPts val="0"/>
              </a:spcAft>
              <a:buNone/>
            </a:pPr>
            <a:r>
              <a:rPr lang="iw"/>
              <a:t>אח"כ יש להריץ את הפרויקט ולוודא שהוא עובד, ולהעלות לגיט.</a:t>
            </a:r>
            <a:endParaRPr/>
          </a:p>
          <a:p>
            <a:pPr indent="0" lvl="0" marL="0" rtl="1" algn="r">
              <a:spcBef>
                <a:spcPts val="400"/>
              </a:spcBef>
              <a:spcAft>
                <a:spcPts val="0"/>
              </a:spcAft>
              <a:buNone/>
            </a:pPr>
            <a:r>
              <a:t/>
            </a:r>
            <a:endParaRPr/>
          </a:p>
          <a:p>
            <a:pPr indent="0" lvl="0" marL="0" rtl="1" algn="r">
              <a:spcBef>
                <a:spcPts val="400"/>
              </a:spcBef>
              <a:spcAft>
                <a:spcPts val="400"/>
              </a:spcAft>
              <a:buNone/>
            </a:pPr>
            <a:r>
              <a:rPr lang="iw"/>
              <a:t>שימוש במשתני סביבה כולל התקנה של ספרית dotenv</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